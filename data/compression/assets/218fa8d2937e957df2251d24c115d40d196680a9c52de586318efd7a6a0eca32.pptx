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85" r:id="rId7"/>
    <p:sldId id="299" r:id="rId29"/>
    <p:sldId id="281" r:id="rId8"/>
    <p:sldId id="288" r:id="rId18"/>
    <p:sldId id="293" r:id="rId23"/>
    <p:sldId id="315" r:id="rId44"/>
    <p:sldId id="316" r:id="rId45"/>
    <p:sldId id="317" r:id="rId46"/>
    <p:sldId id="295" r:id="rId25"/>
    <p:sldId id="280" r:id="rId9"/>
    <p:sldId id="289" r:id="rId19"/>
    <p:sldId id="290" r:id="rId20"/>
    <p:sldId id="292" r:id="rId22"/>
    <p:sldId id="286" r:id="rId16"/>
    <p:sldId id="287" r:id="rId17"/>
    <p:sldId id="291" r:id="rId21"/>
    <p:sldId id="294" r:id="rId24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297" r:id="rId27"/>
    <p:sldId id="298" r:id="rId28"/>
    <p:sldId id="300" r:id="rId6"/>
    <p:sldId id="301" r:id="rId30"/>
    <p:sldId id="302" r:id="rId31"/>
    <p:sldId id="303" r:id="rId32"/>
    <p:sldId id="304" r:id="rId33"/>
    <p:sldId id="296" r:id="rId26"/>
  </p:sldIdLst>
  <p:sldSz cx="12196763" cy="6858000"/>
  <p:notesSz cx="6858000" cy="9144000"/>
  <p:custShowLst>
    <p:custShow name="快速阅读（约8分钟）" id="0">
      <p:sldLst>
        <p:sld r:id="rId5"/>
        <p:sld r:id="rId7"/>
        <p:sld r:id="rId29"/>
        <p:sld r:id="rId45"/>
        <p:sld r:id="rId46"/>
        <p:sld r:id="rId25"/>
        <p:sld r:id="rId9"/>
      </p:sldLst>
    </p:custShow>
    <p:custShow name="深入阅读（约25分钟）" id="1">
      <p:sldLst>
        <p:sld r:id="rId5"/>
        <p:sld r:id="rId7"/>
        <p:sld r:id="rId29"/>
        <p:sld r:id="rId8"/>
        <p:sld r:id="rId34"/>
        <p:sld r:id="rId18"/>
        <p:sld r:id="rId41"/>
        <p:sld r:id="rId23"/>
        <p:sld r:id="rId38"/>
        <p:sld r:id="rId44"/>
        <p:sld r:id="rId45"/>
        <p:sld r:id="rId46"/>
        <p:sld r:id="rId25"/>
        <p:sld r:id="rId9"/>
      </p:sldLst>
    </p:custShow>
  </p:custShowLst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84"/>
            <p14:sldId id="285"/>
            <p14:sldId id="281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5B5B5"/>
    <a:srgbClr val="C8102E"/>
    <a:srgbClr val="78000F"/>
    <a:srgbClr val="231815"/>
    <a:srgbClr val="595757"/>
    <a:srgbClr val="151515"/>
    <a:srgbClr val="C7000B"/>
    <a:srgbClr val="57575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>
        <p:scale>
          <a:sx n="75" d="100"/>
          <a:sy n="75" d="100"/>
        </p:scale>
        <p:origin x="978" y="507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1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33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21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22.xml"/><Relationship Id="rId25" Type="http://schemas.openxmlformats.org/officeDocument/2006/relationships/slide" Target="slides/slide16.xml"/><Relationship Id="rId26" Type="http://schemas.openxmlformats.org/officeDocument/2006/relationships/slide" Target="slides/slide2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7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这些事实，我建议先投入AlignQuant的权重执行验证；只有低比特质量成为障碍，再启动ATC补偿；只有长上下文KV限制并发，再启动AttSVD支线。领域模型单独验收，不套用不存在的自回归缓存。下一轮评估，每项给出继续、调整或停止的明确判断，并附同配置质量、时延、吞吐和内存原值。我们要争取的是可复核的业务收益，不是复现十篇论文的数量。</a:t>
            </a:r>
          </a:p>
          <a:p/>
          <a:p>
            <a:r>
              <a:t>阅读衔接：建议确认单项验证的资源与样本，结果成立后再扩大投入。</a:t>
            </a:r>
          </a:p>
          <a:p/>
          <a:p>
            <a:r>
              <a:t>来源与既有复核记录：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深入解读：</a:t>
            </a:r>
          </a:p>
          <a:p>
            <a:r>
              <a:t>这一页请先看瓶颈，不先看56%的加速数字。AlignQuant针对的是混合精度分得很细，但存储和计算边界不一致，导致权重虽小却不好执行。它让64×64块同时承担选位、打包和执行的单位：在A8条件下测prefill与decode的8到4-bit扰动，用损失梯度加权，两阶段归一化后取较大值，重要块留8-bit。部署时每块只留一份表示，decode紧凑读4-bit、片上展开INT8。右侧是整套系统在Llama-3.2-3B、A100、batch1、128入512出的结果：TPOT由17.19到7.54ms，驻留由5.99到2.72GiB，但TTFT从17.47到19.67ms变慢，且并非所有质量任务都小于1%损失。我的判断是先查本地权重读取瓶颈，再验证紧凑执行路径；不是照搬64×64，也不是承诺昇腾有同样收益。</a:t>
            </a:r>
          </a:p>
          <a:p/>
          <a:p>
            <a:r>
              <a:t>问：加速究竟来自混合位宽分配，还是定制内核？</a:t>
            </a:r>
          </a:p>
          <a:p>
            <a:r>
              <a:t>答：现有BF16到整套方案结果不能归因到单一模块。我们要固定激活配置、实际总权重字节和执行路径，比较均匀、随机、行级、块级选位；另对照紧凑加载与展开执行，分别测读取、变换、解包、矩阵核及调度时间。</a:t>
            </a:r>
          </a:p>
          <a:p/>
          <a:p>
            <a:r>
              <a:t>问：64×64和W4/W8可以直接迁移到310P、910B或950吗？</a:t>
            </a:r>
          </a:p>
          <a:p>
            <a:r>
              <a:t>答：不能据论文推定支持。64×64是该GPU实现的默认块；目标平台先核对合法tile、量化元数据与算子格式。如果只能先把全量权重展开到高精度，主要搬运优势就可能消失。950型号尚未确认。</a:t>
            </a:r>
          </a:p>
          <a:p/>
          <a:p>
            <a:r>
              <a:t>问：已经达到业务质量损失小于1%了吗？</a:t>
            </a:r>
          </a:p>
          <a:p>
            <a:r>
              <a:t>答：没有业务实测。论文MMLU仅降0.13个百分点，但HellaSwag相对下降1.09%，不能说所有任务通过。需以独立业务测试集和关键子任务验收，并同时保留TTFT的反向结果。</a:t>
            </a:r>
          </a:p>
          <a:p/>
          <a:p>
            <a:r>
              <a:t>阅读衔接：因此先核对合法紧凑执行，再讨论整套适配。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"AlignQuant：按计算块分配精度，改善逐词解码",</a:t>
            </a:r>
          </a:p>
          <a:p>
            <a:r>
              <a:t>    "map_label": "权重 × 量化",</a:t>
            </a:r>
          </a:p>
          <a:p>
            <a:r>
              <a:t>    "background": "细粒度混合精度容易与硬件计算块错位，省下的权重字节未必变成速度。AlignQuant把精度分配、存储和计算统一到二维权重块，代价是首词阶段仍有额外准备开销。",</a:t>
            </a:r>
          </a:p>
          <a:p>
            <a:r>
              <a:t>    "steps": [</a:t>
            </a:r>
          </a:p>
          <a:p>
            <a:r>
              <a:t>      "统一粒度：64×64块选W4/W8，敏感块保留8-bit，激活用A8。",</a:t>
            </a:r>
          </a:p>
          <a:p>
            <a:r>
              <a:t>      "联合校准：同时评估prefill与decode误差，把高精度预算留给敏感块。",</a:t>
            </a:r>
          </a:p>
          <a:p>
            <a:r>
              <a:t>      "直接执行：W4紧凑加载、片上展开INT8，两阶段内核共用一份权重。"</a:t>
            </a:r>
          </a:p>
          <a:p>
            <a:r>
              <a:t>    ],</a:t>
            </a:r>
          </a:p>
          <a:p>
            <a:r>
              <a:t>    "conditions": "Llama-3.2-3B-Instruct｜A100 40GB｜BF16对照\nB=1；输入128 / 输出512 tokens；60% W4 + 40% W8\n质量：WikiText-2及MMLU等6任务；系统负载未列文本集。",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"17.47 → 19.67 ms｜增加12.6%（更慢）"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"TPOT",</a:t>
            </a:r>
          </a:p>
          <a:p>
            <a:r>
              <a:t>        "value": "17.19 → 7.54 ms/token｜减少56.1%"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"驻留5.99→2.72 GiB（−54.6%）\n峰值6.09→2.72 GiB（−55.3%）"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"MMLU 60.66→60.53%（−0.13个百分点）\nWikiText-2 PPL 12.49→12.61（+0.96%）"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"吞吐58.18→132.28 tok/s；HellaSwag相对下降1.09%，不能宣称全部质量损失&lt;1%。",</a:t>
            </a:r>
          </a:p>
          <a:p>
            <a:r>
              <a:t>    "takeaway": "优先穿刺混合权重块的合法布局与解包核：在LLM低并发decode比较同总字节下的W4/W8分配。已有GPU收益可作为研究依据，但先守住业务质量与TTFT门槛，再判断昇腾TPOT净收益。",</a:t>
            </a:r>
          </a:p>
          <a:p>
            <a:r>
              <a:t>    "locator": "Table 1–2；Appendix G.3/G.5/G.7"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"2610.07457",</a:t>
            </a:r>
          </a:p>
          <a:p>
            <a:r>
              <a:t>    "version": "v1",</a:t>
            </a:r>
          </a:p>
          <a:p>
            <a:r>
              <a:t>    "short_name": "AlignQuant",</a:t>
            </a:r>
          </a:p>
          <a:p>
            <a:r>
              <a:t>    "title": "AlignQuant: Tile-Aligned Mixed-Precision Quantization for Efficient LLM Generation",</a:t>
            </a:r>
          </a:p>
          <a:p>
            <a:r>
              <a:t>    "url": "https://arxiv.org/abs/2610.07457v1",</a:t>
            </a:r>
          </a:p>
          <a:p>
            <a:r>
              <a:t>    "source_pdf": ".tmp/ascend-ppt/papers/2610.07457.pdf",</a:t>
            </a:r>
          </a:p>
          <a:p>
            <a:r>
              <a:t>    "key_techniques": [</a:t>
            </a:r>
          </a:p>
          <a:p>
            <a:r>
              <a:t>      "按64×64二维权重块统一分配精度、打包与执行：默认60%块存4-bit、其余8-bit，激活统一8-bit，避免混合精度边界与GPU计算块错位。",</a:t>
            </a:r>
          </a:p>
          <a:p>
            <a:r>
              <a:t>      "联合采集prefill和decode的量化输出扰动，用语言模型损失梯度加权；两阶段分数各自归一化后取较大值，把8-bit预算留给任一阶段敏感的块。",</a:t>
            </a:r>
          </a:p>
          <a:p>
            <a:r>
              <a:t>      "仅保存每块选中的一份权重；低比特加载后片上展开INT8。Prefill采用Tensor Core，decode采用DP4A，并复用输入量化、CUDA Graph与分割归约。"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"id": "align-a100-main",</a:t>
            </a:r>
          </a:p>
          <a:p>
            <a:r>
              <a:t>        "model": "Llama-3.2-3B-Instruct",</a:t>
            </a:r>
          </a:p>
          <a:p>
            <a:r>
              <a:t>        "hardware": "NVIDIA A100-SXM4 40GB",</a:t>
            </a:r>
          </a:p>
          <a:p>
            <a:r>
              <a:t>        "configuration": "BF16 vs 60% W4 tiles + 40% W8 tiles, A8, tile64×64",</a:t>
            </a:r>
          </a:p>
          <a:p>
            <a:r>
              <a:t>        "dataset": "系统生成负载；未披露prompt文本语料",</a:t>
            </a:r>
          </a:p>
          <a:p>
            <a:r>
              <a:t>        "input_tokens": 128,</a:t>
            </a:r>
          </a:p>
          <a:p>
            <a:r>
              <a:t>        "output_tokens": 512,</a:t>
            </a:r>
          </a:p>
          <a:p>
            <a:r>
              <a:t>        "batch_size": 1,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"TTFT",</a:t>
            </a:r>
          </a:p>
          <a:p>
            <a:r>
              <a:t>            "baseline": 17.47,</a:t>
            </a:r>
          </a:p>
          <a:p>
            <a:r>
              <a:t>            "treatment": 19.67,</a:t>
            </a:r>
          </a:p>
          <a:p>
            <a:r>
              <a:t>            "unit": "ms",</a:t>
            </a:r>
          </a:p>
          <a:p>
            <a:r>
              <a:t>            "direction": "lower_is_better",</a:t>
            </a:r>
          </a:p>
          <a:p>
            <a:r>
              <a:t>            "change_absolute": 2.2,</a:t>
            </a:r>
          </a:p>
          <a:p>
            <a:r>
              <a:t>            "relative_change_percent": 12.59,</a:t>
            </a:r>
          </a:p>
          <a:p>
            <a:r>
              <a:t>            "interpretation": "变慢12.59%，不可写成提升",</a:t>
            </a:r>
          </a:p>
          <a:p>
            <a:r>
              <a:t>            "reduction_percent": -12.59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"TPOT",</a:t>
            </a:r>
          </a:p>
          <a:p>
            <a:r>
              <a:t>            "baseline": 17.19,</a:t>
            </a:r>
          </a:p>
          <a:p>
            <a:r>
              <a:t>            "treatment": 7.54,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-9.65,</a:t>
            </a:r>
          </a:p>
          <a:p>
            <a:r>
              <a:t>            "relative_change_percent": -56.14,</a:t>
            </a:r>
          </a:p>
          <a:p>
            <a:r>
              <a:t>            "interpretation": "降低56.14%，2.28×逐字解码速度",</a:t>
            </a:r>
          </a:p>
          <a:p>
            <a:r>
              <a:t>            "reduction_percent": 56.14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"throughput",</a:t>
            </a:r>
          </a:p>
          <a:p>
            <a:r>
              <a:t>            "baseline": 58.18,</a:t>
            </a:r>
          </a:p>
          <a:p>
            <a:r>
              <a:t>            "treatment": 132.28,</a:t>
            </a:r>
          </a:p>
          <a:p>
            <a:r>
              <a:t>            "unit": "tokens/s",</a:t>
            </a:r>
          </a:p>
          <a:p>
            <a:r>
              <a:t>            "direction": "higher_is_better",</a:t>
            </a:r>
          </a:p>
          <a:p>
            <a:r>
              <a:t>            "change_absolute": 74.1,</a:t>
            </a:r>
          </a:p>
          <a:p>
            <a:r>
              <a:t>            "relative_change_percent": 127.36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"resident_GPU_memory",</a:t>
            </a:r>
          </a:p>
          <a:p>
            <a:r>
              <a:t>            "baseline": 5.99,</a:t>
            </a:r>
          </a:p>
          <a:p>
            <a:r>
              <a:t>            "treatment": 2.72,</a:t>
            </a:r>
          </a:p>
          <a:p>
            <a:r>
              <a:t>            "unit": "GiB",</a:t>
            </a:r>
          </a:p>
          <a:p>
            <a:r>
              <a:t>            "direction": "lower_is_better",</a:t>
            </a:r>
          </a:p>
          <a:p>
            <a:r>
              <a:t>            "change_absolute": -3.27,</a:t>
            </a:r>
          </a:p>
          <a:p>
            <a:r>
              <a:t>            "relative_change_percent": -54.59,</a:t>
            </a:r>
          </a:p>
          <a:p>
            <a:r>
              <a:t>            "reduction_percent": 54.59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"peak_GPU_memory",</a:t>
            </a:r>
          </a:p>
          <a:p>
            <a:r>
              <a:t>            "baseline": 6.09,</a:t>
            </a:r>
          </a:p>
          <a:p>
            <a:r>
              <a:t>            "treatment": 2.72,</a:t>
            </a:r>
          </a:p>
          <a:p>
            <a:r>
              <a:t>            "unit": "GiB",</a:t>
            </a:r>
          </a:p>
          <a:p>
            <a:r>
              <a:t>            "direction": "lower_is_better",</a:t>
            </a:r>
          </a:p>
          <a:p>
            <a:r>
              <a:t>            "reduction_percent": 55.34,</a:t>
            </a:r>
          </a:p>
          <a:p>
            <a:r>
              <a:t>            "scope": "整模型生成负载峰值，包含KV/cache及在线临时buffer",</a:t>
            </a:r>
          </a:p>
          <a:p>
            <a:r>
              <a:t>            "status": "measured",</a:t>
            </a:r>
          </a:p>
          <a:p>
            <a:r>
              <a:t>            "locator": "p7 Table1; Appendix G.7"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p7 Table1; p20 Appendix G.5",</a:t>
            </a:r>
          </a:p>
          <a:p>
            <a:r>
              <a:t>        "status": "reported_original_pdf",</a:t>
            </a:r>
          </a:p>
          <a:p>
            <a:r>
              <a:t>        "protocol": "2次预热、5次计时中位数；匹配CUDA Graph、attention backend、KV cache；包含在线输入/权重准备、投影、scale恢复、归约、转换。",</a:t>
            </a:r>
          </a:p>
          <a:p>
            <a:r>
              <a:t>        "url": "https://arxiv.org/abs/2610.07457v1"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"align-quality",</a:t>
            </a:r>
          </a:p>
          <a:p>
            <a:r>
              <a:t>        "model": "Llama-3.2-3B-Instruct",</a:t>
            </a:r>
          </a:p>
          <a:p>
            <a:r>
              <a:t>        "hardware": "NVIDIA A100-SXM4 40GB（实验主平台）",</a:t>
            </a:r>
          </a:p>
          <a:p>
            <a:r>
              <a:t>        "configuration": "同默认配置，与原始BF16比较",</a:t>
            </a:r>
          </a:p>
          <a:p>
            <a:r>
              <a:t>        "dataset": "WikiText-2（word-level PPL）；MMLU、HellaSwag、ARC-C、LAMBADA、PIQA、WinoGrande",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"WikiText-2_PPL",</a:t>
            </a:r>
          </a:p>
          <a:p>
            <a:r>
              <a:t>            "baseline": 12.49,</a:t>
            </a:r>
          </a:p>
          <a:p>
            <a:r>
              <a:t>            "treatment": 12.61,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0.12,</a:t>
            </a:r>
          </a:p>
          <a:p>
            <a:r>
              <a:t>            "relative_change_percent": 0.96,</a:t>
            </a:r>
          </a:p>
          <a:p>
            <a:r>
              <a:t>            "reduction_percent": -0.96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"MMLU",</a:t>
            </a:r>
          </a:p>
          <a:p>
            <a:r>
              <a:t>            "baseline": 60.66,</a:t>
            </a:r>
          </a:p>
          <a:p>
            <a:r>
              <a:t>            "treatment": 60.53,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-0.13,</a:t>
            </a:r>
          </a:p>
          <a:p>
            <a:r>
              <a:t>            "relative_change_percent": -0.21,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"HellaSwag",</a:t>
            </a:r>
          </a:p>
          <a:p>
            <a:r>
              <a:t>            "baseline": 71.52,</a:t>
            </a:r>
          </a:p>
          <a:p>
            <a:r>
              <a:t>            "treatment": 70.74,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-0.78,</a:t>
            </a:r>
          </a:p>
          <a:p>
            <a:r>
              <a:t>            "relative_change_percent": -1.09,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"ARC-C",</a:t>
            </a:r>
          </a:p>
          <a:p>
            <a:r>
              <a:t>            "baseline": 52.56,</a:t>
            </a:r>
          </a:p>
          <a:p>
            <a:r>
              <a:t>            "treatment": 52.73,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0.17,</a:t>
            </a:r>
          </a:p>
          <a:p>
            <a:r>
              <a:t>            "relative_change_percent": 0.32,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"LAMBADA",</a:t>
            </a:r>
          </a:p>
          <a:p>
            <a:r>
              <a:t>            "baseline": 64.23,</a:t>
            </a:r>
          </a:p>
          <a:p>
            <a:r>
              <a:t>            "treatment": 65.66,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1.43,</a:t>
            </a:r>
          </a:p>
          <a:p>
            <a:r>
              <a:t>            "relative_change_percent": 2.23,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"PIQA",</a:t>
            </a:r>
          </a:p>
          <a:p>
            <a:r>
              <a:t>            "baseline": 77.31,</a:t>
            </a:r>
          </a:p>
          <a:p>
            <a:r>
              <a:t>            "treatment": 76.68,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-0.63,</a:t>
            </a:r>
          </a:p>
          <a:p>
            <a:r>
              <a:t>            "relative_change_percent": -0.81,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"WinoGrande",</a:t>
            </a:r>
          </a:p>
          <a:p>
            <a:r>
              <a:t>            "baseline": 71.43,</a:t>
            </a:r>
          </a:p>
          <a:p>
            <a:r>
              <a:t>            "treatment": 71.22,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-0.21,</a:t>
            </a:r>
          </a:p>
          <a:p>
            <a:r>
              <a:t>            "relative_change_percent": -0.29,</a:t>
            </a:r>
          </a:p>
          <a:p>
            <a:r>
              <a:t>            "difference_unit": "percentage_point"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p8 Table2; p20 Appendix G.3",</a:t>
            </a:r>
          </a:p>
          <a:p>
            <a:r>
              <a:t>        "status": "reported_original_pdf",</a:t>
            </a:r>
          </a:p>
          <a:p>
            <a:r>
              <a:t>        "protocol": "同模型使用相同evaluator/tokenizer/task configuration/prompt format。不可把六任务/单模型结果改写为用户业务精度。",</a:t>
            </a:r>
          </a:p>
          <a:p>
            <a:r>
              <a:t>        "url": "https://arxiv.org/abs/2610.07457v1"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"align-h100",</a:t>
            </a:r>
          </a:p>
          <a:p>
            <a:r>
              <a:t>        "model": "Llama-3.2-3B-Instruct",</a:t>
            </a:r>
          </a:p>
          <a:p>
            <a:r>
              <a:t>        "hardware": "NVIDIA H100 NVL",</a:t>
            </a:r>
          </a:p>
          <a:p>
            <a:r>
              <a:t>        "configuration": "BF16 vs 默认AlignQuant",</a:t>
            </a:r>
          </a:p>
          <a:p>
            <a:r>
              <a:t>        "dataset": "同128→512系统负载",</a:t>
            </a:r>
          </a:p>
          <a:p>
            <a:r>
              <a:t>        "input_tokens": 128,</a:t>
            </a:r>
          </a:p>
          <a:p>
            <a:r>
              <a:t>        "output_tokens": 512,</a:t>
            </a:r>
          </a:p>
          <a:p>
            <a:r>
              <a:t>        "batch_size": 1,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"TTFT",</a:t>
            </a:r>
          </a:p>
          <a:p>
            <a:r>
              <a:t>            "baseline": 13.19,</a:t>
            </a:r>
          </a:p>
          <a:p>
            <a:r>
              <a:t>            "treatment": 15.86,</a:t>
            </a:r>
          </a:p>
          <a:p>
            <a:r>
              <a:t>            "unit": "ms",</a:t>
            </a:r>
          </a:p>
          <a:p>
            <a:r>
              <a:t>            "direction": "lower_is_better",</a:t>
            </a:r>
          </a:p>
          <a:p>
            <a:r>
              <a:t>            "change_absolute": 2.67,</a:t>
            </a:r>
          </a:p>
          <a:p>
            <a:r>
              <a:t>            "relative_change_percent": 20.24,</a:t>
            </a:r>
          </a:p>
          <a:p>
            <a:r>
              <a:t>            "reduction_percent": -20.24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"TPOT",</a:t>
            </a:r>
          </a:p>
          <a:p>
            <a:r>
              <a:t>            "baseline": 12.26,</a:t>
            </a:r>
          </a:p>
          <a:p>
            <a:r>
              <a:t>            "treatment": 5.95,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-6.31,</a:t>
            </a:r>
          </a:p>
          <a:p>
            <a:r>
              <a:t>            "relative_change_percent": -51.47,</a:t>
            </a:r>
          </a:p>
          <a:p>
            <a:r>
              <a:t>            "reduction_percent": 51.47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p29 Table19; p20 Appendix G.5",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"https://arxiv.org/abs/2610.07457v1"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"align-4090",</a:t>
            </a:r>
          </a:p>
          <a:p>
            <a:r>
              <a:t>        "model": "Llama-3.2-3B-Instruct",</a:t>
            </a:r>
          </a:p>
          <a:p>
            <a:r>
              <a:t>        "hardware": "NVIDIA RTX 4090",</a:t>
            </a:r>
          </a:p>
          <a:p>
            <a:r>
              <a:t>        "configuration": "BF16 vs 默认AlignQuant",</a:t>
            </a:r>
          </a:p>
          <a:p>
            <a:r>
              <a:t>        "dataset": "同128→512系统负载",</a:t>
            </a:r>
          </a:p>
          <a:p>
            <a:r>
              <a:t>        "input_tokens": 128,</a:t>
            </a:r>
          </a:p>
          <a:p>
            <a:r>
              <a:t>        "output_tokens": 512,</a:t>
            </a:r>
          </a:p>
          <a:p>
            <a:r>
              <a:t>        "batch_size": 1,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"TTFT",</a:t>
            </a:r>
          </a:p>
          <a:p>
            <a:r>
              <a:t>            "baseline": 11.79,</a:t>
            </a:r>
          </a:p>
          <a:p>
            <a:r>
              <a:t>            "treatment": 16.54,</a:t>
            </a:r>
          </a:p>
          <a:p>
            <a:r>
              <a:t>            "unit": "ms",</a:t>
            </a:r>
          </a:p>
          <a:p>
            <a:r>
              <a:t>            "direction": "lower_is_better",</a:t>
            </a:r>
          </a:p>
          <a:p>
            <a:r>
              <a:t>            "change_absolute": 4.75,</a:t>
            </a:r>
          </a:p>
          <a:p>
            <a:r>
              <a:t>            "relative_change_percent": 40.29,</a:t>
            </a:r>
          </a:p>
          <a:p>
            <a:r>
              <a:t>            "reduction_percent": -40.29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"TPOT",</a:t>
            </a:r>
          </a:p>
          <a:p>
            <a:r>
              <a:t>            "baseline": 9.25,</a:t>
            </a:r>
          </a:p>
          <a:p>
            <a:r>
              <a:t>            "treatment": 5.51,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-3.74,</a:t>
            </a:r>
          </a:p>
          <a:p>
            <a:r>
              <a:t>            "relative_change_percent": -40.43,</a:t>
            </a:r>
          </a:p>
          <a:p>
            <a:r>
              <a:t>            "reduction_percent": 40.43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p28 Table18; p20 Appendix G.5",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"https://arxiv.org/abs/2610.07457v1"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"slide_ready": {</a:t>
            </a:r>
          </a:p>
          <a:p>
            <a:r>
              <a:t>      "headline": "用统一权重块打通混合精度与执行；逐字解码明显变快，首字反而略慢",</a:t>
            </a:r>
          </a:p>
          <a:p>
            <a:r>
              <a:t>      "technique": "64×64块选W4/W8 → prefill/decode联合敏感度分配 → 打包直读、片上扩展INT8执行。",</a:t>
            </a:r>
          </a:p>
          <a:p>
            <a:r>
              <a:t>      "conditions": "Llama-3.2-3B-Instruct｜A100 40GB｜B=1｜输入128 / 输出512 tokens｜对照BF16",</a:t>
            </a:r>
          </a:p>
          <a:p>
            <a:r>
              <a:t>      "result": "TTFT 17.47→19.67 ms（慢12.6%）；TPOT 17.19→7.54 ms/token（降56.1%）；MMLU 60.66→60.53（−0.13pp），WT2 PPL 12.49→12.61。 驻留显存5.99→2.72GiB（−54.6%）。",</a:t>
            </a:r>
          </a:p>
          <a:p>
            <a:r>
              <a:t>      "limit": "优先验证低并发decode；不能声称降低TTFT。HellaSwag相对下降约1.09%，论文不能直接证明业务精度损失&lt;1%。昇腾需另做块布局与整数核适配。"</a:t>
            </a:r>
          </a:p>
          <a:p>
            <a:r>
              <a:t>    },</a:t>
            </a:r>
          </a:p>
          <a:p>
            <a:r>
              <a:t>    "contradictions": [</a:t>
            </a:r>
          </a:p>
          <a:p>
            <a:r>
              <a:t>      "摘要up to2.50×是匹配模型/硬件/负载的TPOT ratio，不能和主表Llama3.2-3B的2.27×吞吐混成统一效果。",</a:t>
            </a:r>
          </a:p>
          <a:p>
            <a:r>
              <a:t>      "A100/H100/4090主表TTFT都比BF16慢。"</a:t>
            </a:r>
          </a:p>
          <a:p>
            <a:r>
              <a:t>    ],</a:t>
            </a:r>
          </a:p>
          <a:p>
            <a:r>
              <a:t>    "memory_summary": {</a:t>
            </a:r>
          </a:p>
          <a:p>
            <a:r>
              <a:t>      "headline": "同A100 B1输入128/输出512：驻留GPU内存5.99→2.72GiB（−54.6%）；峰值6.09→2.72GiB（−55.3%）。",</a:t>
            </a:r>
          </a:p>
          <a:p>
            <a:r>
              <a:t>      "measurements": [</a:t>
            </a:r>
          </a:p>
          <a:p>
            <a:r>
              <a:t>        {</a:t>
            </a:r>
          </a:p>
          <a:p>
            <a:r>
              <a:t>          "metric": "resident_GPU_memory",</a:t>
            </a:r>
          </a:p>
          <a:p>
            <a:r>
              <a:t>          "baseline": 5.99,</a:t>
            </a:r>
          </a:p>
          <a:p>
            <a:r>
              <a:t>          "result": 2.72,</a:t>
            </a:r>
          </a:p>
          <a:p>
            <a:r>
              <a:t>          "unit": "GiB",</a:t>
            </a:r>
          </a:p>
          <a:p>
            <a:r>
              <a:t>          "reduction_percent": 54.59,</a:t>
            </a:r>
          </a:p>
          <a:p>
            <a:r>
              <a:t>          "scope": "论文resident GPU memory口径；不是仅W4原始权重字节",</a:t>
            </a:r>
          </a:p>
          <a:p>
            <a:r>
              <a:t>          "status": "measured",</a:t>
            </a:r>
          </a:p>
          <a:p>
            <a:r>
              <a:t>          "locator": "p7 Table1"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"peak_GPU_memory",</a:t>
            </a:r>
          </a:p>
          <a:p>
            <a:r>
              <a:t>          "baseline": 6.09,</a:t>
            </a:r>
          </a:p>
          <a:p>
            <a:r>
              <a:t>          "result": 2.72,</a:t>
            </a:r>
          </a:p>
          <a:p>
            <a:r>
              <a:t>          "unit": "GiB",</a:t>
            </a:r>
          </a:p>
          <a:p>
            <a:r>
              <a:t>          "reduction_percent": 55.34,</a:t>
            </a:r>
          </a:p>
          <a:p>
            <a:r>
              <a:t>          "scope": "相同生成工作负载下峰值，包括在线权重准备临时空间及KV相关开销",</a:t>
            </a:r>
          </a:p>
          <a:p>
            <a:r>
              <a:t>          "status": "measured",</a:t>
            </a:r>
          </a:p>
          <a:p>
            <a:r>
              <a:t>          "locator": "p7 Table1; G.7"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"peak_GPU_memory_16K",</a:t>
            </a:r>
          </a:p>
          <a:p>
            <a:r>
              <a:t>          "baseline": 8.88,</a:t>
            </a:r>
          </a:p>
          <a:p>
            <a:r>
              <a:t>          "result": 4.44,</a:t>
            </a:r>
          </a:p>
          <a:p>
            <a:r>
              <a:t>          "unit": "GiB",</a:t>
            </a:r>
          </a:p>
          <a:p>
            <a:r>
              <a:t>          "reduction_percent": 50,</a:t>
            </a:r>
          </a:p>
          <a:p>
            <a:r>
              <a:t>          "scope": "Llama3.2-3B/A100；16K prompt；整负载峰值；与128-token主实验分列",</a:t>
            </a:r>
          </a:p>
          <a:p>
            <a:r>
              <a:t>          "status": "measured",</a:t>
            </a:r>
          </a:p>
          <a:p>
            <a:r>
              <a:t>          "locator": "p29 Table21"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"caveat": "同一混合权重60%W4/40%W8名义5.6bpw不等于总GPU内存压缩率。"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"short_name": "AlignQuant",</a:t>
            </a:r>
          </a:p>
          <a:p>
            <a:r>
              <a:t>  "title": "AlignQuant：用计算块对齐W4/W8分配与权重读取",</a:t>
            </a:r>
          </a:p>
          <a:p>
            <a:r>
              <a:t>  "challenge": "按通道或零散位置混合精度，容易打乱计算块：权重变小了，读取和计算却未必更快。",</a:t>
            </a:r>
          </a:p>
          <a:p>
            <a:r>
              <a:t>  "idea": "让“分配多少位、怎样存、怎样算”使用同一块权重，把混合精度真正变成少读数据。",</a:t>
            </a:r>
          </a:p>
          <a:p>
            <a:r>
              <a:t>  "steps": [</a:t>
            </a:r>
          </a:p>
          <a:p>
            <a:r>
              <a:t>    "权重按64×64分块，在A8激活下分别测输入处理和逐词生成的8→4-bit输出扰动，再用损失梯度加权。",</a:t>
            </a:r>
          </a:p>
          <a:p>
            <a:r>
              <a:t>    "把两阶段分数各自归一化后取较大值：任一阶段敏感的块优先留8-bit，其余按总预算用4-bit。",</a:t>
            </a:r>
          </a:p>
          <a:p>
            <a:r>
              <a:t>    "每块仅存选中的一份权重；逐词生成时按4-bit紧凑读取、片上展开INT8，减少带宽占用但仍付解包成本。"</a:t>
            </a:r>
          </a:p>
          <a:p>
            <a:r>
              <a:t>  ],</a:t>
            </a:r>
          </a:p>
          <a:p>
            <a:r>
              <a:t>  "mechanism_detail": "把权重划成 64×64 块，避免精度边界切碎硬件计算块。校准时估计每块从 8-bit 降至 4-bit 引起的输出变化，再用损失梯度加权；首词和逐词阶段任一敏感的块都优先保留 8-bit。每块只存选中的版本，逐词生成时紧凑读取、片上展开为 INT8。这样同时减少搬运并保护关键块，但仍有输入变换、解包和归约开销，首词不保证更快。",</a:t>
            </a:r>
          </a:p>
          <a:p>
            <a:r>
              <a:t>  "why_effective": "按损失影响保留少量高精度块；按计算块紧凑存储，减少逐词阶段的权重读取。",</a:t>
            </a:r>
          </a:p>
          <a:p>
            <a:r>
              <a:t>  "tradeoff": "输入变换、激活量化和解包均有成本；长 prefill 还会准备临时 INT8 缓冲，不能宣称全阶段加速。",</a:t>
            </a:r>
          </a:p>
          <a:p>
            <a:r>
              <a:t>  "what_changed": "精度分配单位从通道或细碎位置改为二维计算块；存储与内核读取沿用同一分区。",</a:t>
            </a:r>
          </a:p>
          <a:p>
            <a:r>
              <a:t>  "locators": [</a:t>
            </a:r>
          </a:p>
          <a:p>
            <a:r>
              <a:t>    "§3.1 pp4–5：候选、梯度加权与两阶段归一化取最大值",</a:t>
            </a:r>
          </a:p>
          <a:p>
            <a:r>
              <a:t>    "Figure 2 p4：候选→评分→打包→执行",</a:t>
            </a:r>
          </a:p>
          <a:p>
            <a:r>
              <a:t>    "§3.2–3.3 p6：每块单份表示与 prefill/decode 内核",</a:t>
            </a:r>
          </a:p>
          <a:p>
            <a:r>
              <a:t>    "Appendix G.1：64×64 默认块配置"</a:t>
            </a:r>
          </a:p>
          <a:p>
            <a:r>
              <a:t>  ],</a:t>
            </a:r>
          </a:p>
          <a:p>
            <a:r>
              <a:t>  "caveat": "本文算法包含 A8 激活量化，不能描述成纯 W4A16 权重量化。高分来自降位的损失敏感性，不等于仅按权重绝对值排序。",</a:t>
            </a:r>
          </a:p>
          <a:p>
            <a:r>
              <a:t>  "background": "按通道或零散位置混合精度，容易打乱计算块：权重变小了，读取和计算却未必更快。",</a:t>
            </a:r>
          </a:p>
          <a:p>
            <a:r>
              <a:t>  "principle": "让“分配多少位、怎样存、怎样算”使用同一块权重，把混合精度真正变成少读数据。",</a:t>
            </a:r>
          </a:p>
          <a:p>
            <a:r>
              <a:t>  "source_url": "https://arxiv.org/abs/2610.07457v1",</a:t>
            </a:r>
          </a:p>
          <a:p>
            <a:r>
              <a:t>  "background_with_idea": "混合精度若与硬件计算块错位，权重变小也未必变快。AlignQuant统一按64×64块分配位宽、打包和执行，并同时保护输入处理与逐词生成阶段的敏感块，让精度取舍与实际权重读取对应。",</a:t>
            </a:r>
          </a:p>
          <a:p>
            <a:r>
              <a:t>  "mechanism_labels": [</a:t>
            </a:r>
          </a:p>
          <a:p>
            <a:r>
              <a:t>    "双阶段敏感度",</a:t>
            </a:r>
          </a:p>
          <a:p>
            <a:r>
              <a:t>    "块级混合精度",</a:t>
            </a:r>
          </a:p>
          <a:p>
            <a:r>
              <a:t>    "紧凑存储与解包"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图文附录 · 学术进展  /  权重 × 量化</a:t>
            </a:r>
          </a:p>
          <a:p>
            <a:r>
              <a:t>StagQ：共享2-bit底码，追加细化位形成多档权重</a:t>
            </a:r>
          </a:p>
          <a:p>
            <a:r>
              <a:t>多精度部署常要为每个位宽另存一份权重。StagQ把2-bit底码与细化位写入共享码流：少读层数省字节，多读层数细化同一权重；另存极值，防止它们拉宽整个量化网格。</a:t>
            </a:r>
          </a:p>
          <a:p>
            <a:r>
              <a:t>关键技术｜核心思路与实现方法</a:t>
            </a:r>
          </a:p>
          <a:p>
            <a:r>
              <a:t>关键效果｜基线 → 论文方案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"StagQ：一份权重码流，提供多个精度档位",</a:t>
            </a:r>
          </a:p>
          <a:p>
            <a:r>
              <a:t>    "map_label": "权重 × 量化",</a:t>
            </a:r>
          </a:p>
          <a:p>
            <a:r>
              <a:t>    "background": "同一模型若需多档精度，分别保存权重会增加管理与存储成本。StagQ用共享底码和细化位平面组合不同精度，异常值另行补存；2-bit优势只对同类压缩基线成立。",</a:t>
            </a:r>
          </a:p>
          <a:p>
            <a:r>
              <a:t>    "steps": [</a:t>
            </a:r>
          </a:p>
          <a:p>
            <a:r>
              <a:t>      "共享前缀：2-bit底码叠加1-bit细化平面，按需求读取精度档位。",</a:t>
            </a:r>
          </a:p>
          <a:p>
            <a:r>
              <a:t>      "共享映射：各档位使用同一组仿射元数据，降低重复保存开销。",</a:t>
            </a:r>
          </a:p>
          <a:p>
            <a:r>
              <a:t>      "异常值旁路：编码前后保护难量化权重，旁路与padding计入码率。"</a:t>
            </a:r>
          </a:p>
          <a:p>
            <a:r>
              <a:t>    ],</a:t>
            </a:r>
          </a:p>
          <a:p>
            <a:r>
              <a:t>    "conditions": "质量：Llama-3.1-8B；StagQ-XXS 2-bit / 2.35 bpw\n对照AnyBCQ 2.38 bpw与原始BF16；MMLU 5-shot / WT2\n执行实验：A100、B=1、合成权重，不能视作真实模型收益。",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"未报告"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"TPOT",</a:t>
            </a:r>
          </a:p>
          <a:p>
            <a:r>
              <a:t>        "value": "真实模型TPOT未报告\n合成权重速度含融合差异，不换算服务时延"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"逻辑2.35 bpw；实际读取2.47 bpw\n完整驻留 / 峰值显存未报告"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"MMLU：AnyBCQ 35.33→StagQ 38.38%\n原始BF16为65.23%，仍低26.85个百分点"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"逻辑码率相对16-bit少85.3%是格式核算；不能写成整模型显存减少85.3%。",</a:t>
            </a:r>
          </a:p>
          <a:p>
            <a:r>
              <a:t>    "takeaway": "只有存在多精度交付需求时才优先研究共享码流。先检验4-bit及更高档位的业务质量、实际总字节和切档开销；2-bit当前质量差距过大，合成权重速度也不足以支持昇腾上线判断。",</a:t>
            </a:r>
          </a:p>
          <a:p>
            <a:r>
              <a:t>    "locator": "Table 1；§4.1；Appendix A"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"2610.05977",</a:t>
            </a:r>
          </a:p>
          <a:p>
            <a:r>
              <a:t>    "version": "v1",</a:t>
            </a:r>
          </a:p>
          <a:p>
            <a:r>
              <a:t>    "short_name": "StagQ",</a:t>
            </a:r>
          </a:p>
          <a:p>
            <a:r>
              <a:t>    "title": "StagQ: Constraint-Driven Multi-Precision Weight Quantization for LLMs",</a:t>
            </a:r>
          </a:p>
          <a:p>
            <a:r>
              <a:t>    "url": "https://arxiv.org/abs/2610.05977v1",</a:t>
            </a:r>
          </a:p>
          <a:p>
            <a:r>
              <a:t>    "source_pdf": ".tmp/ascend-ppt/papers/2610.05977.pdf",</a:t>
            </a:r>
          </a:p>
          <a:p>
            <a:r>
              <a:t>    "key_techniques": [</a:t>
            </a:r>
          </a:p>
          <a:p>
            <a:r>
              <a:t>      "一个checkpoint存2-bit仿射底码和逐个1-bit细化平面；加载不同长度的前缀即可选2–6bit，不需为每种精度重复保存完整模型。",</a:t>
            </a:r>
          </a:p>
          <a:p>
            <a:r>
              <a:t>      "所有精度共用每组的offset/scale编码；拼接底码与细化位后一次仿射还原，避免逐权重查表。",</a:t>
            </a:r>
          </a:p>
          <a:p>
            <a:r>
              <a:t>      "拟合量化网格前后设置guard，把极端或拟合差的少量权重放稀疏侧记录；保精度的同时必须计入侧记录与对齐开销。"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"id": "stagq-quality-2bit",</a:t>
            </a:r>
          </a:p>
          <a:p>
            <a:r>
              <a:t>        "model": "Llama-3.1-8B",</a:t>
            </a:r>
          </a:p>
          <a:p>
            <a:r>
              <a:t>        "hardware": "质量实验：BF16 harness；系统另用A100",</a:t>
            </a:r>
          </a:p>
          <a:p>
            <a:r>
              <a:t>        "configuration": "AnyBCQ2bit logical2.38bpw vs StagQ-XXS2bit logical2.35bpw；原始BF16另列",</a:t>
            </a:r>
          </a:p>
          <a:p>
            <a:r>
              <a:t>        "dataset": "5-shot MMLU；WikiText-2 token-normalized PPL，非重叠2048-token blocks",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"MMLU_vs_AnyBCQ",</a:t>
            </a:r>
          </a:p>
          <a:p>
            <a:r>
              <a:t>            "baseline": 35.33,</a:t>
            </a:r>
          </a:p>
          <a:p>
            <a:r>
              <a:t>            "treatment": 38.38,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3.05,</a:t>
            </a:r>
          </a:p>
          <a:p>
            <a:r>
              <a:t>            "relative_change_percent": 8.63,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"MMLU_vs_BF16",</a:t>
            </a:r>
          </a:p>
          <a:p>
            <a:r>
              <a:t>            "baseline": 65.23,</a:t>
            </a:r>
          </a:p>
          <a:p>
            <a:r>
              <a:t>            "treatment": 38.38,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-26.85,</a:t>
            </a:r>
          </a:p>
          <a:p>
            <a:r>
              <a:t>            "relative_change_percent": -41.16,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"WT2_PPL_vs_AnyBCQ",</a:t>
            </a:r>
          </a:p>
          <a:p>
            <a:r>
              <a:t>            "baseline": 19.03,</a:t>
            </a:r>
          </a:p>
          <a:p>
            <a:r>
              <a:t>            "treatment": 12.77,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-6.26,</a:t>
            </a:r>
          </a:p>
          <a:p>
            <a:r>
              <a:t>            "relative_change_percent": -32.9,</a:t>
            </a:r>
          </a:p>
          <a:p>
            <a:r>
              <a:t>            "reduction_percent": 32.9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"WT2_PPL_vs_BF16",</a:t>
            </a:r>
          </a:p>
          <a:p>
            <a:r>
              <a:t>            "baseline": 6.24,</a:t>
            </a:r>
          </a:p>
          <a:p>
            <a:r>
              <a:t>            "treatment": 12.77,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6.53,</a:t>
            </a:r>
          </a:p>
          <a:p>
            <a:r>
              <a:t>            "relative_change_percent": 104.65,</a:t>
            </a:r>
          </a:p>
          <a:p>
            <a:r>
              <a:t>            "reduction_percent": -104.65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p8 Table1; p9 Table2; §4.1 p7",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"https://arxiv.org/abs/2610.05977v1"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"stagq-quality-4bit",</a:t>
            </a:r>
          </a:p>
          <a:p>
            <a:r>
              <a:t>        "model": "Llama-3.1-8B",</a:t>
            </a:r>
          </a:p>
          <a:p>
            <a:r>
              <a:t>        "hardware": "同上",</a:t>
            </a:r>
          </a:p>
          <a:p>
            <a:r>
              <a:t>        "configuration": "BF16 vs StagQ-XXS4bit logical4.35bpw",</a:t>
            </a:r>
          </a:p>
          <a:p>
            <a:r>
              <a:t>        "dataset": "MMLU 5-shot / WikiText-2",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"MMLU",</a:t>
            </a:r>
          </a:p>
          <a:p>
            <a:r>
              <a:t>            "baseline": 65.23,</a:t>
            </a:r>
          </a:p>
          <a:p>
            <a:r>
              <a:t>            "treatment": 64.11,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-1.12,</a:t>
            </a:r>
          </a:p>
          <a:p>
            <a:r>
              <a:t>            "relative_change_percent": -1.72,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"WT2_PPL",</a:t>
            </a:r>
          </a:p>
          <a:p>
            <a:r>
              <a:t>            "baseline": 6.24,</a:t>
            </a:r>
          </a:p>
          <a:p>
            <a:r>
              <a:t>            "treatment": 6.57,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0.33,</a:t>
            </a:r>
          </a:p>
          <a:p>
            <a:r>
              <a:t>            "relative_change_percent": 5.29,</a:t>
            </a:r>
          </a:p>
          <a:p>
            <a:r>
              <a:t>            "reduction_percent": -5.29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p8 Table1; p9 Table2",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"https://arxiv.org/abs/2610.05977v1"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"stagq-decode-synthetic",</a:t>
            </a:r>
          </a:p>
          <a:p>
            <a:r>
              <a:t>        "model": "Llama-3.1-8B architecture; SYNTHETIC WEIGHTS",</a:t>
            </a:r>
          </a:p>
          <a:p>
            <a:r>
              <a:t>        "hardware": "NVIDIA A100 40GB",</a:t>
            </a:r>
          </a:p>
          <a:p>
            <a:r>
              <a:t>        "configuration": "FP16 decode vs StagQ-XXS2bit，StagQ含额外格式无关融合",</a:t>
            </a:r>
          </a:p>
          <a:p>
            <a:r>
              <a:t>        "dataset": "synthetic weights decode；输入/输出长度未报告",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1,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"decode_throughput",</a:t>
            </a:r>
          </a:p>
          <a:p>
            <a:r>
              <a:t>            "baseline": 46.16,</a:t>
            </a:r>
          </a:p>
          <a:p>
            <a:r>
              <a:t>            "treatment": 73.68,</a:t>
            </a:r>
          </a:p>
          <a:p>
            <a:r>
              <a:t>            "unit": "tokens/s",</a:t>
            </a:r>
          </a:p>
          <a:p>
            <a:r>
              <a:t>            "direction": "higher_is_better",</a:t>
            </a:r>
          </a:p>
          <a:p>
            <a:r>
              <a:t>            "change_absolute": 27.52,</a:t>
            </a:r>
          </a:p>
          <a:p>
            <a:r>
              <a:t>            "relative_change_percent": 59.62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"TTFT",</a:t>
            </a:r>
          </a:p>
          <a:p>
            <a:r>
              <a:t>            "baseline": null,</a:t>
            </a:r>
          </a:p>
          <a:p>
            <a:r>
              <a:t>            "treatment": null,</a:t>
            </a:r>
          </a:p>
          <a:p>
            <a:r>
              <a:t>            "unit": "ms",</a:t>
            </a:r>
          </a:p>
          <a:p>
            <a:r>
              <a:t>            "direction": "lower_is_better",</a:t>
            </a:r>
          </a:p>
          <a:p>
            <a:r>
              <a:t>            "change_absolute": null,</a:t>
            </a:r>
          </a:p>
          <a:p>
            <a:r>
              <a:t>            "relative_change_percent": null,</a:t>
            </a:r>
          </a:p>
          <a:p>
            <a:r>
              <a:t>            "status": "not_reported"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"TPOT",</a:t>
            </a:r>
          </a:p>
          <a:p>
            <a:r>
              <a:t>            "baseline": null,</a:t>
            </a:r>
          </a:p>
          <a:p>
            <a:r>
              <a:t>            "treatment": null,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null,</a:t>
            </a:r>
          </a:p>
          <a:p>
            <a:r>
              <a:t>            "relative_change_percent": null,</a:t>
            </a:r>
          </a:p>
          <a:p>
            <a:r>
              <a:t>            "status": "not_reported_as_metric",</a:t>
            </a:r>
          </a:p>
          <a:p>
            <a:r>
              <a:t>            "interpretation": "不得由tok/s倒数生成模型TPOT"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p9 Table2; p12 Appendix A Scope of evidence",</a:t>
            </a:r>
          </a:p>
          <a:p>
            <a:r>
              <a:t>        "status": "reported_original_pdf",</a:t>
            </a:r>
          </a:p>
          <a:p>
            <a:r>
              <a:t>        "protocol": "一次run中6次计时均值；合成权重；StagQ融合而基线按release分离，比较非纯格式贡献。",</a:t>
            </a:r>
          </a:p>
          <a:p>
            <a:r>
              <a:t>        "url": "https://arxiv.org/abs/2610.05977v1"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"stagq-kernel",</a:t>
            </a:r>
          </a:p>
          <a:p>
            <a:r>
              <a:t>        "model": "Llama3-8B/Phi-4/Llama3-70B的9种矩阵形状，非整模型",</a:t>
            </a:r>
          </a:p>
          <a:p>
            <a:r>
              <a:t>        "hardware": "NVIDIA A100 40GB",</a:t>
            </a:r>
          </a:p>
          <a:p>
            <a:r>
              <a:t>        "configuration": "cuBLAS16bit vs StagQ2bit",</a:t>
            </a:r>
          </a:p>
          <a:p>
            <a:r>
              <a:t>        "dataset": "synthetic-weights batch-one GEMV",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1,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"median_GEMV_speedup",</a:t>
            </a:r>
          </a:p>
          <a:p>
            <a:r>
              <a:t>            "baseline": 1,</a:t>
            </a:r>
          </a:p>
          <a:p>
            <a:r>
              <a:t>            "treatment": 4.13,</a:t>
            </a:r>
          </a:p>
          <a:p>
            <a:r>
              <a:t>            "unit": "×",</a:t>
            </a:r>
          </a:p>
          <a:p>
            <a:r>
              <a:t>            "direction": "higher_is_better",</a:t>
            </a:r>
          </a:p>
          <a:p>
            <a:r>
              <a:t>            "status": "reported_ratio",</a:t>
            </a:r>
          </a:p>
          <a:p>
            <a:r>
              <a:t>            "interpretation": "仅9种shape的内核速度中位比值；不能写为TPOT提升4.13×"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p9 Table5; p16 Table8",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"https://arxiv.org/abs/2610.05977v1"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"ttft": {</a:t>
            </a:r>
          </a:p>
          <a:p>
            <a:r>
              <a:t>      "status": "not_reported"</a:t>
            </a:r>
          </a:p>
          <a:p>
            <a:r>
              <a:t>    },</a:t>
            </a:r>
          </a:p>
          <a:p>
            <a:r>
              <a:t>    "tpot": {</a:t>
            </a:r>
          </a:p>
          <a:p>
            <a:r>
              <a:t>      "status": "not_reported",</a:t>
            </a:r>
          </a:p>
          <a:p>
            <a:r>
              <a:t>      "note": "论文端到端decode只给synthetic-weights tok/s，不转换为真实模型TPOT。"</a:t>
            </a:r>
          </a:p>
          <a:p>
            <a:r>
              <a:t>    },</a:t>
            </a:r>
          </a:p>
          <a:p>
            <a:r>
              <a:t>    "slide_ready": {</a:t>
            </a:r>
          </a:p>
          <a:p>
            <a:r>
              <a:t>      "headline": "一份权重支持多档精度；当前2-bit增益是优于同类压缩基线，并未保持原模型精度",</a:t>
            </a:r>
          </a:p>
          <a:p>
            <a:r>
              <a:t>      "technique": "2-bit底码+1-bit细化平面；共享仿射元数据；双guard补存难量化权重。",</a:t>
            </a:r>
          </a:p>
          <a:p>
            <a:r>
              <a:t>      "conditions": "质量：Llama-3.1-8B｜2bit StagQ-XXS2.35bpw vs AnyBCQ2.38bpw｜MMLU5-shot / WT2",</a:t>
            </a:r>
          </a:p>
          <a:p>
            <a:r>
              <a:t>      "result": "MMLU 35.33→38.38（+3.05pp），但原始BF16为65.23。A100 B1合成权重decode 46.16→73.68 tok/s；TTFT/真实模型TPOT未报告。 逻辑码率2.35bpw、实际读取2.47bpw；总显存未报告。",</a:t>
            </a:r>
          </a:p>
          <a:p>
            <a:r>
              <a:t>      "limit": "多精度部署格式值得研究，但2-bit质量明显不达&lt;1%；速度实验含合成权重和融合偏差。4-bit MMLU仍比BF16低1.12pp，需业务质量门槛重测。"</a:t>
            </a:r>
          </a:p>
          <a:p>
            <a:r>
              <a:t>    },</a:t>
            </a:r>
          </a:p>
          <a:p>
            <a:r>
              <a:t>    "contradictions": [</a:t>
            </a:r>
          </a:p>
          <a:p>
            <a:r>
              <a:t>      "摘要3.1–7.0是MMLU百分点，不是相对百分比；基准是多精度量化模型，不是BF16。",</a:t>
            </a:r>
          </a:p>
          <a:p>
            <a:r>
              <a:t>      "所有GEMV与decode计时使用synthetic weights；真实权重只做2bit有限数值一致性测试。",</a:t>
            </a:r>
          </a:p>
          <a:p>
            <a:r>
              <a:t>      "StagQ2bit实际读取2.47bpw，高于逻辑计费2.35bpw。"</a:t>
            </a:r>
          </a:p>
          <a:p>
            <a:r>
              <a:t>    ],</a:t>
            </a:r>
          </a:p>
          <a:p>
            <a:r>
              <a:t>    "memory_summary": {</a:t>
            </a:r>
          </a:p>
          <a:p>
            <a:r>
              <a:t>      "headline": "Llama3.1-8B 2-bit逻辑码率2.35bpw；真实权重执行读取2.47bpw。未报告完整驻留/峰值显存。",</a:t>
            </a:r>
          </a:p>
          <a:p>
            <a:r>
              <a:t>      "measurements": [</a:t>
            </a:r>
          </a:p>
          <a:p>
            <a:r>
              <a:t>        {</a:t>
            </a:r>
          </a:p>
          <a:p>
            <a:r>
              <a:t>          "metric": "logical_bits_per_weight",</a:t>
            </a:r>
          </a:p>
          <a:p>
            <a:r>
              <a:t>          "baseline": 16,</a:t>
            </a:r>
          </a:p>
          <a:p>
            <a:r>
              <a:t>          "result": 2.35,</a:t>
            </a:r>
          </a:p>
          <a:p>
            <a:r>
              <a:t>          "unit": "bit/weight",</a:t>
            </a:r>
          </a:p>
          <a:p>
            <a:r>
              <a:t>          "reduction_percent": 85.31,</a:t>
            </a:r>
          </a:p>
          <a:p>
            <a:r>
              <a:t>          "scope": "主码+侧记录+元数据的声明位宽逻辑核算，不是测得的完整模型/峰值HBM",</a:t>
            </a:r>
          </a:p>
          <a:p>
            <a:r>
              <a:t>          "status": "format_accounting",</a:t>
            </a:r>
          </a:p>
          <a:p>
            <a:r>
              <a:t>          "locator": "p8 Table1; p7 §4.1"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"actual_bits_read_per_weight",</a:t>
            </a:r>
          </a:p>
          <a:p>
            <a:r>
              <a:t>          "baseline": 16,</a:t>
            </a:r>
          </a:p>
          <a:p>
            <a:r>
              <a:t>          "result": 2.47,</a:t>
            </a:r>
          </a:p>
          <a:p>
            <a:r>
              <a:t>          "unit": "bit/weight",</a:t>
            </a:r>
          </a:p>
          <a:p>
            <a:r>
              <a:t>          "reduction_percent": 84.56,</a:t>
            </a:r>
          </a:p>
          <a:p>
            <a:r>
              <a:t>          "scope": "真实Llama3.1-8B 2-bit执行读取，含行guard padding；不含整个模型驻留状态",</a:t>
            </a:r>
          </a:p>
          <a:p>
            <a:r>
              <a:t>          "status": "reported_runtime_read_accounting",</a:t>
            </a:r>
          </a:p>
          <a:p>
            <a:r>
              <a:t>          "locator": "p7 §4.1; p11–12 Appendix A"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"resident_GPU_memory",</a:t>
            </a:r>
          </a:p>
          <a:p>
            <a:r>
              <a:t>          "baseline": null,</a:t>
            </a:r>
          </a:p>
          <a:p>
            <a:r>
              <a:t>          "result": null,</a:t>
            </a:r>
          </a:p>
          <a:p>
            <a:r>
              <a:t>          "unit": "GiB",</a:t>
            </a:r>
          </a:p>
          <a:p>
            <a:r>
              <a:t>          "reduction_percent": null,</a:t>
            </a:r>
          </a:p>
          <a:p>
            <a:r>
              <a:t>          "scope": "完整模型驻留GPU内存",</a:t>
            </a:r>
          </a:p>
          <a:p>
            <a:r>
              <a:t>          "status": "not_reported"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"peak_GPU_memory",</a:t>
            </a:r>
          </a:p>
          <a:p>
            <a:r>
              <a:t>          "baseline": null,</a:t>
            </a:r>
          </a:p>
          <a:p>
            <a:r>
              <a:t>          "result": null,</a:t>
            </a:r>
          </a:p>
          <a:p>
            <a:r>
              <a:t>          "unit": "GiB",</a:t>
            </a:r>
          </a:p>
          <a:p>
            <a:r>
              <a:t>          "reduction_percent": null,</a:t>
            </a:r>
          </a:p>
          <a:p>
            <a:r>
              <a:t>          "scope": "请求峰值GPU内存",</a:t>
            </a:r>
          </a:p>
          <a:p>
            <a:r>
              <a:t>          "status": "not_reported"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"caveat": "多精度共用checkpoint可免重复存多份，但论文没有给固定多配置部署总存储对比。不能按2/16直接宣传整个模型8×省显存。"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"short_name": "StagQ",</a:t>
            </a:r>
          </a:p>
          <a:p>
            <a:r>
              <a:t>  "title": "StagQ：共享2-bit底码，追加细化位形成多档权重",</a:t>
            </a:r>
          </a:p>
          <a:p>
            <a:r>
              <a:t>  "challenge": "同一模型交付多个位宽，常需分别保存权重；简单截断同一份编码又会牺牲低位宽质量。",</a:t>
            </a:r>
          </a:p>
          <a:p>
            <a:r>
              <a:t>  "idea": "把多个位宽写进同一条可截断码流：少读几层省字节，多读一层细化同一个权重。",</a:t>
            </a:r>
          </a:p>
          <a:p>
            <a:r>
              <a:t>  "steps": [</a:t>
            </a:r>
          </a:p>
          <a:p>
            <a:r>
              <a:t>    "先存2-bit底码，再按残差正负追加1-bit细化层；每层让量化间隔减半，截取不同前缀即可读取不同位宽。",</a:t>
            </a:r>
          </a:p>
          <a:p>
            <a:r>
              <a:t>    "将底码和细化位拼成整数，由共享基准参数推导该档缩放与偏移；一次仿射解码还原权重，无需逐权重查表。",</a:t>
            </a:r>
          </a:p>
          <a:p>
            <a:r>
              <a:t>    "拟合量化网格前先分离极值，固定网格后再保护高误差值，避免拉宽全组格子；旁路记录每档都要读取，增加码率。"</a:t>
            </a:r>
          </a:p>
          <a:p>
            <a:r>
              <a:t>  ],</a:t>
            </a:r>
          </a:p>
          <a:p>
            <a:r>
              <a:t>  "mechanism_detail": "StagQ 将每组权重编码成 2-bit 底码和若干 1-bit 细化层。底码给出粗略位置，追加一层就沿残差方向细化，量化间隔减半；读取到哪层，就获得对应位宽。各层拼成整数后，通过同组缩放和偏移还原，无需给每档保存一套权重。极端值在拟合量化网格前后单独挑出保存，避免拉宽格子；但旁路记录必须每档都读，增加实际码率。",</a:t>
            </a:r>
          </a:p>
          <a:p>
            <a:r>
              <a:t>  "why_effective": "同一份码流覆盖多个精度档；少读细化层直接减少字节，异常值旁路保护主网格分辨率。",</a:t>
            </a:r>
          </a:p>
          <a:p>
            <a:r>
              <a:t>  "tradeoff": "前缀共享约束限制每档独立优化；异常值、索引和 padding 都占空间，2-bit 质量仍明显低于原模型。",</a:t>
            </a:r>
          </a:p>
          <a:p>
            <a:r>
              <a:t>  "what_changed": "从“每个位宽一份模型”改为共享前缀码流；针对所有档位共同设计主网格与异常值旁路。",</a:t>
            </a:r>
          </a:p>
          <a:p>
            <a:r>
              <a:t>  "locators": [</a:t>
            </a:r>
          </a:p>
          <a:p>
            <a:r>
              <a:t>    "§3.1–3.4 pp3–5：共享网格、二进制细化与仿射解码",</a:t>
            </a:r>
          </a:p>
          <a:p>
            <a:r>
              <a:t>    "Equation 9–10 p5：细化与单次缩放/偏移还原",</a:t>
            </a:r>
          </a:p>
          <a:p>
            <a:r>
              <a:t>    "§3.5–3.6 p6：网格前后保护极值、编码流程",</a:t>
            </a:r>
          </a:p>
          <a:p>
            <a:r>
              <a:t>    "Figure 3 p7：编码各阶段及码流布局"</a:t>
            </a:r>
          </a:p>
          <a:p>
            <a:r>
              <a:t>  ],</a:t>
            </a:r>
          </a:p>
          <a:p>
            <a:r>
              <a:t>  "caveat": "“无查表”只描述主码流逐权重解码，不能据此忽略旁路数据；多档编码不等于所有档位均达到业务质量要求。",</a:t>
            </a:r>
          </a:p>
          <a:p>
            <a:r>
              <a:t>  "background": "同一模型交付多个位宽，常需分别保存权重；简单截断同一份编码又会牺牲低位宽质量。",</a:t>
            </a:r>
          </a:p>
          <a:p>
            <a:r>
              <a:t>  "principle": "把多个位宽写进同一条可截断码流：少读几层省字节，多读一层细化同一个权重。",</a:t>
            </a:r>
          </a:p>
          <a:p>
            <a:r>
              <a:t>  "source_url": "https://arxiv.org/abs/2610.05977v1",</a:t>
            </a:r>
          </a:p>
          <a:p>
            <a:r>
              <a:t>  "background_with_idea": "多精度部署常要为每个位宽另存一份权重。StagQ把2-bit底码与细化位写入共享码流：少读层数省字节，多读层数细化同一权重；另存极值，防止它们拉宽整个量化网格。",</a:t>
            </a:r>
          </a:p>
          <a:p>
            <a:r>
              <a:t>  "mechanism_labels": [</a:t>
            </a:r>
          </a:p>
          <a:p>
            <a:r>
              <a:t>    "前缀细化编码",</a:t>
            </a:r>
          </a:p>
          <a:p>
            <a:r>
              <a:t>    "共享仿射解码",</a:t>
            </a:r>
          </a:p>
          <a:p>
            <a:r>
              <a:t>    "极值旁路保护"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图文附录 · 学术进展  /  权重 × 剪枝 / 量化 / 低秩分解</a:t>
            </a:r>
          </a:p>
          <a:p>
            <a:r>
              <a:t>DBW：在同一预算内，联合决定删哪些分量、各留几位</a:t>
            </a:r>
          </a:p>
          <a:p>
            <a:r>
              <a:t>先剪枝再量化，会先锁死删哪些分量，再决定剩余位宽。DBW把二者合成一个预算问题：联合学习SVD分量及其位宽，0-bit即删除，在相同存储下权衡保留更多方向还是提高精度。</a:t>
            </a:r>
          </a:p>
          <a:p>
            <a:r>
              <a:t>关键技术｜核心思路与实现方法</a:t>
            </a:r>
          </a:p>
          <a:p>
            <a:r>
              <a:t>关键效果｜基线 → 论文方案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"DBW：联合选择保留分量与位宽，压低权重体积",</a:t>
            </a:r>
          </a:p>
          <a:p>
            <a:r>
              <a:t>    "map_label": "权重 × 剪枝 / 量化 / 低秩分解",</a:t>
            </a:r>
          </a:p>
          <a:p>
            <a:r>
              <a:t>    "background": "先截断低秩分量再量化，会把两阶段误差割裂优化。DBW把分量位宽设为可学习变量，0-bit代表删除，用一次预算优化分配误差；极低体积目前仍以明显质量损失为代价。",</a:t>
            </a:r>
          </a:p>
          <a:p>
            <a:r>
              <a:t>    "steps": [</a:t>
            </a:r>
          </a:p>
          <a:p>
            <a:r>
              <a:t>      "联合变量：同时学习SVD分量是否保留、保留后使用多少位。",</a:t>
            </a:r>
          </a:p>
          <a:p>
            <a:r>
              <a:t>      "预算约束：0-bit删除分量，把有限存储留给更重要的方向。",</a:t>
            </a:r>
          </a:p>
          <a:p>
            <a:r>
              <a:t>      "执行布局：按位宽分组打包，并行GEMM；需核算双矩阵乘与启动开销。"</a:t>
            </a:r>
          </a:p>
          <a:p>
            <a:r>
              <a:t>    ],</a:t>
            </a:r>
          </a:p>
          <a:p>
            <a:r>
              <a:t>    "conditions": "LLaMA-2-7B｜1.61 bpw；group=128｜FP16对照\n校准RedPajama 4096×2048；测试WT2/C4＋8项零样本\n权重字节和质量为模型级；RTX3090内核测时是另一实验。",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"未报告首词分项数值"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"TPOT",</a:t>
            </a:r>
          </a:p>
          <a:p>
            <a:r>
              <a:t>        "value": "未报告逐词分项数值\nINT2单block GEMM加速不能替代模型TPOT"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"权重占用12.31→1.56 GB（−87.3%）\n含量化参数；不是运行时峰值HBM"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"8任务准确率63.19→49.06%（−14.13pp）\nWikiText-2 PPL 5.47→8.78"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"GB沿用论文单位；权重占用含embedding与量化元数据，不包含请求KV或激活。",</a:t>
            </a:r>
          </a:p>
          <a:p>
            <a:r>
              <a:t>    "takeaway": "当前1.61-bit配置用于容量极限研究，不宜直接迁移生产。若容量确实无法满足，先提高预算找质量拐点，并与同总字节量化比较；达到质量要求后再核查低秩双GEMM在昇腾的执行收益。",</a:t>
            </a:r>
          </a:p>
          <a:p>
            <a:r>
              <a:t>    "locator": "Table 1/2/5；Appendix A.2；Table 12",</a:t>
            </a:r>
          </a:p>
          <a:p>
            <a:r>
              <a:t>    "plate_note": "图中 Table 5 的 PPL 6.22→10.54 为 WikiText-2/C4 均值；正文 Table 2 的 5.47→8.78 仅为 WikiText-2。"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"2610.06026",</a:t>
            </a:r>
          </a:p>
          <a:p>
            <a:r>
              <a:t>    "version": "v1",</a:t>
            </a:r>
          </a:p>
          <a:p>
            <a:r>
              <a:t>    "short_name": "DBW",</a:t>
            </a:r>
          </a:p>
          <a:p>
            <a:r>
              <a:t>    "title": "Differentiable Bit-Widths: Co-optimizing Pruning and Quantization via SVD for Ultra-Efficient LLM Compression",</a:t>
            </a:r>
          </a:p>
          <a:p>
            <a:r>
              <a:t>    "url": "https://arxiv.org/abs/2610.06026v1",</a:t>
            </a:r>
          </a:p>
          <a:p>
            <a:r>
              <a:t>    "source_pdf": ".tmp/ascend-ppt/papers/2610.06026.pdf",</a:t>
            </a:r>
          </a:p>
          <a:p>
            <a:r>
              <a:t>    "key_techniques": [</a:t>
            </a:r>
          </a:p>
          <a:p>
            <a:r>
              <a:t>      "先将权重SVD分解，把每个奇异分量的位宽变为可学习参数；分到0bit等同剪去该分量，一次优化决定剪多少和剩余分量用几位。",</a:t>
            </a:r>
          </a:p>
          <a:p>
            <a:r>
              <a:t>      "在固定总位预算下，联合学习矩阵级/分量级预算，用校准数据的block输出重建损失和奇异值熵约束训练；整数取整后补齐剩余预算。",</a:t>
            </a:r>
          </a:p>
          <a:p>
            <a:r>
              <a:t>      "把相同位宽的SVD分量重排并打包为bit-group，运行多个并行低比特GEMM，降低不规则混合精度布局开销。"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"id": "dbw-quality-161",</a:t>
            </a:r>
          </a:p>
          <a:p>
            <a:r>
              <a:t>        "model": "LLaMA-2-7B",</a:t>
            </a:r>
          </a:p>
          <a:p>
            <a:r>
              <a:t>        "hardware": "论文质量硬件未逐表注明；CUDA速度测试为RTX3090 24GB",</a:t>
            </a:r>
          </a:p>
          <a:p>
            <a:r>
              <a:t>        "configuration": "FP16 vs DBW1.61bpw, group128",</a:t>
            </a:r>
          </a:p>
          <a:p>
            <a:r>
              <a:t>        "dataset": "WikiText-2/C4验证序列2048；8任务零样本：PIQA、ARC-E/C、HellaSwag、WinoGrande、RACE、LAMBADA-OpenAI/Standard",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"WT2_PPL",</a:t>
            </a:r>
          </a:p>
          <a:p>
            <a:r>
              <a:t>            "baseline": 5.47,</a:t>
            </a:r>
          </a:p>
          <a:p>
            <a:r>
              <a:t>            "treatment": 8.78,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3.31,</a:t>
            </a:r>
          </a:p>
          <a:p>
            <a:r>
              <a:t>            "relative_change_percent": 60.51,</a:t>
            </a:r>
          </a:p>
          <a:p>
            <a:r>
              <a:t>            "reduction_percent": -60.51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"C4_PPL",</a:t>
            </a:r>
          </a:p>
          <a:p>
            <a:r>
              <a:t>            "baseline": 6.97,</a:t>
            </a:r>
          </a:p>
          <a:p>
            <a:r>
              <a:t>            "treatment": 12.3,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5.33,</a:t>
            </a:r>
          </a:p>
          <a:p>
            <a:r>
              <a:t>            "relative_change_percent": 76.47,</a:t>
            </a:r>
          </a:p>
          <a:p>
            <a:r>
              <a:t>            "reduction_percent": -76.47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"8task_avg_accuracy",</a:t>
            </a:r>
          </a:p>
          <a:p>
            <a:r>
              <a:t>            "baseline": 63.19,</a:t>
            </a:r>
          </a:p>
          <a:p>
            <a:r>
              <a:t>            "treatment": 49.06,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-14.13,</a:t>
            </a:r>
          </a:p>
          <a:p>
            <a:r>
              <a:t>            "relative_change_percent": -22.36,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"model_weight_memory",</a:t>
            </a:r>
          </a:p>
          <a:p>
            <a:r>
              <a:t>            "baseline": 12.31,</a:t>
            </a:r>
          </a:p>
          <a:p>
            <a:r>
              <a:t>            "treatment": 1.56,</a:t>
            </a:r>
          </a:p>
          <a:p>
            <a:r>
              <a:t>            "unit": "GB",</a:t>
            </a:r>
          </a:p>
          <a:p>
            <a:r>
              <a:t>            "direction": "lower_is_better",</a:t>
            </a:r>
          </a:p>
          <a:p>
            <a:r>
              <a:t>            "change_absolute": -10.75,</a:t>
            </a:r>
          </a:p>
          <a:p>
            <a:r>
              <a:t>            "relative_change_percent": -87.33,</a:t>
            </a:r>
          </a:p>
          <a:p>
            <a:r>
              <a:t>            "reduction_percent": 87.33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p5 Table1; p6 Table2; p8 Table5; p13 Appendix A.2",</a:t>
            </a:r>
          </a:p>
          <a:p>
            <a:r>
              <a:t>        "status": "reported_original_pdf",</a:t>
            </a:r>
          </a:p>
          <a:p>
            <a:r>
              <a:t>        "protocol": "校准RedPajama-1T 4096×2048 tokens，逐block训练；速度与质量不是同一模型测试。",</a:t>
            </a:r>
          </a:p>
          <a:p>
            <a:r>
              <a:t>        "url": "https://arxiv.org/abs/2610.06026v1"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"dbw-vs-two-stage",</a:t>
            </a:r>
          </a:p>
          <a:p>
            <a:r>
              <a:t>        "model": "LLaMA-2-7B",</a:t>
            </a:r>
          </a:p>
          <a:p>
            <a:r>
              <a:t>        "hardware": "同上",</a:t>
            </a:r>
          </a:p>
          <a:p>
            <a:r>
              <a:t>        "configuration": "SVD-LLM+OmniQuant sequential1.61bpw vs DBW1.61bpw；近似匹配剪枝比/同memory",</a:t>
            </a:r>
          </a:p>
          <a:p>
            <a:r>
              <a:t>        "dataset": "WT2与C4平均PPL；8任务平均准确率",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"mean_PPL",</a:t>
            </a:r>
          </a:p>
          <a:p>
            <a:r>
              <a:t>            "baseline": 77.1,</a:t>
            </a:r>
          </a:p>
          <a:p>
            <a:r>
              <a:t>            "treatment": 10.54,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-66.56,</a:t>
            </a:r>
          </a:p>
          <a:p>
            <a:r>
              <a:t>            "relative_change_percent": -86.33,</a:t>
            </a:r>
          </a:p>
          <a:p>
            <a:r>
              <a:t>            "reduction_percent": 86.33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"8task_avg_accuracy",</a:t>
            </a:r>
          </a:p>
          <a:p>
            <a:r>
              <a:t>            "baseline": 29.35,</a:t>
            </a:r>
          </a:p>
          <a:p>
            <a:r>
              <a:t>            "treatment": 49.06,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19.71,</a:t>
            </a:r>
          </a:p>
          <a:p>
            <a:r>
              <a:t>            "relative_change_percent": 67.16,</a:t>
            </a:r>
          </a:p>
          <a:p>
            <a:r>
              <a:t>            "difference_unit": "percentage_point"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p8 Table5",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"https://arxiv.org/abs/2610.06026v1"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"dbw-block-kernel",</a:t>
            </a:r>
          </a:p>
          <a:p>
            <a:r>
              <a:t>        "model": "LLaMA-65B一个block的7个矩阵，非完整请求",</a:t>
            </a:r>
          </a:p>
          <a:p>
            <a:r>
              <a:t>        "hardware": "NVIDIA RTX3090 24GB",</a:t>
            </a:r>
          </a:p>
          <a:p>
            <a:r>
              <a:t>        "configuration": "cuBLAS FP16 vs 作者bit-wise INT2 kernel",</a:t>
            </a:r>
          </a:p>
          <a:p>
            <a:r>
              <a:t>        "dataset": "GEMM generation tasks，序列长度1–128汇总；非TTFT/TPOT",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"GEMM_runtime",</a:t>
            </a:r>
          </a:p>
          <a:p>
            <a:r>
              <a:t>            "baseline": 3.08,</a:t>
            </a:r>
          </a:p>
          <a:p>
            <a:r>
              <a:t>            "treatment": 1.83,</a:t>
            </a:r>
          </a:p>
          <a:p>
            <a:r>
              <a:t>            "unit": "ms",</a:t>
            </a:r>
          </a:p>
          <a:p>
            <a:r>
              <a:t>            "direction": "lower_is_better",</a:t>
            </a:r>
          </a:p>
          <a:p>
            <a:r>
              <a:t>            "change_absolute": -1.25,</a:t>
            </a:r>
          </a:p>
          <a:p>
            <a:r>
              <a:t>            "relative_change_percent": -40.58,</a:t>
            </a:r>
          </a:p>
          <a:p>
            <a:r>
              <a:t>            "reduction_percent": 40.58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"block_weight_memory",</a:t>
            </a:r>
          </a:p>
          <a:p>
            <a:r>
              <a:t>            "baseline": 1544,</a:t>
            </a:r>
          </a:p>
          <a:p>
            <a:r>
              <a:t>            "treatment": 193,</a:t>
            </a:r>
          </a:p>
          <a:p>
            <a:r>
              <a:t>            "unit": "MB",</a:t>
            </a:r>
          </a:p>
          <a:p>
            <a:r>
              <a:t>            "direction": "lower_is_better",</a:t>
            </a:r>
          </a:p>
          <a:p>
            <a:r>
              <a:t>            "change_absolute": -1351,</a:t>
            </a:r>
          </a:p>
          <a:p>
            <a:r>
              <a:t>            "relative_change_percent": -87.5,</a:t>
            </a:r>
          </a:p>
          <a:p>
            <a:r>
              <a:t>            "reduction_percent": 87.5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"TTFT",</a:t>
            </a:r>
          </a:p>
          <a:p>
            <a:r>
              <a:t>            "baseline": null,</a:t>
            </a:r>
          </a:p>
          <a:p>
            <a:r>
              <a:t>            "treatment": null,</a:t>
            </a:r>
          </a:p>
          <a:p>
            <a:r>
              <a:t>            "unit": "ms",</a:t>
            </a:r>
          </a:p>
          <a:p>
            <a:r>
              <a:t>            "direction": "lower_is_better",</a:t>
            </a:r>
          </a:p>
          <a:p>
            <a:r>
              <a:t>            "change_absolute": null,</a:t>
            </a:r>
          </a:p>
          <a:p>
            <a:r>
              <a:t>            "relative_change_percent": null,</a:t>
            </a:r>
          </a:p>
          <a:p>
            <a:r>
              <a:t>            "status": "not_reported"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"TPOT",</a:t>
            </a:r>
          </a:p>
          <a:p>
            <a:r>
              <a:t>            "baseline": null,</a:t>
            </a:r>
          </a:p>
          <a:p>
            <a:r>
              <a:t>            "treatment": null,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null,</a:t>
            </a:r>
          </a:p>
          <a:p>
            <a:r>
              <a:t>            "relative_change_percent": null,</a:t>
            </a:r>
          </a:p>
          <a:p>
            <a:r>
              <a:t>            "status": "not_reported"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p19 Table12; p14 Appendix A.2",</a:t>
            </a:r>
          </a:p>
          <a:p>
            <a:r>
              <a:t>        "status": "reported_original_pdf",</a:t>
            </a:r>
          </a:p>
          <a:p>
            <a:r>
              <a:t>        "protocol": "10次预热、30次均值。Table12 INT2 kernel不等于DBW1.61bpw完整模型效果。",</a:t>
            </a:r>
          </a:p>
          <a:p>
            <a:r>
              <a:t>        "url": "https://arxiv.org/abs/2610.06026v1"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"ttft": {</a:t>
            </a:r>
          </a:p>
          <a:p>
            <a:r>
              <a:t>      "status": "not_reported"</a:t>
            </a:r>
          </a:p>
          <a:p>
            <a:r>
              <a:t>    },</a:t>
            </a:r>
          </a:p>
          <a:p>
            <a:r>
              <a:t>    "tpot": {</a:t>
            </a:r>
          </a:p>
          <a:p>
            <a:r>
              <a:t>      "status": "not_reported",</a:t>
            </a:r>
          </a:p>
          <a:p>
            <a:r>
              <a:t>      "note": "Figure5是LLaMA65B不同token数量的端到端延迟曲线，未拆首字/逐字；不从曲线臆读精确数值。"</a:t>
            </a:r>
          </a:p>
          <a:p>
            <a:r>
              <a:t>    },</a:t>
            </a:r>
          </a:p>
          <a:p>
            <a:r>
              <a:t>    "slide_ready": {</a:t>
            </a:r>
          </a:p>
          <a:p>
            <a:r>
              <a:t>      "headline": "把剪枝和量化合成一次预算优化，收益是极限体积压缩，当前精度不足以直接上线",</a:t>
            </a:r>
          </a:p>
          <a:p>
            <a:r>
              <a:t>      "technique": "可学习SVD分量位宽；0bit即剪枝；固定预算下联合校准，再按位宽分组打包/并行GEMM。",</a:t>
            </a:r>
          </a:p>
          <a:p>
            <a:r>
              <a:t>      "conditions": "LLaMA-2-7B｜1.61bpw / group128｜校准RedPajama4096×2048｜WT2/C4+8项零样本",</a:t>
            </a:r>
          </a:p>
          <a:p>
            <a:r>
              <a:t>      "result": "模型权重12.31→1.56GB（−87.3%，非峰值显存）；WT2 PPL 5.47→8.78；8任务准确率63.19→49.06（−14.13pp）。TTFT/TPOT未报告；RTX3090的3.08→1.83ms仅INT2单block GEMM。",</a:t>
            </a:r>
          </a:p>
          <a:p>
            <a:r>
              <a:t>      "limit": "1.61bit配置不达精度损失&lt;1%；不能把INT2内核加速拼接为1.61bit模型推理收益。适合作为容量极限研究，落地需提升预算并核查双GEMM/启动开销。"</a:t>
            </a:r>
          </a:p>
          <a:p>
            <a:r>
              <a:t>    },</a:t>
            </a:r>
          </a:p>
          <a:p>
            <a:r>
              <a:t>    "contradictions": [</a:t>
            </a:r>
          </a:p>
          <a:p>
            <a:r>
              <a:t>      "‘1.61bit优于两阶段基线’不等于接近FP16。",</a:t>
            </a:r>
          </a:p>
          <a:p>
            <a:r>
              <a:t>      "Figure5称end-to-end latency但没有TTFT/TPOT拆分；Table12单block INT2为独立kernel experiment，不是完整DBW1.61bpw结果。"</a:t>
            </a:r>
          </a:p>
          <a:p>
            <a:r>
              <a:t>    ],</a:t>
            </a:r>
          </a:p>
          <a:p>
            <a:r>
              <a:t>    "memory_summary": {</a:t>
            </a:r>
          </a:p>
          <a:p>
            <a:r>
              <a:t>      "headline": "LLaMA-2-7B模型权重占用12.31→1.56GB（−87.3%），计入embedding及量化元数据；不是运行时峰值显存。",</a:t>
            </a:r>
          </a:p>
          <a:p>
            <a:r>
              <a:t>      "measurements": [</a:t>
            </a:r>
          </a:p>
          <a:p>
            <a:r>
              <a:t>        {</a:t>
            </a:r>
          </a:p>
          <a:p>
            <a:r>
              <a:t>          "metric": "model_weight_memory_footprint",</a:t>
            </a:r>
          </a:p>
          <a:p>
            <a:r>
              <a:t>          "baseline": 12.31,</a:t>
            </a:r>
          </a:p>
          <a:p>
            <a:r>
              <a:t>          "result": 1.56,</a:t>
            </a:r>
          </a:p>
          <a:p>
            <a:r>
              <a:t>          "unit": "GB（论文单位）",</a:t>
            </a:r>
          </a:p>
          <a:p>
            <a:r>
              <a:t>          "reduction_percent": 87.33,</a:t>
            </a:r>
          </a:p>
          <a:p>
            <a:r>
              <a:t>          "scope": "LLaMA2-7B embedding+非embedding压缩权重+量化参数；按字节核算，未包含请求KV/激活",</a:t>
            </a:r>
          </a:p>
          <a:p>
            <a:r>
              <a:t>          "status": "computed_model_weight_accounting",</a:t>
            </a:r>
          </a:p>
          <a:p>
            <a:r>
              <a:t>          "locator": "p8 Table5; Appendix A.2 p13–14"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"single_block_weight_memory",</a:t>
            </a:r>
          </a:p>
          <a:p>
            <a:r>
              <a:t>          "baseline": 1544,</a:t>
            </a:r>
          </a:p>
          <a:p>
            <a:r>
              <a:t>          "result": 193,</a:t>
            </a:r>
          </a:p>
          <a:p>
            <a:r>
              <a:t>          "unit": "MB（论文单位）",</a:t>
            </a:r>
          </a:p>
          <a:p>
            <a:r>
              <a:t>          "reduction_percent": 87.5,</a:t>
            </a:r>
          </a:p>
          <a:p>
            <a:r>
              <a:t>          "scope": "LLaMA65B单block7个矩阵FP16→INT2；独立内核实验，不能与1.61bpw模型结果拼接",</a:t>
            </a:r>
          </a:p>
          <a:p>
            <a:r>
              <a:t>          "status": "block_weight_accounting",</a:t>
            </a:r>
          </a:p>
          <a:p>
            <a:r>
              <a:t>          "locator": "p19 Table12"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"peak_GPU_memory",</a:t>
            </a:r>
          </a:p>
          <a:p>
            <a:r>
              <a:t>          "baseline": null,</a:t>
            </a:r>
          </a:p>
          <a:p>
            <a:r>
              <a:t>          "result": null,</a:t>
            </a:r>
          </a:p>
          <a:p>
            <a:r>
              <a:t>          "unit": "GiB",</a:t>
            </a:r>
          </a:p>
          <a:p>
            <a:r>
              <a:t>          "reduction_percent": null,</a:t>
            </a:r>
          </a:p>
          <a:p>
            <a:r>
              <a:t>          "scope": "完整推理请求峰值显存",</a:t>
            </a:r>
          </a:p>
          <a:p>
            <a:r>
              <a:t>          "status": "not_reported"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"caveat": "16/1.61是名义位宽比；实际12.31/1.56约7.89×，embedding和元数据导致低于约10×名义比率。"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"short_name": "DBW",</a:t>
            </a:r>
          </a:p>
          <a:p>
            <a:r>
              <a:t>  "title": "DBW：在同一预算内，联合决定删哪些分量、各留几位",</a:t>
            </a:r>
          </a:p>
          <a:p>
            <a:r>
              <a:t>  "challenge": "先删低秩分量再统一量化，会过早锁死选择；相同体积下，少留分量多给位和多留分量少给位需一起权衡。",</a:t>
            </a:r>
          </a:p>
          <a:p>
            <a:r>
              <a:t>  "idea": "把剪枝和量化统一为“给每个 SVD 分量分配几位”：分到 0-bit 就删除。",</a:t>
            </a:r>
          </a:p>
          <a:p>
            <a:r>
              <a:t>  "steps": [</a:t>
            </a:r>
          </a:p>
          <a:p>
            <a:r>
              <a:t>    "对权重做SVD，将每个分量的位宽设为可学习变量；0-bit直接删除该秩方向，其余分量按不同位宽量化。",</a:t>
            </a:r>
          </a:p>
          <a:p>
            <a:r>
              <a:t>    "固定总位预算，以原模型块输出为目标，联合学习分量、位宽和矩阵预算；熵约束集中奇异值能量，利于截断。",</a:t>
            </a:r>
          </a:p>
          <a:p>
            <a:r>
              <a:t>    "删除0-bit分量后，将其余分量按位宽分组打包，分别执行低秩矩阵乘；少存权重，但须核算双矩阵乘与启动开销。"</a:t>
            </a:r>
          </a:p>
          <a:p>
            <a:r>
              <a:t>  ],</a:t>
            </a:r>
          </a:p>
          <a:p>
            <a:r>
              <a:t>  "mechanism_detail": "DBW 先将权重分解为 SVD 分量，不预先决定截掉多少分量。它把位宽设成可学习变量：分到 0-bit 的分量直接删除，其余使用不同位宽。在固定总位预算内，同时调整分量、矩阵预算和位宽，以原模型的块输出为目标降低重构误差，并用奇异值熵约束促进能量集中。最后按位宽分组打包执行，避免剪枝后再量化的割裂取舍；仍需校准训练与低秩计算。",</a:t>
            </a:r>
          </a:p>
          <a:p>
            <a:r>
              <a:t>  "why_effective": "在同一字节预算下联合搜索“保留多少方向”和“每个方向几位”，减少两阶段分别优化的组合误差。",</a:t>
            </a:r>
          </a:p>
          <a:p>
            <a:r>
              <a:t>  "tradeoff": "这是需要校准训练的压缩，不是免训练方法；低秩双矩阵乘与多组启动会增加执行成本，极低位宽仍损质量。",</a:t>
            </a:r>
          </a:p>
          <a:p>
            <a:r>
              <a:t>  "what_changed": "独立的剪枝率/位宽两个决策变成连续可学习的分量位宽，并联合更新 SVD 因子和矩阵预算。",</a:t>
            </a:r>
          </a:p>
          <a:p>
            <a:r>
              <a:t>  "locators": [</a:t>
            </a:r>
          </a:p>
          <a:p>
            <a:r>
              <a:t>    "§2.2 p3：可微位宽、固定预算和 STE",</a:t>
            </a:r>
          </a:p>
          <a:p>
            <a:r>
              <a:t>    "Algorithm 1 p4：SVD 因子/矩阵预算/分量位宽联合更新",</a:t>
            </a:r>
          </a:p>
          <a:p>
            <a:r>
              <a:t>    "§2.2.1–2.2.2 p4：双层预算与奇异值熵损失",</a:t>
            </a:r>
          </a:p>
          <a:p>
            <a:r>
              <a:t>    "§2.3 与 Figure 3 pp4–5：按位宽打包和并行 GEMM"</a:t>
            </a:r>
          </a:p>
          <a:p>
            <a:r>
              <a:t>  ],</a:t>
            </a:r>
          </a:p>
          <a:p>
            <a:r>
              <a:t>  "caveat": "0-bit 删除的是 SVD 分量/秩方向，不是按原始权重元素置零；不能写成“无需训练的稀疏剪枝”。",</a:t>
            </a:r>
          </a:p>
          <a:p>
            <a:r>
              <a:t>  "background": "先删低秩分量再统一量化，会过早锁死选择；相同体积下，少留分量多给位和多留分量少给位需一起权衡。",</a:t>
            </a:r>
          </a:p>
          <a:p>
            <a:r>
              <a:t>  "principle": "把剪枝和量化统一为“给每个 SVD 分量分配几位”：分到 0-bit 就删除。",</a:t>
            </a:r>
          </a:p>
          <a:p>
            <a:r>
              <a:t>  "source_url": "https://arxiv.org/abs/2610.06026v1",</a:t>
            </a:r>
          </a:p>
          <a:p>
            <a:r>
              <a:t>  "background_with_idea": "先剪枝再量化，会先锁死删哪些分量，再决定剩余位宽。DBW把二者合成一个预算问题：联合学习SVD分量及其位宽，0-bit即删除，在相同存储下权衡保留更多方向还是提高精度。",</a:t>
            </a:r>
          </a:p>
          <a:p>
            <a:r>
              <a:t>  "mechanism_labels": [</a:t>
            </a:r>
          </a:p>
          <a:p>
            <a:r>
              <a:t>    "可学习分量位宽",</a:t>
            </a:r>
          </a:p>
          <a:p>
            <a:r>
              <a:t>    "联合预算优化",</a:t>
            </a:r>
          </a:p>
          <a:p>
            <a:r>
              <a:t>    "分组低秩执行"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深入解读：</a:t>
            </a:r>
          </a:p>
          <a:p>
            <a:r>
              <a:t>这一页不是再压一档位宽，而是回答低比特质量不过关时，怎样修得更有针对性。原模型与量化模型经过前面几层后，输入已经不同，所以只拟合本层权重差会漏掉累计误差。第一阶段用两条模型各自实际输入产生的输出差，结合完整输出侧经验Fisher，把rank64留给对任务损失更敏感的方向；第二阶段在已经补偿的模型上重新取统计和梯度，做自然梯度校正，再将整个分支截断回rank64。论文Qwen3-8B、QuIP#3-bit加补偿，七项常识均分68.10到69.11%，接近FP16的69.38%；但没有在线TTFT、TPOT和净显存证据。我的建议是质量不过关才启动，并且与同总字节升位宽或敏感层保高精比较，不能只证明比没有补偿好。</a:t>
            </a:r>
          </a:p>
          <a:p/>
          <a:p>
            <a:r>
              <a:t>问：两阶段是叠两个rank64分支，等于rank128吗？</a:t>
            </a:r>
          </a:p>
          <a:p>
            <a:r>
              <a:t>答：不是。第二阶段对第一阶段分支与校正合成后的目标重新截断，最终仍为rank64。量化权重冻结，但统计采集、矩阵分解、适配器存储与在线低秩计算仍有成本。</a:t>
            </a:r>
          </a:p>
          <a:p/>
          <a:p>
            <a:r>
              <a:t>问：为什么不用普通LoRA或直接升位宽？</a:t>
            </a:r>
          </a:p>
          <a:p>
            <a:r>
              <a:t>答：论文使用任务敏感的非对称输出目标与自然梯度校正，而非仅拟合权重差；我们仍需公平对照。固定低比特权重和rank比较阶段消融，再以总字节相同的更高位宽或敏感层保高精方案竞争。若后者更快且质量更稳，就不保留额外补偿分支。</a:t>
            </a:r>
          </a:p>
          <a:p/>
          <a:p>
            <a:r>
              <a:t>问：论文3-bit结果可以支持昇腾部署判断吗？</a:t>
            </a:r>
          </a:p>
          <a:p>
            <a:r>
              <a:t>答：只能支持机制研究，不能说明目标平台支持QuIP#3-bit或rank64融合。先在实际支持格式中验证补偿是否恢复业务质量，再计入适配器、GEMM、通信和融合开销。跨模型264–349MB不是当前业务模型的实测显存。</a:t>
            </a:r>
          </a:p>
          <a:p/>
          <a:p>
            <a:r>
              <a:t>阅读衔接：质量修复值得研究，但须与同成本替代方案竞争。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"Align, Then Correct：两阶段低秩补偿恢复量化质量",</a:t>
            </a:r>
          </a:p>
          <a:p>
            <a:r>
              <a:t>    "map_label": "权重 × 量化 / 低秩分解",</a:t>
            </a:r>
          </a:p>
          <a:p>
            <a:r>
              <a:t>    "background": "极低比特权重的误差仅靠输出拟合不一定能修好。该方法先对齐重要输出误差，再沿损失梯度修正，冻结权重、闭式求低秩分支；3-bit质量更有研究价值，在线代价尚缺数据。",</a:t>
            </a:r>
          </a:p>
          <a:p>
            <a:r>
              <a:t>    "steps": [</a:t>
            </a:r>
          </a:p>
          <a:p>
            <a:r>
              <a:t>      "先对齐：用Fisher加权的非对称目标，补偿原模型与量化模型输出差。",</a:t>
            </a:r>
          </a:p>
          <a:p>
            <a:r>
              <a:t>      "再校正：重采激活和梯度，修正第一阶段遗漏的损失方向。",</a:t>
            </a:r>
          </a:p>
          <a:p>
            <a:r>
              <a:t>      "固定秩：截断SVD得到rank64分支；免迭代训练，但需校准和额外计算。"</a:t>
            </a:r>
          </a:p>
          <a:p>
            <a:r>
              <a:t>    ],</a:t>
            </a:r>
          </a:p>
          <a:p>
            <a:r>
              <a:t>    "conditions": "Qwen3-8B｜A100 40GB｜QuIP# 3-bit + rank64\n对照原QuIP# 3-bit及FP16；WT2/C4、7项常识零样本\n校准：第一阶段128×2048，第二阶段16×512 tokens。",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"未报告在线首词时延"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"TPOT",</a:t>
            </a:r>
          </a:p>
          <a:p>
            <a:r>
              <a:t>        "value": "未报告在线逐词时延"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"未报告推理显存减少量\nrank64额外264–349 MB（跨模型范围）"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"常识均分68.10→69.11%；FP16为69.38%\n距FP16 −0.27pp；WT2 PPL 10.48→8.54"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"2-bit常识均分64.51%，不能拿2-bit体积配3-bit精度；2-bit离线构建约63分钟。",</a:t>
            </a:r>
          </a:p>
          <a:p>
            <a:r>
              <a:t>    "takeaway": "低比特质量不足时，优先比较3/4-bit加rank64补偿与同总字节的更高位宽。论文3-bit常识结果接近原模型，但仍需业务质量复测，并把额外低秩分支及通信计入TTFT、TPOT和内存。",</a:t>
            </a:r>
          </a:p>
          <a:p>
            <a:r>
              <a:t>    "locator": "Table 1–2；Appendix G"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"2610.08164",</a:t>
            </a:r>
          </a:p>
          <a:p>
            <a:r>
              <a:t>    "version": "v1",</a:t>
            </a:r>
          </a:p>
          <a:p>
            <a:r>
              <a:t>    "short_name": "Align Then Correct",</a:t>
            </a:r>
          </a:p>
          <a:p>
            <a:r>
              <a:t>    "title": "Align, Then Correct: Training-Free Two-Stage Low-Rank Compensation for Extremely Quantized Large Language Models",</a:t>
            </a:r>
          </a:p>
          <a:p>
            <a:r>
              <a:t>    "url": "https://arxiv.org/abs/2610.08164v1",</a:t>
            </a:r>
          </a:p>
          <a:p>
            <a:r>
              <a:t>    "source_pdf": ".tmp/ascend-ppt/papers/2610.08164.pdf",</a:t>
            </a:r>
          </a:p>
          <a:p>
            <a:r>
              <a:t>    "key_techniques": [</a:t>
            </a:r>
          </a:p>
          <a:p>
            <a:r>
              <a:t>      "冻结低比特权重，在每个线性层旁增加rank64低秩补偿；第一阶段用原模型输入与量化模型输入的非对称输出目标，结合完整输出Fisher加权，优先补关键误差。",</a:t>
            </a:r>
          </a:p>
          <a:p>
            <a:r>
              <a:t>      "第二阶段在已补偿模型上重新采集激活和梯度，作受信赖比例约束的自然梯度校正，修正只拟合输出误差遗漏的一阶损失方向。",</a:t>
            </a:r>
          </a:p>
          <a:p>
            <a:r>
              <a:t>      "每阶段通过一次截断SVD解出适配器，不迭代训练权重；两阶段合并后仍保留rank64预算，但离线统计、SVD和在线低秩分支都需计成本。"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"id": "atc-qwen8-2bit",</a:t>
            </a:r>
          </a:p>
          <a:p>
            <a:r>
              <a:t>        "model": "Qwen3-8B",</a:t>
            </a:r>
          </a:p>
          <a:p>
            <a:r>
              <a:t>        "hardware": "单张NVIDIA A100-SXM4 40GB",</a:t>
            </a:r>
          </a:p>
          <a:p>
            <a:r>
              <a:t>        "configuration": "QuIP#2bit vs QuIP#2bit+two-stage rank64；FP16作原始参考",</a:t>
            </a:r>
          </a:p>
          <a:p>
            <a:r>
              <a:t>        "dataset": "WT2 / held-out C4，sequence2048；7任务CSQA零样本",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"WT2_PPL_vs_QuIP",</a:t>
            </a:r>
          </a:p>
          <a:p>
            <a:r>
              <a:t>            "baseline": 12.43,</a:t>
            </a:r>
          </a:p>
          <a:p>
            <a:r>
              <a:t>            "treatment": 10.26,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-2.17,</a:t>
            </a:r>
          </a:p>
          <a:p>
            <a:r>
              <a:t>            "relative_change_percent": -17.46,</a:t>
            </a:r>
          </a:p>
          <a:p>
            <a:r>
              <a:t>            "reduction_percent": 17.46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"C4_PPL_vs_QuIP",</a:t>
            </a:r>
          </a:p>
          <a:p>
            <a:r>
              <a:t>            "baseline": 19.19,</a:t>
            </a:r>
          </a:p>
          <a:p>
            <a:r>
              <a:t>            "treatment": 17.17,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-2.02,</a:t>
            </a:r>
          </a:p>
          <a:p>
            <a:r>
              <a:t>            "relative_change_percent": -10.53,</a:t>
            </a:r>
          </a:p>
          <a:p>
            <a:r>
              <a:t>            "reduction_percent": 10.53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"CSQA_vs_QuIP",</a:t>
            </a:r>
          </a:p>
          <a:p>
            <a:r>
              <a:t>            "baseline": 62.81,</a:t>
            </a:r>
          </a:p>
          <a:p>
            <a:r>
              <a:t>            "treatment": 64.51,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1.7,</a:t>
            </a:r>
          </a:p>
          <a:p>
            <a:r>
              <a:t>            "relative_change_percent": 2.71,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"CSQA_vs_FP16",</a:t>
            </a:r>
          </a:p>
          <a:p>
            <a:r>
              <a:t>            "baseline": 69.38,</a:t>
            </a:r>
          </a:p>
          <a:p>
            <a:r>
              <a:t>            "treatment": 64.51,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-4.87,</a:t>
            </a:r>
          </a:p>
          <a:p>
            <a:r>
              <a:t>            "relative_change_percent": -7.02,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"C4_PPL_vs_FP16",</a:t>
            </a:r>
          </a:p>
          <a:p>
            <a:r>
              <a:t>            "baseline": 15.24,</a:t>
            </a:r>
          </a:p>
          <a:p>
            <a:r>
              <a:t>            "treatment": 17.17,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1.93,</a:t>
            </a:r>
          </a:p>
          <a:p>
            <a:r>
              <a:t>            "relative_change_percent": 12.66,</a:t>
            </a:r>
          </a:p>
          <a:p>
            <a:r>
              <a:t>            "reduction_percent": -12.66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p6 Table1; §5 p6–7",</a:t>
            </a:r>
          </a:p>
          <a:p>
            <a:r>
              <a:t>        "status": "reported_original_pdf",</a:t>
            </a:r>
          </a:p>
          <a:p>
            <a:r>
              <a:t>        "protocol": "Stage1 WT2 train128×2048 tokens；Stage2 16×512；C4未用于校准。",</a:t>
            </a:r>
          </a:p>
          <a:p>
            <a:r>
              <a:t>        "url": "https://arxiv.org/abs/2610.08164v1"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"atc-qwen4-2bit",</a:t>
            </a:r>
          </a:p>
          <a:p>
            <a:r>
              <a:t>        "model": "Qwen3-4B",</a:t>
            </a:r>
          </a:p>
          <a:p>
            <a:r>
              <a:t>        "hardware": "单张NVIDIA A100-SXM4 40GB",</a:t>
            </a:r>
          </a:p>
          <a:p>
            <a:r>
              <a:t>        "configuration": "QuIP#2bit vs QuIP#2bit+two-stage rank64",</a:t>
            </a:r>
          </a:p>
          <a:p>
            <a:r>
              <a:t>        "dataset": "WT2 / held-out C4；7任务CSQA",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"WT2_PPL_vs_QuIP",</a:t>
            </a:r>
          </a:p>
          <a:p>
            <a:r>
              <a:t>            "baseline": 21.11,</a:t>
            </a:r>
          </a:p>
          <a:p>
            <a:r>
              <a:t>            "treatment": 13.22,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-7.89,</a:t>
            </a:r>
          </a:p>
          <a:p>
            <a:r>
              <a:t>            "relative_change_percent": -37.38,</a:t>
            </a:r>
          </a:p>
          <a:p>
            <a:r>
              <a:t>            "reduction_percent": 37.38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"C4_PPL_vs_QuIP",</a:t>
            </a:r>
          </a:p>
          <a:p>
            <a:r>
              <a:t>            "baseline": 29.21,</a:t>
            </a:r>
          </a:p>
          <a:p>
            <a:r>
              <a:t>            "treatment": 21.36,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-7.85,</a:t>
            </a:r>
          </a:p>
          <a:p>
            <a:r>
              <a:t>            "relative_change_percent": -26.87,</a:t>
            </a:r>
          </a:p>
          <a:p>
            <a:r>
              <a:t>            "reduction_percent": 26.87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"CSQA_vs_QuIP",</a:t>
            </a:r>
          </a:p>
          <a:p>
            <a:r>
              <a:t>            "baseline": 57.47,</a:t>
            </a:r>
          </a:p>
          <a:p>
            <a:r>
              <a:t>            "treatment": 60.05,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2.58,</a:t>
            </a:r>
          </a:p>
          <a:p>
            <a:r>
              <a:t>            "relative_change_percent": 4.49,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"CSQA_vs_FP16",</a:t>
            </a:r>
          </a:p>
          <a:p>
            <a:r>
              <a:t>            "baseline": 66.73,</a:t>
            </a:r>
          </a:p>
          <a:p>
            <a:r>
              <a:t>            "treatment": 60.05,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-6.68,</a:t>
            </a:r>
          </a:p>
          <a:p>
            <a:r>
              <a:t>            "relative_change_percent": -10.01,</a:t>
            </a:r>
          </a:p>
          <a:p>
            <a:r>
              <a:t>            "difference_unit": "percentage_point"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p6 Table1",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"https://arxiv.org/abs/2610.08164v1"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"atc-qwen8-3bit",</a:t>
            </a:r>
          </a:p>
          <a:p>
            <a:r>
              <a:t>        "model": "Qwen3-8B",</a:t>
            </a:r>
          </a:p>
          <a:p>
            <a:r>
              <a:t>        "hardware": "单张NVIDIA A100-SXM4 40GB",</a:t>
            </a:r>
          </a:p>
          <a:p>
            <a:r>
              <a:t>        "configuration": "QuIP#3bit vs +two-stage rank64；另列FP16参考",</a:t>
            </a:r>
          </a:p>
          <a:p>
            <a:r>
              <a:t>        "dataset": "WT2 / held-out C4；7任务CSQA",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"WT2_PPL_vs_QuIP",</a:t>
            </a:r>
          </a:p>
          <a:p>
            <a:r>
              <a:t>            "baseline": 10.48,</a:t>
            </a:r>
          </a:p>
          <a:p>
            <a:r>
              <a:t>            "treatment": 8.54,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-1.94,</a:t>
            </a:r>
          </a:p>
          <a:p>
            <a:r>
              <a:t>            "relative_change_percent": -18.51,</a:t>
            </a:r>
          </a:p>
          <a:p>
            <a:r>
              <a:t>            "reduction_percent": 18.51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"C4_PPL_vs_QuIP",</a:t>
            </a:r>
          </a:p>
          <a:p>
            <a:r>
              <a:t>            "baseline": 16.3,</a:t>
            </a:r>
          </a:p>
          <a:p>
            <a:r>
              <a:t>            "treatment": 14.56,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-1.74,</a:t>
            </a:r>
          </a:p>
          <a:p>
            <a:r>
              <a:t>            "relative_change_percent": -10.67,</a:t>
            </a:r>
          </a:p>
          <a:p>
            <a:r>
              <a:t>            "reduction_percent": 10.67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"CSQA_vs_QuIP",</a:t>
            </a:r>
          </a:p>
          <a:p>
            <a:r>
              <a:t>            "baseline": 68.1,</a:t>
            </a:r>
          </a:p>
          <a:p>
            <a:r>
              <a:t>            "treatment": 69.11,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1.01,</a:t>
            </a:r>
          </a:p>
          <a:p>
            <a:r>
              <a:t>            "relative_change_percent": 1.48,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"CSQA_vs_FP16",</a:t>
            </a:r>
          </a:p>
          <a:p>
            <a:r>
              <a:t>            "baseline": 69.38,</a:t>
            </a:r>
          </a:p>
          <a:p>
            <a:r>
              <a:t>            "treatment": 69.11,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-0.27,</a:t>
            </a:r>
          </a:p>
          <a:p>
            <a:r>
              <a:t>            "relative_change_percent": -0.39,</a:t>
            </a:r>
          </a:p>
          <a:p>
            <a:r>
              <a:t>            "difference_unit": "percentage_point"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p6 Table2; §5 p7",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"https://arxiv.org/abs/2610.08164v1"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"atc-cost",</a:t>
            </a:r>
          </a:p>
          <a:p>
            <a:r>
              <a:t>        "model": "Qwen3-8B",</a:t>
            </a:r>
          </a:p>
          <a:p>
            <a:r>
              <a:t>        "hardware": "单张NVIDIA A100-SXM4 40GB",</a:t>
            </a:r>
          </a:p>
          <a:p>
            <a:r>
              <a:t>        "configuration": "QuIP#2bit, rank64 adapters",</a:t>
            </a:r>
          </a:p>
          <a:p>
            <a:r>
              <a:t>        "dataset": "离线适配器构建",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"offline_construction_time",</a:t>
            </a:r>
          </a:p>
          <a:p>
            <a:r>
              <a:t>            "baseline": null,</a:t>
            </a:r>
          </a:p>
          <a:p>
            <a:r>
              <a:t>            "treatment": 63,</a:t>
            </a:r>
          </a:p>
          <a:p>
            <a:r>
              <a:t>            "unit": "minutes",</a:t>
            </a:r>
          </a:p>
          <a:p>
            <a:r>
              <a:t>            "direction": "lower_is_better",</a:t>
            </a:r>
          </a:p>
          <a:p>
            <a:r>
              <a:t>            "status": "reported_approximation",</a:t>
            </a:r>
          </a:p>
          <a:p>
            <a:r>
              <a:t>            "interpretation": "首次约63min=cache10+Stage135+Stage218；已有cache约53min"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"TTFT",</a:t>
            </a:r>
          </a:p>
          <a:p>
            <a:r>
              <a:t>            "baseline": null,</a:t>
            </a:r>
          </a:p>
          <a:p>
            <a:r>
              <a:t>            "treatment": null,</a:t>
            </a:r>
          </a:p>
          <a:p>
            <a:r>
              <a:t>            "unit": "ms",</a:t>
            </a:r>
          </a:p>
          <a:p>
            <a:r>
              <a:t>            "direction": "lower_is_better",</a:t>
            </a:r>
          </a:p>
          <a:p>
            <a:r>
              <a:t>            "change_absolute": null,</a:t>
            </a:r>
          </a:p>
          <a:p>
            <a:r>
              <a:t>            "relative_change_percent": null,</a:t>
            </a:r>
          </a:p>
          <a:p>
            <a:r>
              <a:t>            "status": "not_reported"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"TPOT",</a:t>
            </a:r>
          </a:p>
          <a:p>
            <a:r>
              <a:t>            "baseline": null,</a:t>
            </a:r>
          </a:p>
          <a:p>
            <a:r>
              <a:t>            "treatment": null,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null,</a:t>
            </a:r>
          </a:p>
          <a:p>
            <a:r>
              <a:t>            "relative_change_percent": null,</a:t>
            </a:r>
          </a:p>
          <a:p>
            <a:r>
              <a:t>            "status": "not_reported"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p15 Appendix G Tables9–12",</a:t>
            </a:r>
          </a:p>
          <a:p>
            <a:r>
              <a:t>        "status": "reported_original_pdf",</a:t>
            </a:r>
          </a:p>
          <a:p>
            <a:r>
              <a:t>        "protocol": "这些分钟数是离线构建耗时，不能填入推理TTFT/TPOT。rank64 adapters跨模型占264–349MB。",</a:t>
            </a:r>
          </a:p>
          <a:p>
            <a:r>
              <a:t>        "url": "https://arxiv.org/abs/2610.08164v1"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"ttft": {</a:t>
            </a:r>
          </a:p>
          <a:p>
            <a:r>
              <a:t>      "status": "not_reported"</a:t>
            </a:r>
          </a:p>
          <a:p>
            <a:r>
              <a:t>    },</a:t>
            </a:r>
          </a:p>
          <a:p>
            <a:r>
              <a:t>    "tpot": {</a:t>
            </a:r>
          </a:p>
          <a:p>
            <a:r>
              <a:t>      "status": "not_reported"</a:t>
            </a:r>
          </a:p>
          <a:p>
            <a:r>
              <a:t>    },</a:t>
            </a:r>
          </a:p>
          <a:p>
            <a:r>
              <a:t>    "slide_ready": {</a:t>
            </a:r>
          </a:p>
          <a:p>
            <a:r>
              <a:t>      "headline": "先对齐量化误差、再校正损失梯度；3-bit质量恢复值得优先验证，推理代价仍缺数据",</a:t>
            </a:r>
          </a:p>
          <a:p>
            <a:r>
              <a:t>      "technique": "冻结QuIP#权重＋rank64补偿；Fisher非对称对齐 → 重采样自然梯度修正 → 截断SVD保持rank预算。",</a:t>
            </a:r>
          </a:p>
          <a:p>
            <a:r>
              <a:t>      "conditions": "Qwen3-8B｜A100 40GB｜QuIP#3bit+rank64｜WT2/C4/7项CSQA｜校准262K+8K tokens",</a:t>
            </a:r>
          </a:p>
          <a:p>
            <a:r>
              <a:t>      "result": "3-bit：WT2 PPL10.48→8.54；C4 16.30→14.56；CSQA68.10→69.11，距FP16 69.38低0.27pp（相对−0.39%）。TTFT、TPOT均未报告。 rank64适配器额外264–349MB；推理显存未报告。",</a:t>
            </a:r>
          </a:p>
          <a:p>
            <a:r>
              <a:t>      "limit": "2-bit仅恢复部分质量（CSQA64.51 vs BF16/FP16参考69.38）；不可拿2-bit压缩率配3-bit精度。优先在业务模型验证3/4bit补偿后质量与额外低秩分支时延，而非假设补偿免费。"</a:t>
            </a:r>
          </a:p>
          <a:p>
            <a:r>
              <a:t>    },</a:t>
            </a:r>
          </a:p>
          <a:p>
            <a:r>
              <a:t>    "contradictions": [</a:t>
            </a:r>
          </a:p>
          <a:p>
            <a:r>
              <a:t>      "Qwen3-4B 2bit WT2 PPL优于FP16，并不代表全面超过FP16：held-out C4和CSQA仍有明显差距。",</a:t>
            </a:r>
          </a:p>
          <a:p>
            <a:r>
              <a:t>      "无推理TTFT/TPOT；53/63分钟是离线构建时间。"</a:t>
            </a:r>
          </a:p>
          <a:p>
            <a:r>
              <a:t>    ],</a:t>
            </a:r>
          </a:p>
          <a:p>
            <a:r>
              <a:t>    "memory_summary": {</a:t>
            </a:r>
          </a:p>
          <a:p>
            <a:r>
              <a:t>      "headline": "论文未给推理内存减少量；rank64补偿适配器反而增加264–349MB（跨模型范围）。",</a:t>
            </a:r>
          </a:p>
          <a:p>
            <a:r>
              <a:t>      "measurements": [</a:t>
            </a:r>
          </a:p>
          <a:p>
            <a:r>
              <a:t>        {</a:t>
            </a:r>
          </a:p>
          <a:p>
            <a:r>
              <a:t>          "metric": "added_rank64_adapter_storage",</a:t>
            </a:r>
          </a:p>
          <a:p>
            <a:r>
              <a:t>          "baseline": 0,</a:t>
            </a:r>
          </a:p>
          <a:p>
            <a:r>
              <a:t>          "result": [</a:t>
            </a:r>
          </a:p>
          <a:p>
            <a:r>
              <a:t>            264,</a:t>
            </a:r>
          </a:p>
          <a:p>
            <a:r>
              <a:t>            349</a:t>
            </a:r>
          </a:p>
          <a:p>
            <a:r>
              <a:t>          ],</a:t>
            </a:r>
          </a:p>
          <a:p>
            <a:r>
              <a:t>          "unit": "MB",</a:t>
            </a:r>
          </a:p>
          <a:p>
            <a:r>
              <a:t>          "reduction_percent": null,</a:t>
            </a:r>
          </a:p>
          <a:p>
            <a:r>
              <a:t>          "scope": "各线性层rank64适配器额外存储，论文跨模型范围，不能擅自分配给具体单模型",</a:t>
            </a:r>
          </a:p>
          <a:p>
            <a:r>
              <a:t>          "status": "reported_added_storage_range",</a:t>
            </a:r>
          </a:p>
          <a:p>
            <a:r>
              <a:t>          "locator": "p15 Appendix G"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"inference_resident_GPU_memory",</a:t>
            </a:r>
          </a:p>
          <a:p>
            <a:r>
              <a:t>          "baseline": null,</a:t>
            </a:r>
          </a:p>
          <a:p>
            <a:r>
              <a:t>          "result": null,</a:t>
            </a:r>
          </a:p>
          <a:p>
            <a:r>
              <a:t>          "unit": "GiB",</a:t>
            </a:r>
          </a:p>
          <a:p>
            <a:r>
              <a:t>          "reduction_percent": null,</a:t>
            </a:r>
          </a:p>
          <a:p>
            <a:r>
              <a:t>          "scope": "完整推理运行时内存",</a:t>
            </a:r>
          </a:p>
          <a:p>
            <a:r>
              <a:t>          "status": "not_reported"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"inference_peak_GPU_memory",</a:t>
            </a:r>
          </a:p>
          <a:p>
            <a:r>
              <a:t>          "baseline": null,</a:t>
            </a:r>
          </a:p>
          <a:p>
            <a:r>
              <a:t>          "result": null,</a:t>
            </a:r>
          </a:p>
          <a:p>
            <a:r>
              <a:t>          "unit": "GiB",</a:t>
            </a:r>
          </a:p>
          <a:p>
            <a:r>
              <a:t>          "reduction_percent": null,</a:t>
            </a:r>
          </a:p>
          <a:p>
            <a:r>
              <a:t>          "scope": "完整推理请求峰值",</a:t>
            </a:r>
          </a:p>
          <a:p>
            <a:r>
              <a:t>          "status": "not_reported"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"caveat": "p15的28–33GB为离线构建阶段显存，47.5GiB/29.7GiB为统计cache，不能当成推理显存。"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"short_name": "Align, Then Correct",</a:t>
            </a:r>
          </a:p>
          <a:p>
            <a:r>
              <a:t>  "title": "Align, Then Correct：先补累计误差，再校正损失方向",</a:t>
            </a:r>
          </a:p>
          <a:p>
            <a:r>
              <a:t>  "challenge": "只拟合本层权重误差，会漏掉上游量化改变的输入；只让输出接近，也未必修复影响任务质量的方向。",</a:t>
            </a:r>
          </a:p>
          <a:p>
            <a:r>
              <a:t>  "idea": "冻结低比特权重，用一个低秩分支分两步修复：先对齐原模型输出，再沿损失方向校正。",</a:t>
            </a:r>
          </a:p>
          <a:p>
            <a:r>
              <a:t>  "steps": [</a:t>
            </a:r>
          </a:p>
          <a:p>
            <a:r>
              <a:t>    "原模型与量化模型各用自身前层产生的输入，拟合两者实际输出差；低秩分支同时补偿本层误差和上游累计偏移。",</a:t>
            </a:r>
          </a:p>
          <a:p>
            <a:r>
              <a:t>    "用完整输出Fisher衡量误差对损失的影响，再以截断SVD求补偿分支，使有限rank64优先修复敏感方向。",</a:t>
            </a:r>
          </a:p>
          <a:p>
            <a:r>
              <a:t>    "在已补偿模型上重采激活和梯度，沿受限自然梯度方向校正；对整个分支再截断到rank64，避免补偿秩翻倍。"</a:t>
            </a:r>
          </a:p>
          <a:p>
            <a:r>
              <a:t>  ],</a:t>
            </a:r>
          </a:p>
          <a:p>
            <a:r>
              <a:t>  "mechanism_detail": "该方法冻结量化权重，为线性层增加低秩补偿分支。第一阶段分别使用原模型与量化模型的输入，对齐实际输出差，从而把上游累计误差纳入补偿；完整输出 Fisher 则让有限秩优先修复影响损失的方向。第二阶段在已补偿模型上重新采集激活和梯度，用受限自然梯度再校正，并整体截断到原秩。两阶段均闭式求解，但要承担统计采集与在线额外分支成本。",</a:t>
            </a:r>
          </a:p>
          <a:p>
            <a:r>
              <a:t>  "why_effective": "第一阶段同时处理输入漂移和损失敏感性；第二阶段补上单纯输出拟合没有直接优化的一阶损失方向。",</a:t>
            </a:r>
          </a:p>
          <a:p>
            <a:r>
              <a:t>  "tradeoff": "免迭代训练不等于零校准：仍有前反向统计、SVD 与额外低秩分支；在线 TTFT/TPOT 尚无结果。",</a:t>
            </a:r>
          </a:p>
          <a:p>
            <a:r>
              <a:t>  "what_changed": "从共用同一输入的对称重构改为双输入非对称目标，再加入重新测量的一阶损失校正；最终秩不翻倍。",</a:t>
            </a:r>
          </a:p>
          <a:p>
            <a:r>
              <a:t>  "locators": [</a:t>
            </a:r>
          </a:p>
          <a:p>
            <a:r>
              <a:t>    "§3 pp3–4 与 Figure 1–2：对称目标遗漏、非对称目标与一阶信号",</a:t>
            </a:r>
          </a:p>
          <a:p>
            <a:r>
              <a:t>    "§4 Stage 1 pp4–5 Eq.5–7：Fisher 加权非对称输出对齐",</a:t>
            </a:r>
          </a:p>
          <a:p>
            <a:r>
              <a:t>    "§4 Stage 2 pp5–6 Eq.8–13：自然梯度、固定秩与 trust-ratio",</a:t>
            </a:r>
          </a:p>
          <a:p>
            <a:r>
              <a:t>    "Figure 3 p5 与 Appendix G p15：双阶段流程及构建成本"</a:t>
            </a:r>
          </a:p>
          <a:p>
            <a:r>
              <a:t>  ],</a:t>
            </a:r>
          </a:p>
          <a:p>
            <a:r>
              <a:t>  "caveat": "不是重新量化原权重，也不是追加两个 rank64 分支变成 rank128；Stage 2 重新求解最终 rank64 分支。",</a:t>
            </a:r>
          </a:p>
          <a:p>
            <a:r>
              <a:t>  "background": "只拟合本层权重误差，会漏掉上游量化改变的输入；只让输出接近，也未必修复影响任务质量的方向。",</a:t>
            </a:r>
          </a:p>
          <a:p>
            <a:r>
              <a:t>  "principle": "冻结低比特权重，用一个低秩分支分两步修复：先对齐原模型输出，再沿损失方向校正。",</a:t>
            </a:r>
          </a:p>
          <a:p>
            <a:r>
              <a:t>  "source_url": "https://arxiv.org/abs/2610.08164v1",</a:t>
            </a:r>
          </a:p>
          <a:p>
            <a:r>
              <a:t>  "background_with_idea": "仅拟合本层权重误差会漏掉上游输入偏移，输出接近也未必恢复任务质量。该方法冻结低比特权重：先做Fisher加权的双输入输出对齐，再以自然梯度校正任务损失，最终保持同一低秩预算。",</a:t>
            </a:r>
          </a:p>
          <a:p>
            <a:r>
              <a:t>  "mechanism_labels": [</a:t>
            </a:r>
          </a:p>
          <a:p>
            <a:r>
              <a:t>    "非对称输出对齐",</a:t>
            </a:r>
          </a:p>
          <a:p>
            <a:r>
              <a:t>    "Fisher加权补偿",</a:t>
            </a:r>
          </a:p>
          <a:p>
            <a:r>
              <a:t>    "自然梯度校正"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01 学术进展  /  激活 × 稀疏选择；关联权重 × 量化</a:t>
            </a:r>
          </a:p>
          <a:p>
            <a:r>
              <a:t>SpAx：让中等贡献的权重列读近似值，减少卸载搬运</a:t>
            </a:r>
          </a:p>
          <a:p>
            <a:r>
              <a:t>权重卸载时，逐词搬运可能成为瓶颈；继续增加跳过比例又会损伤质量。SpAx把“读或不读”改成原值、2-bit近似和跳过三档，让中等贡献的列少传字节但仍参与计算。</a:t>
            </a:r>
          </a:p>
          <a:p>
            <a:r>
              <a:t>关键技术｜核心思路与实现方法</a:t>
            </a:r>
          </a:p>
          <a:p>
            <a:r>
              <a:t>关键效果｜基线 → 论文方案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"SpAx：按激活强弱读取权重，减少卸载搬运",</a:t>
            </a:r>
          </a:p>
          <a:p>
            <a:r>
              <a:t>    "map_label": "激活 × 稀疏选择；关联权重 × 量化",</a:t>
            </a:r>
          </a:p>
          <a:p>
            <a:r>
              <a:t>    "background": "模型权重无法常驻GPU时，逐词生成可能受CPU/SSD搬运限制。SpAx根据激活强弱选择原权重、低比特近似或跳过，减少传输；目前高加速配置伴随明显质量下降。",</a:t>
            </a:r>
          </a:p>
          <a:p>
            <a:r>
              <a:t>    "steps": [</a:t>
            </a:r>
          </a:p>
          <a:p>
            <a:r>
              <a:t>      "三档分流：大激活读原权重，中档读2-bit近似，小档直接跳过。",</a:t>
            </a:r>
          </a:p>
          <a:p>
            <a:r>
              <a:t>      "离线定预算：校准每个矩阵的三档比例，用小激活抑制近似误差。",</a:t>
            </a:r>
          </a:p>
          <a:p>
            <a:r>
              <a:t>      "合并读取：共享输入的权重列连续存放，减少碎片读取与PCIe搬运。"</a:t>
            </a:r>
          </a:p>
          <a:p>
            <a:r>
              <a:t>    ],</a:t>
            </a:r>
          </a:p>
          <a:p>
            <a:r>
              <a:t>    "conditions": "Qwen3.6-27B｜RTX4090 / PCIe4.0×8｜B=1\n仅FFN从CPU卸载；Dense BF16 vs trellis近似（+10% PPL容忍）\n4步预热＋8步解码；输入长度未报告。质量另见Table 10。",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"未报告首词时延"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"解码",</a:t>
            </a:r>
          </a:p>
          <a:p>
            <a:r>
              <a:t>        "value": "每token 2832→508 ms（−82.1%）\n论文解码测时；未报告完整服务TPOT"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"驻留 / 峰值显存未报告\n需传输权重34.23→3.78 GB/token（−89.0%）"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"WT2 PPL 7.40→8.16；ARC-C 60.3→57.6%\n性能与质量的读取预算未对齐，不能视作同配置收益"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"SSD实搬34.23→4.62 GB/token（−86.5%）；减少搬运不能等同减少显存或模型总存储。",</a:t>
            </a:r>
          </a:p>
          <a:p>
            <a:r>
              <a:t>    "takeaway": "只在业务确实需要权重卸载时研究三档读取。当前配置的质量代价超过业务目标，应先提高读取预算并测任务质量；达到&lt;1%损失后，再考虑把列聚合与近似解码迁移到昇腾。",</a:t>
            </a:r>
          </a:p>
          <a:p>
            <a:r>
              <a:t>    "locator": "Table 7/10；Appendix A"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"2610.02598",</a:t>
            </a:r>
          </a:p>
          <a:p>
            <a:r>
              <a:t>    "version": "v1",</a:t>
            </a:r>
          </a:p>
          <a:p>
            <a:r>
              <a:t>    "short_name": "SpAx",</a:t>
            </a:r>
          </a:p>
          <a:p>
            <a:r>
              <a:t>    "title": "Activation Sparsity with Weight Approximation for Faster LLM Decoding on Offloaded Weights",</a:t>
            </a:r>
          </a:p>
          <a:p>
            <a:r>
              <a:t>    "url": "https://arxiv.org/abs/2610.02598v1",</a:t>
            </a:r>
          </a:p>
          <a:p>
            <a:r>
              <a:t>    "source_pdf": ".tmp/ascend-ppt/papers/2610.02598.pdf",</a:t>
            </a:r>
          </a:p>
          <a:p>
            <a:r>
              <a:t>    "key_techniques": [</a:t>
            </a:r>
          </a:p>
          <a:p>
            <a:r>
              <a:t>      "对每个token按输入激活幅值把对应权重列分成三档：大值读原始权重，中值读2-bit近似，小值不读，减少CPU/SSD到GPU的搬运字节。",</a:t>
            </a:r>
          </a:p>
          <a:p>
            <a:r>
              <a:t>      "中档采用逐列独立的scalar或trellis编码；离线校准各矩阵及top/middle预算，利用小激活衰减权重近似误差。",</a:t>
            </a:r>
          </a:p>
          <a:p>
            <a:r>
              <a:t>      "把共享输入的投影列连续存储，合并相邻读取区间；GPU重建近似权重后计算，针对offload链路瓶颈而非全驻留GPU模型。"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"id": "spax-qwen-cpu",</a:t>
            </a:r>
          </a:p>
          <a:p>
            <a:r>
              <a:t>        "model": "Qwen3.6-27B",</a:t>
            </a:r>
          </a:p>
          <a:p>
            <a:r>
              <a:t>        "hardware": "RTX 4090；PCIe4.0×8；128GB CPU RAM；NVMe SSD",</a:t>
            </a:r>
          </a:p>
          <a:p>
            <a:r>
              <a:t>        "configuration": "CA-BF16：仅FFN offload，attention/embedding/head/KV常驻；Dense vs SpAx-trellis +10% PPL容忍",</a:t>
            </a:r>
          </a:p>
          <a:p>
            <a:r>
              <a:t>        "dataset": "prompt稠密计算；逐token解码，prompt文本/长度未报告",</a:t>
            </a:r>
          </a:p>
          <a:p>
            <a:r>
              <a:t>        "input_tokens": null,</a:t>
            </a:r>
          </a:p>
          <a:p>
            <a:r>
              <a:t>        "output_tokens": 8,</a:t>
            </a:r>
          </a:p>
          <a:p>
            <a:r>
              <a:t>        "batch_size": 1,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"TTFT",</a:t>
            </a:r>
          </a:p>
          <a:p>
            <a:r>
              <a:t>            "baseline": null,</a:t>
            </a:r>
          </a:p>
          <a:p>
            <a:r>
              <a:t>            "treatment": null,</a:t>
            </a:r>
          </a:p>
          <a:p>
            <a:r>
              <a:t>            "unit": "ms",</a:t>
            </a:r>
          </a:p>
          <a:p>
            <a:r>
              <a:t>            "direction": "lower_is_better",</a:t>
            </a:r>
          </a:p>
          <a:p>
            <a:r>
              <a:t>            "change_absolute": null,</a:t>
            </a:r>
          </a:p>
          <a:p>
            <a:r>
              <a:t>            "relative_change_percent": null,</a:t>
            </a:r>
          </a:p>
          <a:p>
            <a:r>
              <a:t>            "status": "not_reported"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"decode_time_per_token",</a:t>
            </a:r>
          </a:p>
          <a:p>
            <a:r>
              <a:t>            "baseline": 2832,</a:t>
            </a:r>
          </a:p>
          <a:p>
            <a:r>
              <a:t>            "treatment": 508,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-2324,</a:t>
            </a:r>
          </a:p>
          <a:p>
            <a:r>
              <a:t>            "relative_change_percent": -82.06,</a:t>
            </a:r>
          </a:p>
          <a:p>
            <a:r>
              <a:t>            "interpretation": "降低82.06%，5.57×；论文原名decoding time per token，非服务端完整TPOT定义",</a:t>
            </a:r>
          </a:p>
          <a:p>
            <a:r>
              <a:t>            "reduction_percent": 82.06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"required_weight_transfer",</a:t>
            </a:r>
          </a:p>
          <a:p>
            <a:r>
              <a:t>            "baseline": 34.23,</a:t>
            </a:r>
          </a:p>
          <a:p>
            <a:r>
              <a:t>            "treatment": 3.78,</a:t>
            </a:r>
          </a:p>
          <a:p>
            <a:r>
              <a:t>            "unit": "GB/token",</a:t>
            </a:r>
          </a:p>
          <a:p>
            <a:r>
              <a:t>            "direction": "lower_is_better",</a:t>
            </a:r>
          </a:p>
          <a:p>
            <a:r>
              <a:t>            "change_absolute": -30.45,</a:t>
            </a:r>
          </a:p>
          <a:p>
            <a:r>
              <a:t>            "relative_change_percent": -88.96,</a:t>
            </a:r>
          </a:p>
          <a:p>
            <a:r>
              <a:t>            "reduction_percent": 88.96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p17 Table7; p13 Appendix A",</a:t>
            </a:r>
          </a:p>
          <a:p>
            <a:r>
              <a:t>        "status": "reported_original_pdf",</a:t>
            </a:r>
          </a:p>
          <a:p>
            <a:r>
              <a:t>        "protocol": "4步预热后8步解码的中位数，非完整请求P50/P99。TTFT未报告。",</a:t>
            </a:r>
          </a:p>
          <a:p>
            <a:r>
              <a:t>        "url": "https://arxiv.org/abs/2610.02598v1"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"spax-qwen-flash",</a:t>
            </a:r>
          </a:p>
          <a:p>
            <a:r>
              <a:t>        "model": "Qwen3.6-27B",</a:t>
            </a:r>
          </a:p>
          <a:p>
            <a:r>
              <a:t>        "hardware": "同上，NVMe direct I/O，绕过page cache",</a:t>
            </a:r>
          </a:p>
          <a:p>
            <a:r>
              <a:t>        "configuration": "CA-BF16；Dense vs SpAx-trellis +10%",</a:t>
            </a:r>
          </a:p>
          <a:p>
            <a:r>
              <a:t>        "dataset": "逐token解码；prompt长度未报告",</a:t>
            </a:r>
          </a:p>
          <a:p>
            <a:r>
              <a:t>        "input_tokens": null,</a:t>
            </a:r>
          </a:p>
          <a:p>
            <a:r>
              <a:t>        "output_tokens": 8,</a:t>
            </a:r>
          </a:p>
          <a:p>
            <a:r>
              <a:t>        "batch_size": 1,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"decode_time_per_token",</a:t>
            </a:r>
          </a:p>
          <a:p>
            <a:r>
              <a:t>            "baseline": 5652,</a:t>
            </a:r>
          </a:p>
          <a:p>
            <a:r>
              <a:t>            "treatment": 1174,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-4478,</a:t>
            </a:r>
          </a:p>
          <a:p>
            <a:r>
              <a:t>            "relative_change_percent": -79.23,</a:t>
            </a:r>
          </a:p>
          <a:p>
            <a:r>
              <a:t>            "interpretation": "降低79.23%，4.81×",</a:t>
            </a:r>
          </a:p>
          <a:p>
            <a:r>
              <a:t>            "reduction_percent": 79.23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"actual_flash_transfer",</a:t>
            </a:r>
          </a:p>
          <a:p>
            <a:r>
              <a:t>            "baseline": 34.23,</a:t>
            </a:r>
          </a:p>
          <a:p>
            <a:r>
              <a:t>            "treatment": 4.62,</a:t>
            </a:r>
          </a:p>
          <a:p>
            <a:r>
              <a:t>            "unit": "GB/token",</a:t>
            </a:r>
          </a:p>
          <a:p>
            <a:r>
              <a:t>            "direction": "lower_is_better",</a:t>
            </a:r>
          </a:p>
          <a:p>
            <a:r>
              <a:t>            "change_absolute": -29.61,</a:t>
            </a:r>
          </a:p>
          <a:p>
            <a:r>
              <a:t>            "relative_change_percent": -86.5,</a:t>
            </a:r>
          </a:p>
          <a:p>
            <a:r>
              <a:t>            "reduction_percent": 86.5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p17 Table7; p13 Appendix A",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"https://arxiv.org/abs/2610.02598v1"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"spax-qwen-quality",</a:t>
            </a:r>
          </a:p>
          <a:p>
            <a:r>
              <a:t>        "model": "Qwen3.6-27B",</a:t>
            </a:r>
          </a:p>
          <a:p>
            <a:r>
              <a:t>        "hardware": "同论文实验平台",</a:t>
            </a:r>
          </a:p>
          <a:p>
            <a:r>
              <a:t>        "configuration": "CA-BF16；Dense vs SpAx-CA +10%标签",</a:t>
            </a:r>
          </a:p>
          <a:p>
            <a:r>
              <a:t>        "dataset": "WikiText-2完整test split，2048-token非重叠窗口；ARC-C/HS/PIQA/WG零样本",</a:t>
            </a:r>
          </a:p>
          <a:p>
            <a:r>
              <a:t>        "input_tokens": null,</a:t>
            </a:r>
          </a:p>
          <a:p>
            <a:r>
              <a:t>        "output_tokens": null,</a:t>
            </a:r>
          </a:p>
          <a:p>
            <a:r>
              <a:t>        "batch_size": null,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"WikiText-2_PPL",</a:t>
            </a:r>
          </a:p>
          <a:p>
            <a:r>
              <a:t>            "baseline": 7.4,</a:t>
            </a:r>
          </a:p>
          <a:p>
            <a:r>
              <a:t>            "treatment": 8.16,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0.76,</a:t>
            </a:r>
          </a:p>
          <a:p>
            <a:r>
              <a:t>            "relative_change_percent": 10.27,</a:t>
            </a:r>
          </a:p>
          <a:p>
            <a:r>
              <a:t>            "reduction_percent": -10.27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"ARC-C",</a:t>
            </a:r>
          </a:p>
          <a:p>
            <a:r>
              <a:t>            "baseline": 60.3,</a:t>
            </a:r>
          </a:p>
          <a:p>
            <a:r>
              <a:t>            "treatment": 57.6,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-2.7,</a:t>
            </a:r>
          </a:p>
          <a:p>
            <a:r>
              <a:t>            "relative_change_percent": -4.48,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"HellaSwag",</a:t>
            </a:r>
          </a:p>
          <a:p>
            <a:r>
              <a:t>            "baseline": 64,</a:t>
            </a:r>
          </a:p>
          <a:p>
            <a:r>
              <a:t>            "treatment": 62.9,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-1.1,</a:t>
            </a:r>
          </a:p>
          <a:p>
            <a:r>
              <a:t>            "relative_change_percent": -1.72,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"PIQA",</a:t>
            </a:r>
          </a:p>
          <a:p>
            <a:r>
              <a:t>            "baseline": 81.6,</a:t>
            </a:r>
          </a:p>
          <a:p>
            <a:r>
              <a:t>            "treatment": 80.5,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-1.1,</a:t>
            </a:r>
          </a:p>
          <a:p>
            <a:r>
              <a:t>            "relative_change_percent": -1.35,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"WinoGrande",</a:t>
            </a:r>
          </a:p>
          <a:p>
            <a:r>
              <a:t>            "baseline": 77.2,</a:t>
            </a:r>
          </a:p>
          <a:p>
            <a:r>
              <a:t>            "treatment": 74.3,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-2.9,</a:t>
            </a:r>
          </a:p>
          <a:p>
            <a:r>
              <a:t>            "relative_change_percent": -3.76,</a:t>
            </a:r>
          </a:p>
          <a:p>
            <a:r>
              <a:t>            "difference_unit": "percentage_point"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p19 Table10; p13 Appendix A",</a:t>
            </a:r>
          </a:p>
          <a:p>
            <a:r>
              <a:t>        "status": "reported_original_pdf",</a:t>
            </a:r>
          </a:p>
          <a:p>
            <a:r>
              <a:t>        "protocol": "质量表SpAx-CA标+10%容忍，实测PPL+10.2%。表10预算8%与表7所需3.78/34.23约11%数值不可直接混用；读预算口径/配置映射须代码确认。",</a:t>
            </a:r>
          </a:p>
          <a:p>
            <a:r>
              <a:t>        "url": "https://arxiv.org/abs/2610.02598v1"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"id": "spax-llama-main",</a:t>
            </a:r>
          </a:p>
          <a:p>
            <a:r>
              <a:t>        "model": "Llama-3.1-8B",</a:t>
            </a:r>
          </a:p>
          <a:p>
            <a:r>
              <a:t>        "hardware": "RTX4090 PCIe4.0×8；CPU offload",</a:t>
            </a:r>
          </a:p>
          <a:p>
            <a:r>
              <a:t>        "configuration": "ALL-BF16；Dense vs SpAx-trellis +10%",</a:t>
            </a:r>
          </a:p>
          <a:p>
            <a:r>
              <a:t>        "dataset": "全部FFN/attention投影权重offload",</a:t>
            </a:r>
          </a:p>
          <a:p>
            <a:r>
              <a:t>        "input_tokens": null,</a:t>
            </a:r>
          </a:p>
          <a:p>
            <a:r>
              <a:t>        "output_tokens": 8,</a:t>
            </a:r>
          </a:p>
          <a:p>
            <a:r>
              <a:t>        "batch_size": 1,</a:t>
            </a:r>
          </a:p>
          <a:p>
            <a:r>
              <a:t>        "metrics": [</a:t>
            </a:r>
          </a:p>
          <a:p>
            <a:r>
              <a:t>          {</a:t>
            </a:r>
          </a:p>
          <a:p>
            <a:r>
              <a:t>            "metric": "decode_time_per_token",</a:t>
            </a:r>
          </a:p>
          <a:p>
            <a:r>
              <a:t>            "baseline": 1156,</a:t>
            </a:r>
          </a:p>
          <a:p>
            <a:r>
              <a:t>            "treatment": 397,</a:t>
            </a:r>
          </a:p>
          <a:p>
            <a:r>
              <a:t>            "unit": "ms/token",</a:t>
            </a:r>
          </a:p>
          <a:p>
            <a:r>
              <a:t>            "direction": "lower_is_better",</a:t>
            </a:r>
          </a:p>
          <a:p>
            <a:r>
              <a:t>            "change_absolute": -759,</a:t>
            </a:r>
          </a:p>
          <a:p>
            <a:r>
              <a:t>            "relative_change_percent": -65.66,</a:t>
            </a:r>
          </a:p>
          <a:p>
            <a:r>
              <a:t>            "reduction_percent": 65.66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"WikiText-2_PPL",</a:t>
            </a:r>
          </a:p>
          <a:p>
            <a:r>
              <a:t>            "baseline": 6.24,</a:t>
            </a:r>
          </a:p>
          <a:p>
            <a:r>
              <a:t>            "treatment": 6.87,</a:t>
            </a:r>
          </a:p>
          <a:p>
            <a:r>
              <a:t>            "unit": "PPL",</a:t>
            </a:r>
          </a:p>
          <a:p>
            <a:r>
              <a:t>            "direction": "lower_is_better",</a:t>
            </a:r>
          </a:p>
          <a:p>
            <a:r>
              <a:t>            "change_absolute": 0.63,</a:t>
            </a:r>
          </a:p>
          <a:p>
            <a:r>
              <a:t>            "relative_change_percent": 10.1,</a:t>
            </a:r>
          </a:p>
          <a:p>
            <a:r>
              <a:t>            "reduction_percent": -10.1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"MMLU_5shot",</a:t>
            </a:r>
          </a:p>
          <a:p>
            <a:r>
              <a:t>            "baseline": 65.4,</a:t>
            </a:r>
          </a:p>
          <a:p>
            <a:r>
              <a:t>            "treatment": 62.1,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-3.3,</a:t>
            </a:r>
          </a:p>
          <a:p>
            <a:r>
              <a:t>            "relative_change_percent": -5.05,</a:t>
            </a:r>
          </a:p>
          <a:p>
            <a:r>
              <a:t>            "difference_unit": "percentage_point"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"metric": "GSM8K_5shot",</a:t>
            </a:r>
          </a:p>
          <a:p>
            <a:r>
              <a:t>            "baseline": 50.2,</a:t>
            </a:r>
          </a:p>
          <a:p>
            <a:r>
              <a:t>            "treatment": 43.9,</a:t>
            </a:r>
          </a:p>
          <a:p>
            <a:r>
              <a:t>            "unit": "%",</a:t>
            </a:r>
          </a:p>
          <a:p>
            <a:r>
              <a:t>            "direction": "higher_is_better",</a:t>
            </a:r>
          </a:p>
          <a:p>
            <a:r>
              <a:t>            "change_absolute": -6.3,</a:t>
            </a:r>
          </a:p>
          <a:p>
            <a:r>
              <a:t>            "relative_change_percent": -12.55,</a:t>
            </a:r>
          </a:p>
          <a:p>
            <a:r>
              <a:t>            "difference_unit": "percentage_point"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"locator": "PDF p9 Table3; p8 Table2",</a:t>
            </a:r>
          </a:p>
          <a:p>
            <a:r>
              <a:t>        "status": "reported_original_pdf",</a:t>
            </a:r>
          </a:p>
          <a:p>
            <a:r>
              <a:t>        "url": "https://arxiv.org/abs/2610.02598v1"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"ttft": {</a:t>
            </a:r>
          </a:p>
          <a:p>
            <a:r>
              <a:t>      "status": "not_reported"</a:t>
            </a:r>
          </a:p>
          <a:p>
            <a:r>
              <a:t>    },</a:t>
            </a:r>
          </a:p>
          <a:p>
            <a:r>
              <a:t>    "tpot": {</a:t>
            </a:r>
          </a:p>
          <a:p>
            <a:r>
              <a:t>      "status": "decode_step_latency_reported",</a:t>
            </a:r>
          </a:p>
          <a:p>
            <a:r>
              <a:t>      "note": "可展示原文每token解码时间，必须标offload/B1/8步中位数，不能冒充在线服务TPOT或外推到Ascend。"</a:t>
            </a:r>
          </a:p>
          <a:p>
            <a:r>
              <a:t>    },</a:t>
            </a:r>
          </a:p>
          <a:p>
            <a:r>
              <a:t>    "slide_ready": {</a:t>
            </a:r>
          </a:p>
          <a:p>
            <a:r>
              <a:t>      "headline": "减少卸载权重搬运能大幅缩短decode，但当前质量代价不符合&lt;1%目标",</a:t>
            </a:r>
          </a:p>
          <a:p>
            <a:r>
              <a:t>      "technique": "激活幅值三档分流：原权重 / 2-bit近似 / 跳过；校准预算并合并读取，换取更少PCIe/SSD传输。",</a:t>
            </a:r>
          </a:p>
          <a:p>
            <a:r>
              <a:t>      "conditions": "Qwen3.6-27B｜RTX4090 PCIe4.0×8｜B=1｜仅FFN从CPU卸载｜对照稠密BF16",</a:t>
            </a:r>
          </a:p>
          <a:p>
            <a:r>
              <a:t>      "result": "每token解码2832→508 ms（降82.1%）；TTFT未报告。WT2 PPL 7.40→8.16（+10.3%按表内四舍五入值计算，论文标+10.2%）；ARC-C 60.3→57.6（−2.7pp）。 每token需传输权重34.23→3.78GB（−89.0%，不是显存）。",</a:t>
            </a:r>
          </a:p>
          <a:p>
            <a:r>
              <a:t>      "limit": "仅适合权重需卸载的情形；不是Qwen3.8-27B/昇腾已验证结果。现有+10%容忍配置不达业务质量目标，应先重测更保守读取预算再决定移植。"</a:t>
            </a:r>
          </a:p>
          <a:p>
            <a:r>
              <a:t>    },</a:t>
            </a:r>
          </a:p>
          <a:p>
            <a:r>
              <a:t>    "contradictions": [</a:t>
            </a:r>
          </a:p>
          <a:p>
            <a:r>
              <a:t>      "正文使用+10%容忍标签，但部分实际PPL涨幅超过10%（例如Qwen BF16标10.2%、Q4KM标11.4%）。不要宣传严格≤10%。",</a:t>
            </a:r>
          </a:p>
          <a:p>
            <a:r>
              <a:t>      "正文概括最高7.10×包含+20%配置；摘要5.57×对应+10%配置，不能跨质量门槛混用。",</a:t>
            </a:r>
          </a:p>
          <a:p>
            <a:r>
              <a:t>      "Qwen Table7性能和Table10质量的预算字段数值未完全对应，保留表标签且不声称已做严格同配置复现。"</a:t>
            </a:r>
          </a:p>
          <a:p>
            <a:r>
              <a:t>    ],</a:t>
            </a:r>
          </a:p>
          <a:p>
            <a:r>
              <a:t>    "memory_summary": {</a:t>
            </a:r>
          </a:p>
          <a:p>
            <a:r>
              <a:t>      "headline": "Qwen3.6-27B CPU offload：每token所需权重传输34.23→3.78GB（−89.0%）；这是搬运量，不是显存减少。",</a:t>
            </a:r>
          </a:p>
          <a:p>
            <a:r>
              <a:t>      "measurements": [</a:t>
            </a:r>
          </a:p>
          <a:p>
            <a:r>
              <a:t>        {</a:t>
            </a:r>
          </a:p>
          <a:p>
            <a:r>
              <a:t>          "metric": "weight_bytes_needed_per_decode_token",</a:t>
            </a:r>
          </a:p>
          <a:p>
            <a:r>
              <a:t>          "baseline": 34.23,</a:t>
            </a:r>
          </a:p>
          <a:p>
            <a:r>
              <a:t>          "result": 3.78,</a:t>
            </a:r>
          </a:p>
          <a:p>
            <a:r>
              <a:t>          "unit": "GB/token",</a:t>
            </a:r>
          </a:p>
          <a:p>
            <a:r>
              <a:t>          "reduction_percent": 88.96,</a:t>
            </a:r>
          </a:p>
          <a:p>
            <a:r>
              <a:t>          "scope": "Qwen3.6-27B CA-BF16 CPU offload需读的权重/编码字节，含编码辅助数据",</a:t>
            </a:r>
          </a:p>
          <a:p>
            <a:r>
              <a:t>          "status": "measured_transfer",</a:t>
            </a:r>
          </a:p>
          <a:p>
            <a:r>
              <a:t>          "locator": "p17 Table7"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"flash_bytes_moved_per_decode_token",</a:t>
            </a:r>
          </a:p>
          <a:p>
            <a:r>
              <a:t>          "baseline": 34.23,</a:t>
            </a:r>
          </a:p>
          <a:p>
            <a:r>
              <a:t>          "result": 4.62,</a:t>
            </a:r>
          </a:p>
          <a:p>
            <a:r>
              <a:t>          "unit": "GB/token",</a:t>
            </a:r>
          </a:p>
          <a:p>
            <a:r>
              <a:t>          "reduction_percent": 86.5,</a:t>
            </a:r>
          </a:p>
          <a:p>
            <a:r>
              <a:t>          "scope": "相同CA-BF16配置SSD实际搬运字节，包含读取粒度放大",</a:t>
            </a:r>
          </a:p>
          <a:p>
            <a:r>
              <a:t>          "status": "measured_transfer",</a:t>
            </a:r>
          </a:p>
          <a:p>
            <a:r>
              <a:t>          "locator": "p17 Table7"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"resident_GPU_memory",</a:t>
            </a:r>
          </a:p>
          <a:p>
            <a:r>
              <a:t>          "baseline": null,</a:t>
            </a:r>
          </a:p>
          <a:p>
            <a:r>
              <a:t>          "result": null,</a:t>
            </a:r>
          </a:p>
          <a:p>
            <a:r>
              <a:t>          "unit": "GiB",</a:t>
            </a:r>
          </a:p>
          <a:p>
            <a:r>
              <a:t>          "reduction_percent": null,</a:t>
            </a:r>
          </a:p>
          <a:p>
            <a:r>
              <a:t>          "scope": "完整推理服务驻留显存",</a:t>
            </a:r>
          </a:p>
          <a:p>
            <a:r>
              <a:t>          "status": "not_reported"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"metric": "peak_GPU_memory",</a:t>
            </a:r>
          </a:p>
          <a:p>
            <a:r>
              <a:t>          "baseline": null,</a:t>
            </a:r>
          </a:p>
          <a:p>
            <a:r>
              <a:t>          "result": null,</a:t>
            </a:r>
          </a:p>
          <a:p>
            <a:r>
              <a:t>          "unit": "GiB",</a:t>
            </a:r>
          </a:p>
          <a:p>
            <a:r>
              <a:t>          "reduction_percent": null,</a:t>
            </a:r>
          </a:p>
          <a:p>
            <a:r>
              <a:t>          "scope": "完整推理服务峰值显存",</a:t>
            </a:r>
          </a:p>
          <a:p>
            <a:r>
              <a:t>          "status": "not_reported"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"caveat": "原始权重与中档压缩代码都需保存；减少读取字节不证明CPU/磁盘总存储降低。"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"short_name": "SpAx",</a:t>
            </a:r>
          </a:p>
          <a:p>
            <a:r>
              <a:t>  "title": "SpAx：让中等贡献的权重列读近似值，减少卸载搬运",</a:t>
            </a:r>
          </a:p>
          <a:p>
            <a:r>
              <a:t>  "challenge": "权重卸载到 CPU/SSD 后，逐词搬运很慢；只靠跳过低激活列，进一步省流量容易损伤质量。",</a:t>
            </a:r>
          </a:p>
          <a:p>
            <a:r>
              <a:t>  "idea": "把权重列的“读或不读”改成三档：重要的读原值，中等的读近似，最小的跳过。",</a:t>
            </a:r>
          </a:p>
          <a:p>
            <a:r>
              <a:t>  "steps": [</a:t>
            </a:r>
          </a:p>
          <a:p>
            <a:r>
              <a:t>    "按每个token的激活大小重新分档：大激活列读原格式，中档读近似，小档跳过；各档数量由离线校准预算确定。",</a:t>
            </a:r>
          </a:p>
          <a:p>
            <a:r>
              <a:t>    "每列独立存2-bit近似码，选中后在GPU还原；误差再乘该列较小的输入激活，比直接删列保留更多输出贡献。",</a:t>
            </a:r>
          </a:p>
          <a:p>
            <a:r>
              <a:t>    "共享同一输入的投影矩阵，将对应权重列连续存放，再合并相邻读取请求；减少CPU或SSD卸载的碎片传输。"</a:t>
            </a:r>
          </a:p>
          <a:p>
            <a:r>
              <a:t>  ],</a:t>
            </a:r>
          </a:p>
          <a:p>
            <a:r>
              <a:t>  "mechanism_detail": "矩阵乘的输出是各权重列乘对应激活后相加。SpAx 不再只决定一列读不读：大激活列读部署格式的原权重，中档列读独立的 2-bit 近似码，最小激活列跳过。中档仍保留部分贡献，且较小激活会缩小近似误差。三档数量按读预算离线校准，具体列随每个 token 改变；再合并相邻读取。代价是排序、解码和近似误差，主要面向卸载瓶颈。",</a:t>
            </a:r>
          </a:p>
          <a:p>
            <a:r>
              <a:t>  "why_effective": "比直接丢弃中等贡献列保留更多信号，又比读原权重少传输字节；收益依赖卸载带宽是瓶颈。",</a:t>
            </a:r>
          </a:p>
          <a:p>
            <a:r>
              <a:t>  "tradeoff": "原始与近似权重都需保存；减少的是每 token 搬运，不能据此宣称总存储或常驻显存下降。",</a:t>
            </a:r>
          </a:p>
          <a:p>
            <a:r>
              <a:t>  "what_changed": "从二元稀疏掩码扩展为按激活选择原始/近似/跳过的三档读取。",</a:t>
            </a:r>
          </a:p>
          <a:p>
            <a:r>
              <a:t>  "locators": [</a:t>
            </a:r>
          </a:p>
          <a:p>
            <a:r>
              <a:t>    "§2 p3：Wx=Σ xᵢW[:,i] 与激活缩放误差",</a:t>
            </a:r>
          </a:p>
          <a:p>
            <a:r>
              <a:t>    "§5 p4 与 Figure 2 p5：三档读取流程",</a:t>
            </a:r>
          </a:p>
          <a:p>
            <a:r>
              <a:t>    "§5.1 p5：逐列 2-bit 标量/trellis 编码",</a:t>
            </a:r>
          </a:p>
          <a:p>
            <a:r>
              <a:t>    "§5.2–5.3 p6：预算校准、列聚合和合并读取"</a:t>
            </a:r>
          </a:p>
          <a:p>
            <a:r>
              <a:t>  ],</a:t>
            </a:r>
          </a:p>
          <a:p>
            <a:r>
              <a:t>  "caveat": "最高档是部署时原始格式，可以是 16-bit 或 4-bit，并非必须 FP16；不是把整个模型静态量化成 2-bit。",</a:t>
            </a:r>
          </a:p>
          <a:p>
            <a:r>
              <a:t>  "background": "权重卸载到 CPU/SSD 后，逐词搬运很慢；只靠跳过低激活列，进一步省流量容易损伤质量。",</a:t>
            </a:r>
          </a:p>
          <a:p>
            <a:r>
              <a:t>  "principle": "把权重列的“读或不读”改成三档：重要的读原值，中等的读近似，最小的跳过。",</a:t>
            </a:r>
          </a:p>
          <a:p>
            <a:r>
              <a:t>  "source_url": "https://arxiv.org/abs/2610.02598v1",</a:t>
            </a:r>
          </a:p>
          <a:p>
            <a:r>
              <a:t>  "background_with_idea": "权重卸载时，逐词搬运可能成为瓶颈；继续增加跳过比例又会损伤质量。SpAx把“读或不读”改成原值、2-bit近似和跳过三档，让中等贡献的列少传字节但仍参与计算。",</a:t>
            </a:r>
          </a:p>
          <a:p>
            <a:r>
              <a:t>  "mechanism_labels": [</a:t>
            </a:r>
          </a:p>
          <a:p>
            <a:r>
              <a:t>    "激活分档",</a:t>
            </a:r>
          </a:p>
          <a:p>
            <a:r>
              <a:t>    "2-bit近似",</a:t>
            </a:r>
          </a:p>
          <a:p>
            <a:r>
              <a:t>    "列聚合读取"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01 学术进展  /  KV Cache × 量化</a:t>
            </a:r>
          </a:p>
          <a:p>
            <a:r>
              <a:t>TaSQ：先重整Key分布，再用小码本压缩KV</a:t>
            </a:r>
          </a:p>
          <a:p>
            <a:r>
              <a:t>极低比特码本很小，直接拟合Key容易把容量浪费在异常值和不重要的方向。TaSQ先按注意力敏感度重整Key分布，再把向量换成码本索引，以更少字节保存注意力真正依赖的信息。</a:t>
            </a:r>
          </a:p>
          <a:p>
            <a:r>
              <a:t>关键技术｜核心思路与实现方法</a:t>
            </a:r>
          </a:p>
          <a:p>
            <a:r>
              <a:t>关键效果｜基线 → 论文方案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"TaSQ：重整向量空间，改善极低比特KV量化",</a:t>
            </a:r>
          </a:p>
          <a:p>
            <a:r>
              <a:t>    "map_label": "KV Cache × 量化",</a:t>
            </a:r>
          </a:p>
          <a:p>
            <a:r>
              <a:t>    "background": "长输出使KV容量成为瓶颈，1-bit码本又难保注意力精度。TaSQ先改造Key分布，再用有限码本压缩。",</a:t>
            </a:r>
          </a:p>
          <a:p>
            <a:r>
              <a:t>    "steps": [</a:t>
            </a:r>
          </a:p>
          <a:p>
            <a:r>
              <a:t>      "按Query敏感度加权Key通道，减少注意力分数误差。",</a:t>
            </a:r>
          </a:p>
          <a:p>
            <a:r>
              <a:t>      "跨头归一化抑制尺度离群值，再按协方差重组通道。",</a:t>
            </a:r>
          </a:p>
          <a:p>
            <a:r>
              <a:t>      "变换并入权重与码本；Attention内查表还原并应用RoPE。"</a:t>
            </a:r>
          </a:p>
          <a:p>
            <a:r>
              <a:t>    ],</a:t>
            </a:r>
          </a:p>
          <a:p>
            <a:r>
              <a:t>    "conditions": [</a:t>
            </a:r>
          </a:p>
          <a:p>
            <a:r>
              <a:t>      "性能：Qwen3-4B-Thinking-2507，单卡RTX 6000 Ada，SGLang。",</a:t>
            </a:r>
          </a:p>
          <a:p>
            <a:r>
              <a:t>      "吞吐：2k入/32k出；TTFT：8k–32k输入、batch=1。",</a:t>
            </a:r>
          </a:p>
          <a:p>
            <a:r>
              <a:t>      "质量：同模型，AIME24/25、LCB-v6、SciBench三种子均分；性能分测。"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"比BF16增加10%–14%（8k–32k输入）；首token更慢。"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"TPOT",</a:t>
            </a:r>
          </a:p>
          <a:p>
            <a:r>
              <a:t>        "value": "未找到独立TPOT结果；不能由吞吐倍数换算。"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"总显存未报告；量化区约1.258 bit/元素\n比BF16推算少92.1%，码本与精确窗口另计"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"Long-CoT均分：BF16 67.18→60.55，−6.63分；相对损失9.87%。"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"峰值吞吐220.8→412.6 tokens/s；各自最大batch从6→84，非同batch提速。",</a:t>
            </a:r>
          </a:p>
          <a:p>
            <a:r>
              <a:t>    "takeaway": "先在昇腾验证高于1-bit的KV向量量化与Attention查表融合，固定模型和并发后分别测TTFT、TPOT。当前质量损失明显，只有业务集损失小于1%且总时延达标，才推进更低位宽。",</a:t>
            </a:r>
          </a:p>
          <a:p>
            <a:r>
              <a:t>    "locator": "v1 §4；Table2（质量）；Fig4、§6.1（性能）；Appendix B/Table5（位宽）"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"2610.03027",</a:t>
            </a:r>
          </a:p>
          <a:p>
            <a:r>
              <a:t>    "version": "v1",</a:t>
            </a:r>
          </a:p>
          <a:p>
            <a:r>
              <a:t>    "short_name": "TaSQ",</a:t>
            </a:r>
          </a:p>
          <a:p>
            <a:r>
              <a:t>    "source": "https://arxiv.org/pdf/2610.03027v1",</a:t>
            </a:r>
          </a:p>
          <a:p>
            <a:r>
              <a:t>    "primary_web_verified": true,</a:t>
            </a:r>
          </a:p>
          <a:p>
            <a:r>
              <a:t>    "title": "Tailoring the Quantization Space for 1-Bit KV Cache Compression",</a:t>
            </a:r>
          </a:p>
          <a:p>
            <a:r>
              <a:t>    "mechanisms": [</a:t>
            </a:r>
          </a:p>
          <a:p>
            <a:r>
              <a:t>      "在 RoPE 之前量化 Key；用校准集中的 Query 统计给 Key 通道加权，使码本优先保留对 QKᵀ 误差敏感的方向。",</a:t>
            </a:r>
          </a:p>
          <a:p>
            <a:r>
              <a:t>      "跨头共享尺度归一化抑制 token 尺度离群值，再按通道协方差重新分组，让有限码本覆盖更紧凑的向量空间。",</a:t>
            </a:r>
          </a:p>
          <a:p>
            <a:r>
              <a:t>      "将变换融合进投影权重和码本；运行时存码本索引与尺度，Attention 内查表还原并施加 RoPE。Value 使用普通向量量化。"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"metric": "TTFT",</a:t>
            </a:r>
          </a:p>
          <a:p>
            <a:r>
              <a:t>        "model": "Qwen3-4B-Thinking-2507",</a:t>
            </a:r>
          </a:p>
          <a:p>
            <a:r>
              <a:t>        "hardware": "1× NVIDIA RTX 6000 Ada",</a:t>
            </a:r>
          </a:p>
          <a:p>
            <a:r>
              <a:t>        "dataset": "服务效率实验；输入文本数据集未列出",</a:t>
            </a:r>
          </a:p>
          <a:p>
            <a:r>
              <a:t>        "input_output": "8k / 16k / 32k input; output not applicable",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"BF16",</a:t>
            </a:r>
          </a:p>
          <a:p>
            <a:r>
              <a:t>          "value": 1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"TaSQ",</a:t>
            </a:r>
          </a:p>
          <a:p>
            <a:r>
              <a:t>          "value_range": [</a:t>
            </a:r>
          </a:p>
          <a:p>
            <a:r>
              <a:t>            1.1,</a:t>
            </a:r>
          </a:p>
          <a:p>
            <a:r>
              <a:t>            1.14</a:t>
            </a:r>
          </a:p>
          <a:p>
            <a:r>
              <a:t>          ]</a:t>
            </a:r>
          </a:p>
          <a:p>
            <a:r>
              <a:t>        },</a:t>
            </a:r>
          </a:p>
          <a:p>
            <a:r>
              <a:t>        "unit": "normalized latency",</a:t>
            </a:r>
          </a:p>
          <a:p>
            <a:r>
              <a:t>        "locator": "§6.1, Fig.4b, PDF p.8–9",</a:t>
            </a:r>
          </a:p>
          <a:p>
            <a:r>
              <a:t>        "status": "reported",</a:t>
            </a:r>
          </a:p>
          <a:p>
            <a:r>
              <a:t>        "relative_change_pct": [</a:t>
            </a:r>
          </a:p>
          <a:p>
            <a:r>
              <a:t>          10,</a:t>
            </a:r>
          </a:p>
          <a:p>
            <a:r>
              <a:t>          14</a:t>
            </a:r>
          </a:p>
          <a:p>
            <a:r>
              <a:t>        ],</a:t>
            </a:r>
          </a:p>
          <a:p>
            <a:r>
              <a:t>        "interpretation": "变慢 10%–14%；论文正文明确称 TTFT。图轴为 Prefill latency，不提取曲线的近似绝对毫秒值。",</a:t>
            </a:r>
          </a:p>
          <a:p>
            <a:r>
              <a:t>        "source": "https://arxiv.org/pdf/2610.03027v1",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"TPOT",</a:t>
            </a:r>
          </a:p>
          <a:p>
            <a:r>
              <a:t>        "model": "Qwen3-4B-Thinking-2507",</a:t>
            </a:r>
          </a:p>
          <a:p>
            <a:r>
              <a:t>        "hardware": "1× NVIDIA RTX 6000 Ada",</a:t>
            </a:r>
          </a:p>
          <a:p>
            <a:r>
              <a:t>        "dataset": null,</a:t>
            </a:r>
          </a:p>
          <a:p>
            <a:r>
              <a:t>        "input_output": null,</a:t>
            </a:r>
          </a:p>
          <a:p>
            <a:r>
              <a:t>        "batch": null,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"全文及 §6.1 / Fig.4",</a:t>
            </a:r>
          </a:p>
          <a:p>
            <a:r>
              <a:t>        "status": "not_found",</a:t>
            </a:r>
          </a:p>
          <a:p>
            <a:r>
              <a:t>        "note": "未找到独立 TPOT 数值；不能把吞吐倍数换算为 TPOT 改善。",</a:t>
            </a:r>
          </a:p>
          <a:p>
            <a:r>
              <a:t>        "source": "https://arxiv.org/pdf/2610.03027v1",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"峰值端到端吞吐",</a:t>
            </a:r>
          </a:p>
          <a:p>
            <a:r>
              <a:t>        "model": "Qwen3-4B-Thinking-2507",</a:t>
            </a:r>
          </a:p>
          <a:p>
            <a:r>
              <a:t>        "hardware": "1× NVIDIA RTX 6000 Ada; SGLang + Triton Attention",</a:t>
            </a:r>
          </a:p>
          <a:p>
            <a:r>
              <a:t>        "dataset": "服务效率实验；未列出输入文本集",</a:t>
            </a:r>
          </a:p>
          <a:p>
            <a:r>
              <a:t>        "input_output": "2048 input / 32768 output",</a:t>
            </a:r>
          </a:p>
          <a:p>
            <a:r>
              <a:t>        "batch": {</a:t>
            </a:r>
          </a:p>
          <a:p>
            <a:r>
              <a:t>          "baseline_max": 6,</a:t>
            </a:r>
          </a:p>
          <a:p>
            <a:r>
              <a:t>          "treatment_max": 84</a:t>
            </a:r>
          </a:p>
          <a:p>
            <a:r>
              <a:t>        },</a:t>
            </a:r>
          </a:p>
          <a:p>
            <a:r>
              <a:t>        "baseline": {</a:t>
            </a:r>
          </a:p>
          <a:p>
            <a:r>
              <a:t>          "method": "BF16",</a:t>
            </a:r>
          </a:p>
          <a:p>
            <a:r>
              <a:t>          "value": 220.8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"TaSQ",</a:t>
            </a:r>
          </a:p>
          <a:p>
            <a:r>
              <a:t>          "value": 412.6</a:t>
            </a:r>
          </a:p>
          <a:p>
            <a:r>
              <a:t>        },</a:t>
            </a:r>
          </a:p>
          <a:p>
            <a:r>
              <a:t>        "unit": "tokens/s",</a:t>
            </a:r>
          </a:p>
          <a:p>
            <a:r>
              <a:t>        "locator": "§6.1, Fig.4a, PDF p.8–9",</a:t>
            </a:r>
          </a:p>
          <a:p>
            <a:r>
              <a:t>        "status": "reported",</a:t>
            </a:r>
          </a:p>
          <a:p>
            <a:r>
              <a:t>        "absolute_delta": 191.8,</a:t>
            </a:r>
          </a:p>
          <a:p>
            <a:r>
              <a:t>        "relative_change_pct": 86.8659,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"note": "分别取各自容量约束下的峰值，不是相同 batch 对比。",</a:t>
            </a:r>
          </a:p>
          <a:p>
            <a:r>
              <a:t>        "source": "https://arxiv.org/pdf/2610.03027v1",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"Long-CoT 四任务平均分",</a:t>
            </a:r>
          </a:p>
          <a:p>
            <a:r>
              <a:t>        "model": "Qwen3-4B-Thinking-2507",</a:t>
            </a:r>
          </a:p>
          <a:p>
            <a:r>
              <a:t>        "hardware": "质量实验 GPU 型号未单独说明",</a:t>
            </a:r>
          </a:p>
          <a:p>
            <a:r>
              <a:t>        "dataset": "AIME 2024 / AIME 2025 / LiveCodeBench v6 / SciBench",</a:t>
            </a:r>
          </a:p>
          <a:p>
            <a:r>
              <a:t>        "input_output": "generation cap 32768; temperature .6; top-p .95; 3 seeds",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"BF16",</a:t>
            </a:r>
          </a:p>
          <a:p>
            <a:r>
              <a:t>          "value": 67.18,</a:t>
            </a:r>
          </a:p>
          <a:p>
            <a:r>
              <a:t>          "std": 1.37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"TaSQ K/V=1.266/1.250 effective bits",</a:t>
            </a:r>
          </a:p>
          <a:p>
            <a:r>
              <a:t>          "value": 60.55,</a:t>
            </a:r>
          </a:p>
          <a:p>
            <a:r>
              <a:t>          "std": 0.98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 2, §5.1, PDF p.7",</a:t>
            </a:r>
          </a:p>
          <a:p>
            <a:r>
              <a:t>        "status": "reported",</a:t>
            </a:r>
          </a:p>
          <a:p>
            <a:r>
              <a:t>        "absolute_delta": -6.63,</a:t>
            </a:r>
          </a:p>
          <a:p>
            <a:r>
              <a:t>        "relative_change_pct": -9.869,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"note": "下降 6.63 分，不满足用户小于 1% 的质量损失目标。首 64 / 最近 256 tokens 保持全精度。",</a:t>
            </a:r>
          </a:p>
          <a:p>
            <a:r>
              <a:t>        "source": "https://arxiv.org/pdf/2610.03027v1",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"六项通用任务平均分",</a:t>
            </a:r>
          </a:p>
          <a:p>
            <a:r>
              <a:t>        "model": "Qwen3-4B",</a:t>
            </a:r>
          </a:p>
          <a:p>
            <a:r>
              <a:t>        "hardware": "质量实验 GPU 型号未单独说明",</a:t>
            </a:r>
          </a:p>
          <a:p>
            <a:r>
              <a:t>        "dataset": "GSM8K / MATH500 / MBPP / HumanEval / BBH / MMLU",</a:t>
            </a:r>
          </a:p>
          <a:p>
            <a:r>
              <a:t>        "input_output": "greedy decoding; latest 64 tokens full precision",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"BF16",</a:t>
            </a:r>
          </a:p>
          <a:p>
            <a:r>
              <a:t>          "value": 76.22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"TaSQ K/V=1.266/1.250 effective bits",</a:t>
            </a:r>
          </a:p>
          <a:p>
            <a:r>
              <a:t>          "value": 72.47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 1, PDF p.7",</a:t>
            </a:r>
          </a:p>
          <a:p>
            <a:r>
              <a:t>        "status": "reported",</a:t>
            </a:r>
          </a:p>
          <a:p>
            <a:r>
              <a:t>        "absolute_delta": -3.75,</a:t>
            </a:r>
          </a:p>
          <a:p>
            <a:r>
              <a:t>        "relative_change_pct": -4.92,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"https://arxiv.org/pdf/2610.03027v1",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"64k NIAH 检索分数",</a:t>
            </a:r>
          </a:p>
          <a:p>
            <a:r>
              <a:t>        "model": "Qwen3-4B-Thinking-2507",</a:t>
            </a:r>
          </a:p>
          <a:p>
            <a:r>
              <a:t>        "hardware": "质量实验 GPU 型号未单独说明",</a:t>
            </a:r>
          </a:p>
          <a:p>
            <a:r>
              <a:t>        "dataset": "RULER needle-in-a-haystack; 200 examples × 3 seeds",</a:t>
            </a:r>
          </a:p>
          <a:p>
            <a:r>
              <a:t>        "input_output": "64k context",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"BF16",</a:t>
            </a:r>
          </a:p>
          <a:p>
            <a:r>
              <a:t>          "value": 95.33,</a:t>
            </a:r>
          </a:p>
          <a:p>
            <a:r>
              <a:t>          "std": 2.36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"TaSQ",</a:t>
            </a:r>
          </a:p>
          <a:p>
            <a:r>
              <a:t>          "value": 81.5,</a:t>
            </a:r>
          </a:p>
          <a:p>
            <a:r>
              <a:t>          "std": 1.5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 3, PDF p.8",</a:t>
            </a:r>
          </a:p>
          <a:p>
            <a:r>
              <a:t>        "status": "reported",</a:t>
            </a:r>
          </a:p>
          <a:p>
            <a:r>
              <a:t>        "absolute_delta": -13.83,</a:t>
            </a:r>
          </a:p>
          <a:p>
            <a:r>
              <a:t>        "relative_change_pct": -14.5075,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"https://arxiv.org/pdf/2610.03027v1",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"slide_ready": {</a:t>
            </a:r>
          </a:p>
          <a:p>
            <a:r>
              <a:t>      "headline": "TaSQ 把 1-bit KV 的码本空间变得更适合注意力，但容量收益伴随 TTFT 与质量代价",</a:t>
            </a:r>
          </a:p>
          <a:p>
            <a:r>
              <a:t>      "configuration": "Qwen3-4B-Thinking-2507｜单卡 RTX 6000 Ada｜SGLang｜2k 输入 / 32k 输出（吞吐测试）",</a:t>
            </a:r>
          </a:p>
          <a:p>
            <a:r>
              <a:t>      "key_effect": "峰值吞吐 220.8→412.6 tokens/s（+86.9%，batch 上限 6→84）；8k–32k 输入的 TTFT 反而增加 10%–14%；TPOT 未给独立数值。",</a:t>
            </a:r>
          </a:p>
          <a:p>
            <a:r>
              <a:t>      "quality": "Long-CoT 四任务均分 67.18→60.55（−6.63 分）；64k RULER NIAH 95.33→81.50（−13.83 分）。",</a:t>
            </a:r>
          </a:p>
          <a:p>
            <a:r>
              <a:t>      "decision": "用于容量极紧的长输出探索；当前 1-bit 配置不满足 &lt;1% 质量损失。昇腾穿刺应先放宽 KV 位宽，再核实查表、RoPE 融合与 TTFT 代价，不能直接承诺 1.87× 加速。",</a:t>
            </a:r>
          </a:p>
          <a:p>
            <a:r>
              <a:t>      "memory": "量化区域 K/V 平均约1.258 bit/元素，较BF16推算少92.14%；静态码本、精确窗口另计。总显存减少未报告。"</a:t>
            </a:r>
          </a:p>
          <a:p>
            <a:r>
              <a:t>    },</a:t>
            </a:r>
          </a:p>
          <a:p>
            <a:r>
              <a:t>    "limitations": [</a:t>
            </a:r>
          </a:p>
          <a:p>
            <a:r>
              <a:t>      "标题 1-bit 指量化工作区间，实际 K/V 计入附加存储为约 1.266 / 1.250 bit。",</a:t>
            </a:r>
          </a:p>
          <a:p>
            <a:r>
              <a:t>      "质量数据与吞吐采用不同任务，不能写成同一个端到端试验。",</a:t>
            </a:r>
          </a:p>
          <a:p>
            <a:r>
              <a:t>      "无昇腾实测，无 Qwen3.8-27B 实测。"</a:t>
            </a:r>
          </a:p>
          <a:p>
            <a:r>
              <a:t>    ],</a:t>
            </a:r>
          </a:p>
          <a:p>
            <a:r>
              <a:t>    "conflicts": [],</a:t>
            </a:r>
          </a:p>
          <a:p>
            <a:r>
              <a:t>    "memory": {</a:t>
            </a:r>
          </a:p>
          <a:p>
            <a:r>
              <a:t>      "kv_bytes":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"not_found",</a:t>
            </a:r>
          </a:p>
          <a:p>
            <a:r>
              <a:t>        "note": "未给出相同token数下KV绝对GiB。"</a:t>
            </a:r>
          </a:p>
          <a:p>
            <a:r>
              <a:t>      },</a:t>
            </a:r>
          </a:p>
          <a:p>
            <a:r>
              <a:t>      "quantized_region_rate": {</a:t>
            </a:r>
          </a:p>
          <a:p>
            <a:r>
              <a:t>        "baseline_key_bits": 16,</a:t>
            </a:r>
          </a:p>
          <a:p>
            <a:r>
              <a:t>        "baseline_value_bits": 16,</a:t>
            </a:r>
          </a:p>
          <a:p>
            <a:r>
              <a:t>        "treatment_key_bits": 1.266,</a:t>
            </a:r>
          </a:p>
          <a:p>
            <a:r>
              <a:t>        "treatment_value_bits": 1.25,</a:t>
            </a:r>
          </a:p>
          <a:p>
            <a:r>
              <a:t>        "reduction_pct_derived": 92.1375,</a:t>
            </a:r>
          </a:p>
          <a:p>
            <a:r>
              <a:t>        "status": "calculated_from_reported_rates",</a:t>
            </a:r>
          </a:p>
          <a:p>
            <a:r>
              <a:t>        "locator": "Appendix B / Table5, PDF p.13",</a:t>
            </a:r>
          </a:p>
          <a:p>
            <a:r>
              <a:t>        "note": "按K/V元素数相同推算量化区域字节下降约92.14%；计入每token metadata，排除静态码本、全精度prefix/recent窗口与实现padding。不是整KV或总显存下降。"</a:t>
            </a:r>
          </a:p>
          <a:p>
            <a:r>
              <a:t>      },</a:t>
            </a:r>
          </a:p>
          <a:p>
            <a:r>
              <a:t>      "capacity_tokens": {</a:t>
            </a:r>
          </a:p>
          <a:p>
            <a:r>
              <a:t>        "baseline": 235257,</a:t>
            </a:r>
          </a:p>
          <a:p>
            <a:r>
              <a:t>        "treatment": 2935184,</a:t>
            </a:r>
          </a:p>
          <a:p>
            <a:r>
              <a:t>        "unit": "KV token slots",</a:t>
            </a:r>
          </a:p>
          <a:p>
            <a:r>
              <a:t>        "status": "reported",</a:t>
            </a:r>
          </a:p>
          <a:p>
            <a:r>
              <a:t>        "locator": "§6.1, PDF p.9",</a:t>
            </a:r>
          </a:p>
          <a:p>
            <a:r>
              <a:t>        "note": "同硬件池容量扩大约12.48×；不是减少了12.48× GiB。"</a:t>
            </a:r>
          </a:p>
          <a:p>
            <a:r>
              <a:t>      },</a:t>
            </a:r>
          </a:p>
          <a:p>
            <a:r>
              <a:t>      "total_model_memory":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</a:t>
            </a:r>
          </a:p>
          <a:p>
            <a:r>
              <a:t>      },</a:t>
            </a:r>
          </a:p>
          <a:p>
            <a:r>
              <a:t>      "peak_hbm":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"title": "TaSQ：先重整Key分布，再用小码本压缩KV",</a:t>
            </a:r>
          </a:p>
          <a:p>
            <a:r>
              <a:t>  "background": "极低比特码本容量有限，直接拟合Key数值会忽略真正影响注意力的方向；异常值还会占用大量表示空间。",</a:t>
            </a:r>
          </a:p>
          <a:p>
            <a:r>
              <a:t>  "principle": "先把Key变成更易压缩的分布，再用码本索引替代原向量。",</a:t>
            </a:r>
          </a:p>
          <a:p>
            <a:r>
              <a:t>  "steps": [</a:t>
            </a:r>
          </a:p>
          <a:p>
            <a:r>
              <a:t>    "用校准Query估计各Key通道对注意力分数的影响，量化前据此缩放通道，让码本优先降低重要方向的误差。",</a:t>
            </a:r>
          </a:p>
          <a:p>
            <a:r>
              <a:t>    "同一token的各Key头共用尺度以抑制异常值，再按协方差把相关通道分组，使小码本更容易拟合。",</a:t>
            </a:r>
          </a:p>
          <a:p>
            <a:r>
              <a:t>    "把每组Key向量换成最近码字的索引，仅保存索引和尺度；Attention中查表还原，并融合位置旋转。"</a:t>
            </a:r>
          </a:p>
          <a:p>
            <a:r>
              <a:t>  ],</a:t>
            </a:r>
          </a:p>
          <a:p>
            <a:r>
              <a:t>  "mechanism_detail": "直接压低Key位宽，会把有限码本用在数值大但未必重要的方向。TaSQ先依据Query统计给Key通道加权，使重建误差更贴近注意力分数误差；再用跨头共享尺度压低异常值影响，并把相关通道编为一组。离线拟合码本后，缓存存索引与尺度，计算Attention时查表、恢复尺度并应用RoPE。容量下降，但编码及查表有成本，极低比特仍会损失质量。",</a:t>
            </a:r>
          </a:p>
          <a:p>
            <a:r>
              <a:t>  "innovation": "创新不只是更小的码本，而是同时调整量化目标、异常值处理和通道分组，让有限码本更贴近注意力真正读取的信息。",</a:t>
            </a:r>
          </a:p>
          <a:p>
            <a:r>
              <a:t>  "cost": "需要校准与专用查表Attention；本文1-bit工作区间仍有明显质量损失，TTFT变慢。Value保留普通向量量化流程。",</a:t>
            </a:r>
          </a:p>
          <a:p>
            <a:r>
              <a:t>  "mechanism_labels": [</a:t>
            </a:r>
          </a:p>
          <a:p>
            <a:r>
              <a:t>    "Query引导加权",</a:t>
            </a:r>
          </a:p>
          <a:p>
            <a:r>
              <a:t>    "归一化与分组",</a:t>
            </a:r>
          </a:p>
          <a:p>
            <a:r>
              <a:t>    "向量码本解码"</a:t>
            </a:r>
          </a:p>
          <a:p>
            <a:r>
              <a:t>  ],</a:t>
            </a:r>
          </a:p>
          <a:p>
            <a:r>
              <a:t>  "short_name": "TaSQ",</a:t>
            </a:r>
          </a:p>
          <a:p>
            <a:r>
              <a:t>  "locators": [</a:t>
            </a:r>
          </a:p>
          <a:p>
            <a:r>
              <a:t>    "§4.1 / Eq.(1), PDF p.4",</a:t>
            </a:r>
          </a:p>
          <a:p>
            <a:r>
              <a:t>    "§4.2–4.3 / Fig.2–3, PDF p.4–6",</a:t>
            </a:r>
          </a:p>
          <a:p>
            <a:r>
              <a:t>    "§4.4, PDF p.6",</a:t>
            </a:r>
          </a:p>
          <a:p>
            <a:r>
              <a:t>    "§6.1 / Fig.4, PDF p.8–9"</a:t>
            </a:r>
          </a:p>
          <a:p>
            <a:r>
              <a:t>  ],</a:t>
            </a:r>
          </a:p>
          <a:p>
            <a:r>
              <a:t>  "source_url": "https://arxiv.org/pdf/2610.03027v1",</a:t>
            </a:r>
          </a:p>
          <a:p>
            <a:r>
              <a:t>  "background_with_idea": "极低比特码本很小，直接拟合Key容易把容量浪费在异常值和不重要的方向。TaSQ先按注意力敏感度重整Key分布，再把向量换成码本索引，以更少字节保存注意力真正依赖的信息。"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图文附录 · 学术进展  /  KV Cache × KV Cache 淘汰</a:t>
            </a:r>
          </a:p>
          <a:p>
            <a:r>
              <a:t>DeferKV：先看一次真实生成需求，再决定删哪些KV</a:t>
            </a:r>
          </a:p>
          <a:p>
            <a:r>
              <a:t>模型读提示词与生成答案时需要的信息不同，只在prefill末尾选KV可能误删。DeferKV将首次淘汰推迟一个解码步骤，把真实生成Query加入评分，再沿用原淘汰器完成选择。</a:t>
            </a:r>
          </a:p>
          <a:p>
            <a:r>
              <a:t>关键技术｜核心思路与实现方法</a:t>
            </a:r>
          </a:p>
          <a:p>
            <a:r>
              <a:t>关键效果｜基线 → 论文方案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"DeferKV：等到首个真实decode反馈再淘汰KV",</a:t>
            </a:r>
          </a:p>
          <a:p>
            <a:r>
              <a:t>    "map_label": "KV Cache × KV Cache 淘汰",</a:t>
            </a:r>
          </a:p>
          <a:p>
            <a:r>
              <a:t>    "background": "仅凭prompt末尾注意力判断后续需求容易误删KV。DeferKV等待首个真实decode query，用生成阶段信号修正一次性淘汰。",</a:t>
            </a:r>
          </a:p>
          <a:p>
            <a:r>
              <a:t>    "steps": [</a:t>
            </a:r>
          </a:p>
          <a:p>
            <a:r>
              <a:t>      "保留完整prompt KV到首个真实decode query产生。",</a:t>
            </a:r>
          </a:p>
          <a:p>
            <a:r>
              <a:t>      "将该query与最近prompt queries合并，按时间折扣加权。",</a:t>
            </a:r>
          </a:p>
          <a:p>
            <a:r>
              <a:t>      "替换原淘汰器评分；保留原有平滑、预算分配和Top-k策略。"</a:t>
            </a:r>
          </a:p>
          <a:p>
            <a:r>
              <a:t>    ],</a:t>
            </a:r>
          </a:p>
          <a:p>
            <a:r>
              <a:t>    "conditions": [</a:t>
            </a:r>
          </a:p>
          <a:p>
            <a:r>
              <a:t>      "Qwen3-8B；A100 80GB；batch=1、贪心解码。",</a:t>
            </a:r>
          </a:p>
          <a:p>
            <a:r>
              <a:t>      "效率：32k入/128出、1024 KV tokens/层，预热后五次均值。",</a:t>
            </a:r>
          </a:p>
          <a:p>
            <a:r>
              <a:t>      "质量：LongBench16任务，512 KV tokens/层；与效率预算不同。"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"未找到独立结果；论文只报告端到端总时延。"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"TPOT",</a:t>
            </a:r>
          </a:p>
          <a:p>
            <a:r>
              <a:t>        "value": "未找到独立结果；总时延11.562s不能除以128当作TPOT。"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"上述效率配置峰值22.84 GiB；缺Full KV同口径原值，无法算下降比例。"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"512 tokens/层：Full KV 49.77→48.37，−1.40分，相对损失2.81%。"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"64 tokens/层：DeferKV 43.97优于LAQ 42.45，但仍低于Full KV 49.77。",</a:t>
            </a:r>
          </a:p>
          <a:p>
            <a:r>
              <a:t>    "takeaway": "将“首个decode反馈＋时间加权”接入现有KV淘汰器，固定业务集扫描每层保留预算，并分开记录首个decode开销与稳态TPOT。先达到小于1%质量损失，再比较实际显存和时延，避免用极小预算换取失真结果。",</a:t>
            </a:r>
          </a:p>
          <a:p>
            <a:r>
              <a:t>    "locator": "v1 §4（机制）；Table1（质量）；§5.4/Fig4/Table3（效率）；Appendix B（配置）"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"2610.06286",</a:t>
            </a:r>
          </a:p>
          <a:p>
            <a:r>
              <a:t>    "version": "v1",</a:t>
            </a:r>
          </a:p>
          <a:p>
            <a:r>
              <a:t>    "short_name": "DeferKV",</a:t>
            </a:r>
          </a:p>
          <a:p>
            <a:r>
              <a:t>    "source": "https://arxiv.org/pdf/2610.06286v1",</a:t>
            </a:r>
          </a:p>
          <a:p>
            <a:r>
              <a:t>    "primary_web_verified": true,</a:t>
            </a:r>
          </a:p>
          <a:p>
            <a:r>
              <a:t>    "title": "DeferKV: Rethinking Eviction Timing for One-Shot KV Cache Compression",</a:t>
            </a:r>
          </a:p>
          <a:p>
            <a:r>
              <a:t>    "mechanisms": [</a:t>
            </a:r>
          </a:p>
          <a:p>
            <a:r>
              <a:t>      "把一次性 prompt KV 淘汰从 prefill 末尾推迟到第一个真实 decode query 出现，避免只凭提示词末尾注意力预测后续生成需求。",</a:t>
            </a:r>
          </a:p>
          <a:p>
            <a:r>
              <a:t>      "将首个真实 decode query 与最近 W−1 个 prompt queries 组成观察窗口，按时间折扣 η=0.7 加权，越接近生成阶段权重越高。",</a:t>
            </a:r>
          </a:p>
          <a:p>
            <a:r>
              <a:t>      "用新重要性分数替换底层淘汰器的 prompt-only 分数，继续使用其平滑、预算分配与Top-k策略；不需要训练、draft模型或未来query预测器。"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"metric": "TTFT",</a:t>
            </a:r>
          </a:p>
          <a:p>
            <a:r>
              <a:t>        "model": "Qwen3-8B",</a:t>
            </a:r>
          </a:p>
          <a:p>
            <a:r>
              <a:t>        "hardware": "NVIDIA A100 80GB",</a:t>
            </a:r>
          </a:p>
          <a:p>
            <a:r>
              <a:t>        "dataset": null,</a:t>
            </a:r>
          </a:p>
          <a:p>
            <a:r>
              <a:t>        "input_output": null,</a:t>
            </a:r>
          </a:p>
          <a:p>
            <a:r>
              <a:t>        "batch": 1,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"全文、§5.4、Appendix B",</a:t>
            </a:r>
          </a:p>
          <a:p>
            <a:r>
              <a:t>        "status": "not_found",</a:t>
            </a:r>
          </a:p>
          <a:p>
            <a:r>
              <a:t>        "note": "只报告端到端总延迟；不能拆成TTFT/TPOT。",</a:t>
            </a:r>
          </a:p>
          <a:p>
            <a:r>
              <a:t>        "source": "https://arxiv.org/pdf/2610.06286v1",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"TPOT",</a:t>
            </a:r>
          </a:p>
          <a:p>
            <a:r>
              <a:t>        "model": "Qwen3-8B",</a:t>
            </a:r>
          </a:p>
          <a:p>
            <a:r>
              <a:t>        "hardware": "NVIDIA A100 80GB",</a:t>
            </a:r>
          </a:p>
          <a:p>
            <a:r>
              <a:t>        "dataset": null,</a:t>
            </a:r>
          </a:p>
          <a:p>
            <a:r>
              <a:t>        "input_output": null,</a:t>
            </a:r>
          </a:p>
          <a:p>
            <a:r>
              <a:t>        "batch": 1,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"全文、§5.4、Appendix B",</a:t>
            </a:r>
          </a:p>
          <a:p>
            <a:r>
              <a:t>        "status": "not_found",</a:t>
            </a:r>
          </a:p>
          <a:p>
            <a:r>
              <a:t>        "note": "只报告端到端总延迟；不得用总延迟/128冒充TPOT。",</a:t>
            </a:r>
          </a:p>
          <a:p>
            <a:r>
              <a:t>        "source": "https://arxiv.org/pdf/2610.06286v1",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"端到端总延迟",</a:t>
            </a:r>
          </a:p>
          <a:p>
            <a:r>
              <a:t>        "model": "Qwen3-8B",</a:t>
            </a:r>
          </a:p>
          <a:p>
            <a:r>
              <a:t>        "hardware": "NVIDIA A100 80GB",</a:t>
            </a:r>
          </a:p>
          <a:p>
            <a:r>
              <a:t>        "dataset": "效率样本；延迟消融为单个32k GovReport样本",</a:t>
            </a:r>
          </a:p>
          <a:p>
            <a:r>
              <a:t>        "input_output": "32k input /128 output; prompt budget1024 tokens/layer",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"SnapKV",</a:t>
            </a:r>
          </a:p>
          <a:p>
            <a:r>
              <a:t>          "value": null,</a:t>
            </a:r>
          </a:p>
          <a:p>
            <a:r>
              <a:t>          "status": "figure_only_no_exact_value"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"DeferKV d=1",</a:t>
            </a:r>
          </a:p>
          <a:p>
            <a:r>
              <a:t>          "value": 11.562</a:t>
            </a:r>
          </a:p>
          <a:p>
            <a:r>
              <a:t>        },</a:t>
            </a:r>
          </a:p>
          <a:p>
            <a:r>
              <a:t>        "unit": "seconds",</a:t>
            </a:r>
          </a:p>
          <a:p>
            <a:r>
              <a:t>        "locator": "§5.4, Fig4, Table3, PDF p.7–8",</a:t>
            </a:r>
          </a:p>
          <a:p>
            <a:r>
              <a:t>        "status": "reported",</a:t>
            </a:r>
          </a:p>
          <a:p>
            <a:r>
              <a:t>        "note": "warm-up后5次均值；正文四舍五入11.56s。Fig4无各基线精确标签，不给精确加速百分比。",</a:t>
            </a:r>
          </a:p>
          <a:p>
            <a:r>
              <a:t>        "source": "https://arxiv.org/pdf/2610.06286v1",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"峰值GPU显存",</a:t>
            </a:r>
          </a:p>
          <a:p>
            <a:r>
              <a:t>        "model": "Qwen3-8B",</a:t>
            </a:r>
          </a:p>
          <a:p>
            <a:r>
              <a:t>        "hardware": "NVIDIA A100 80GB",</a:t>
            </a:r>
          </a:p>
          <a:p>
            <a:r>
              <a:t>        "dataset": "同上效率样本",</a:t>
            </a:r>
          </a:p>
          <a:p>
            <a:r>
              <a:t>        "input_output": "32k input /128 output; budget1024/layer",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"SnapKV",</a:t>
            </a:r>
          </a:p>
          <a:p>
            <a:r>
              <a:t>          "value": null,</a:t>
            </a:r>
          </a:p>
          <a:p>
            <a:r>
              <a:t>          "status": "figure_only_no_exact_value"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"DeferKV d=1",</a:t>
            </a:r>
          </a:p>
          <a:p>
            <a:r>
              <a:t>          "value": 22.84</a:t>
            </a:r>
          </a:p>
          <a:p>
            <a:r>
              <a:t>        },</a:t>
            </a:r>
          </a:p>
          <a:p>
            <a:r>
              <a:t>        "unit": "GiB",</a:t>
            </a:r>
          </a:p>
          <a:p>
            <a:r>
              <a:t>        "locator": "§5.4, Fig4, Table3, PDF p.7–8",</a:t>
            </a:r>
          </a:p>
          <a:p>
            <a:r>
              <a:t>        "status": "reported",</a:t>
            </a:r>
          </a:p>
          <a:p>
            <a:r>
              <a:t>        "note": "延迟和显存不同于跨100样本平均任务质量。",</a:t>
            </a:r>
          </a:p>
          <a:p>
            <a:r>
              <a:t>        "source": "https://arxiv.org/pdf/2610.06286v1",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"LongBench 16任务平均分",</a:t>
            </a:r>
          </a:p>
          <a:p>
            <a:r>
              <a:t>        "model": "Qwen3-8B",</a:t>
            </a:r>
          </a:p>
          <a:p>
            <a:r>
              <a:t>        "hardware": "NVIDIA A100 80GB",</a:t>
            </a:r>
          </a:p>
          <a:p>
            <a:r>
              <a:t>        "dataset": "LongBench 16 tasks",</a:t>
            </a:r>
          </a:p>
          <a:p>
            <a:r>
              <a:t>        "input_output": "prompt budget64 tokens/layer; greedy decoding",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"LAQ, strongest compressed baseline",</a:t>
            </a:r>
          </a:p>
          <a:p>
            <a:r>
              <a:t>          "value": 42.45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"DeferKV",</a:t>
            </a:r>
          </a:p>
          <a:p>
            <a:r>
              <a:t>          "value": 43.97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"Table1, PDF p.7",</a:t>
            </a:r>
          </a:p>
          <a:p>
            <a:r>
              <a:t>        "status": "reported",</a:t>
            </a:r>
          </a:p>
          <a:p>
            <a:r>
              <a:t>        "absolute_delta": 1.52,</a:t>
            </a:r>
          </a:p>
          <a:p>
            <a:r>
              <a:t>        "relative_change_pct": 3.5807,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"https://arxiv.org/pdf/2610.06286v1",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"LongBench 16任务平均分",</a:t>
            </a:r>
          </a:p>
          <a:p>
            <a:r>
              <a:t>        "model": "Qwen3-8B",</a:t>
            </a:r>
          </a:p>
          <a:p>
            <a:r>
              <a:t>        "hardware": "NVIDIA A100 80GB",</a:t>
            </a:r>
          </a:p>
          <a:p>
            <a:r>
              <a:t>        "dataset": "LongBench 16 tasks",</a:t>
            </a:r>
          </a:p>
          <a:p>
            <a:r>
              <a:t>        "input_output": "prompt budget64 tokens/layer; greedy decoding",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"Full KV",</a:t>
            </a:r>
          </a:p>
          <a:p>
            <a:r>
              <a:t>          "value": 49.77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"DeferKV",</a:t>
            </a:r>
          </a:p>
          <a:p>
            <a:r>
              <a:t>          "value": 43.97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"Table1, PDF p.7",</a:t>
            </a:r>
          </a:p>
          <a:p>
            <a:r>
              <a:t>        "status": "reported",</a:t>
            </a:r>
          </a:p>
          <a:p>
            <a:r>
              <a:t>        "absolute_delta": -5.8,</a:t>
            </a:r>
          </a:p>
          <a:p>
            <a:r>
              <a:t>        "relative_change_pct": -11.6536,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"https://arxiv.org/pdf/2610.06286v1",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"LongBench 16任务平均分",</a:t>
            </a:r>
          </a:p>
          <a:p>
            <a:r>
              <a:t>        "model": "Qwen3-8B",</a:t>
            </a:r>
          </a:p>
          <a:p>
            <a:r>
              <a:t>        "hardware": "NVIDIA A100 80GB",</a:t>
            </a:r>
          </a:p>
          <a:p>
            <a:r>
              <a:t>        "dataset": "LongBench 16 tasks",</a:t>
            </a:r>
          </a:p>
          <a:p>
            <a:r>
              <a:t>        "input_output": "prompt budget512 tokens/layer; greedy decoding",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"Full KV",</a:t>
            </a:r>
          </a:p>
          <a:p>
            <a:r>
              <a:t>          "value": 49.77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"DeferKV",</a:t>
            </a:r>
          </a:p>
          <a:p>
            <a:r>
              <a:t>          "value": 48.37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"Table1, PDF p.7",</a:t>
            </a:r>
          </a:p>
          <a:p>
            <a:r>
              <a:t>        "status": "reported",</a:t>
            </a:r>
          </a:p>
          <a:p>
            <a:r>
              <a:t>        "absolute_delta": -1.4,</a:t>
            </a:r>
          </a:p>
          <a:p>
            <a:r>
              <a:t>        "relative_change_pct": -2.8129,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"https://arxiv.org/pdf/2610.06286v1",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"RULER 平均准确率",</a:t>
            </a:r>
          </a:p>
          <a:p>
            <a:r>
              <a:t>        "model": "Llama-3.1-8B-Instruct",</a:t>
            </a:r>
          </a:p>
          <a:p>
            <a:r>
              <a:t>        "hardware": "NVIDIA A100 80GB",</a:t>
            </a:r>
          </a:p>
          <a:p>
            <a:r>
              <a:t>        "dataset": "RULER 11 tasks across6 lengths",</a:t>
            </a:r>
          </a:p>
          <a:p>
            <a:r>
              <a:t>        "input_output": "4k–128k input; budget1024 tokens/layer",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"LAQ strongest compressed baseline",</a:t>
            </a:r>
          </a:p>
          <a:p>
            <a:r>
              <a:t>          "value": 75.31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"DeferKV",</a:t>
            </a:r>
          </a:p>
          <a:p>
            <a:r>
              <a:t>          "value": 81.36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"Table2, §5.3, PDF p.7",</a:t>
            </a:r>
          </a:p>
          <a:p>
            <a:r>
              <a:t>        "status": "reported",</a:t>
            </a:r>
          </a:p>
          <a:p>
            <a:r>
              <a:t>        "absolute_delta": 6.05,</a:t>
            </a:r>
          </a:p>
          <a:p>
            <a:r>
              <a:t>        "relative_change_pct": 8.0335,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"https://arxiv.org/pdf/2610.06286v1",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"RULER 平均准确率",</a:t>
            </a:r>
          </a:p>
          <a:p>
            <a:r>
              <a:t>        "model": "Llama-3.1-8B-Instruct",</a:t>
            </a:r>
          </a:p>
          <a:p>
            <a:r>
              <a:t>        "hardware": "NVIDIA A100 80GB",</a:t>
            </a:r>
          </a:p>
          <a:p>
            <a:r>
              <a:t>        "dataset": "RULER 11 tasks across6 lengths",</a:t>
            </a:r>
          </a:p>
          <a:p>
            <a:r>
              <a:t>        "input_output": "4k–128k input; budget1024 tokens/layer",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"Full KV",</a:t>
            </a:r>
          </a:p>
          <a:p>
            <a:r>
              <a:t>          "value": 93.46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"DeferKV",</a:t>
            </a:r>
          </a:p>
          <a:p>
            <a:r>
              <a:t>          "value": 81.36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"Table2, PDF p.7",</a:t>
            </a:r>
          </a:p>
          <a:p>
            <a:r>
              <a:t>        "status": "reported",</a:t>
            </a:r>
          </a:p>
          <a:p>
            <a:r>
              <a:t>        "absolute_delta": -12.1,</a:t>
            </a:r>
          </a:p>
          <a:p>
            <a:r>
              <a:t>        "relative_change_pct": -12.9467,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"https://arxiv.org/pdf/2610.06286v1",</a:t>
            </a:r>
          </a:p>
          <a:p>
            <a:r>
              <a:t>        "precision": "exact table/text values; no visual curve digitization"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"slide_ready": {</a:t>
            </a:r>
          </a:p>
          <a:p>
            <a:r>
              <a:t>      "headline": "DeferKV 只等一个真实 decode query 就能改善淘汰决策，但当前小预算仍有明显质量损失",</a:t>
            </a:r>
          </a:p>
          <a:p>
            <a:r>
              <a:t>      "configuration": "Qwen3-8B｜A100 80GB｜batch=1｜32k输入/128输出｜1024 KV tokens/层（效率测试）",</a:t>
            </a:r>
          </a:p>
          <a:p>
            <a:r>
              <a:t>      "key_effect": "端到端总延迟11.562s，峰值显存22.84GiB；TTFT/TPOT未拆分报告，不给分项改善百分比。",</a:t>
            </a:r>
          </a:p>
          <a:p>
            <a:r>
              <a:t>      "quality": "LongBench 16任务：64 tokens/层时43.97，对比LAQ42.45（+1.52分），但Full KV49.77；512 tokens/层升至48.37，仍比Full KV低1.40分（相对−2.81%）。",</a:t>
            </a:r>
          </a:p>
          <a:p>
            <a:r>
              <a:t>      "decision": "优先作为现有淘汰器的小改动穿刺：固定质量门槛扫缓存预算，并单独计首个decode步骤与稳态TPOT；低成本不代表已符合&lt;1%损失。",</a:t>
            </a:r>
          </a:p>
          <a:p>
            <a:r>
              <a:t>      "memory": "峰值HBM 22.84GiB；未给Full KV同口径原值，减少百分比不明。1024/32768=3.125%的prompt保留预算不能替代显存比。"</a:t>
            </a:r>
          </a:p>
          <a:p>
            <a:r>
              <a:t>    },</a:t>
            </a:r>
          </a:p>
          <a:p>
            <a:r>
              <a:t>    "limitations": [</a:t>
            </a:r>
          </a:p>
          <a:p>
            <a:r>
              <a:t>      "论文峰值显存并非仅KV大小。",</a:t>
            </a:r>
          </a:p>
          <a:p>
            <a:r>
              <a:t>      "性能测试与LongBench平均质量的预算分别1024/层与64或512/层，不能拼成同一配置收益。",</a:t>
            </a:r>
          </a:p>
          <a:p>
            <a:r>
              <a:t>      "无昇腾实测。"</a:t>
            </a:r>
          </a:p>
          <a:p>
            <a:r>
              <a:t>    ],</a:t>
            </a:r>
          </a:p>
          <a:p>
            <a:r>
              <a:t>    "conflicts": [],</a:t>
            </a:r>
          </a:p>
          <a:p>
            <a:r>
              <a:t>    "memory": {</a:t>
            </a:r>
          </a:p>
          <a:p>
            <a:r>
              <a:t>      "kv_bytes":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</a:t>
            </a:r>
          </a:p>
          <a:p>
            <a:r>
              <a:t>      },</a:t>
            </a:r>
          </a:p>
          <a:p>
            <a:r>
              <a:t>      "total_model_memory":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</a:t>
            </a:r>
          </a:p>
          <a:p>
            <a:r>
              <a:t>      },</a:t>
            </a:r>
          </a:p>
          <a:p>
            <a:r>
              <a:t>      "peak_hbm": {</a:t>
            </a:r>
          </a:p>
          <a:p>
            <a:r>
              <a:t>        "model": "Qwen3-8B",</a:t>
            </a:r>
          </a:p>
          <a:p>
            <a:r>
              <a:t>        "context": "32k input /128 generated; budget1024/layer; batch1",</a:t>
            </a:r>
          </a:p>
          <a:p>
            <a:r>
              <a:t>        "hardware": "A100 80GB",</a:t>
            </a:r>
          </a:p>
          <a:p>
            <a:r>
              <a:t>        "baseline": null,</a:t>
            </a:r>
          </a:p>
          <a:p>
            <a:r>
              <a:t>        "treatment": 22.84,</a:t>
            </a:r>
          </a:p>
          <a:p>
            <a:r>
              <a:t>        "unit": "GiB",</a:t>
            </a:r>
          </a:p>
          <a:p>
            <a:r>
              <a:t>        "status": "reported_treatment_only",</a:t>
            </a:r>
          </a:p>
          <a:p>
            <a:r>
              <a:t>        "locator": "§5.4, Fig4, Table3, PDF p.7–8",</a:t>
            </a:r>
          </a:p>
          <a:p>
            <a:r>
              <a:t>        "note": "Fig4提供其他方法散点但无精确数字标签；Full KV未作为同图基线，不计算减少百分比。"</a:t>
            </a:r>
          </a:p>
          <a:p>
            <a:r>
              <a:t>      },</a:t>
            </a:r>
          </a:p>
          <a:p>
            <a:r>
              <a:t>      "logical_budget": {</a:t>
            </a:r>
          </a:p>
          <a:p>
            <a:r>
              <a:t>        "baseline": 32768,</a:t>
            </a:r>
          </a:p>
          <a:p>
            <a:r>
              <a:t>        "treatment": 1024,</a:t>
            </a:r>
          </a:p>
          <a:p>
            <a:r>
              <a:t>        "unit": "prompt KV tokens/layer",</a:t>
            </a:r>
          </a:p>
          <a:p>
            <a:r>
              <a:t>        "reduction_pct_derived": 96.875,</a:t>
            </a:r>
          </a:p>
          <a:p>
            <a:r>
              <a:t>        "status": "budget_ratio_not_memory_measurement",</a:t>
            </a:r>
          </a:p>
          <a:p>
            <a:r>
              <a:t>        "note": "仅prompt缓存预算，first-decode及后续新tokens另计；不能将96.875%写为峰值显存下降。"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"title": "DeferKV：先看一次真实生成需求，再决定删哪些KV",</a:t>
            </a:r>
          </a:p>
          <a:p>
            <a:r>
              <a:t>  "background": "读prompt时关注的信息不一定是生成答案时需要的信息；只用prompt末尾注意力评分，可能在开始生成前就删掉关键KV。",</a:t>
            </a:r>
          </a:p>
          <a:p>
            <a:r>
              <a:t>  "principle": "把首次淘汰推迟一个解码步骤，用真实生成信号修正KV重要性评分。",</a:t>
            </a:r>
          </a:p>
          <a:p>
            <a:r>
              <a:t>  "steps": [</a:t>
            </a:r>
          </a:p>
          <a:p>
            <a:r>
              <a:t>    "先保留完整提示词KV，等首个生成token回送模型后取得真实Query；用实际生成需求修正淘汰，避免过早误删。",</a:t>
            </a:r>
          </a:p>
          <a:p>
            <a:r>
              <a:t>    "把首个解码Query与最近提示词Query组成观察窗口，越早的Query按时间指数降权，让评分更靠近生成阶段需求。",</a:t>
            </a:r>
          </a:p>
          <a:p>
            <a:r>
              <a:t>    "新分数交给现有淘汰器，保留其平滑、预算和Top-k逻辑；无需重训，但完整提示词KV须多保留一个解码步骤。"</a:t>
            </a:r>
          </a:p>
          <a:p>
            <a:r>
              <a:t>  ],</a:t>
            </a:r>
          </a:p>
          <a:p>
            <a:r>
              <a:t>  "mechanism_detail": "一次性淘汰器在prefill末尾决定保留哪些KV，但生成答案时的信息需求可能已经变化。DeferKV等首个生成token回送模型，取得第一个真实decode Query；将它加入原观察窗口，并按离生成阶段的远近进行指数折扣加权。新评分再交给现有淘汰器的平滑、预算分配与选择逻辑。无需额外训练或预测未来Query，但完整prompt KV必须多保留一个解码步骤。",</a:t>
            </a:r>
          </a:p>
          <a:p>
            <a:r>
              <a:t>  "innovation": "改变的是首次淘汰时机和评分信号，不改模型结构、不另造预算分配器；用真实已发生的解码信号替代未来Query预测。",</a:t>
            </a:r>
          </a:p>
          <a:p>
            <a:r>
              <a:t>  "cost": "首个decode仍访问完整KV，并增加评分工作；预算过小时仍会丢信息，不能把优于旧淘汰器写成无损。",</a:t>
            </a:r>
          </a:p>
          <a:p>
            <a:r>
              <a:t>  "mechanism_labels": [</a:t>
            </a:r>
          </a:p>
          <a:p>
            <a:r>
              <a:t>    "延后首次淘汰",</a:t>
            </a:r>
          </a:p>
          <a:p>
            <a:r>
              <a:t>    "时间加权评分",</a:t>
            </a:r>
          </a:p>
          <a:p>
            <a:r>
              <a:t>    "复用原有淘汰器"</a:t>
            </a:r>
          </a:p>
          <a:p>
            <a:r>
              <a:t>  ],</a:t>
            </a:r>
          </a:p>
          <a:p>
            <a:r>
              <a:t>  "short_name": "DeferKV",</a:t>
            </a:r>
          </a:p>
          <a:p>
            <a:r>
              <a:t>  "locators": [</a:t>
            </a:r>
          </a:p>
          <a:p>
            <a:r>
              <a:t>    "§3.2–3.4 / Fig.2, PDF p.4",</a:t>
            </a:r>
          </a:p>
          <a:p>
            <a:r>
              <a:t>    "§4.1–4.3 / Fig.3 / Eq.(6)–(9), PDF p.4–6"</a:t>
            </a:r>
          </a:p>
          <a:p>
            <a:r>
              <a:t>  ],</a:t>
            </a:r>
          </a:p>
          <a:p>
            <a:r>
              <a:t>  "source_url": "https://arxiv.org/pdf/2610.06286v1",</a:t>
            </a:r>
          </a:p>
          <a:p>
            <a:r>
              <a:t>  "background_with_idea": "模型读提示词与生成答案时需要的信息不同，只在prefill末尾选KV可能误删。DeferKV将首次淘汰推迟一个解码步骤，把真实生成Query加入评分，再沿用原淘汰器完成选择。"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01 学术进展  /  KV Cache × KV Cache 淘汰</a:t>
            </a:r>
          </a:p>
          <a:p>
            <a:r>
              <a:t>Page-EntroKV：先合并共享组评分，再按页淘汰KV</a:t>
            </a:r>
          </a:p>
          <a:p>
            <a:r>
              <a:t>GQA各Query头单独选KV再取并集容易超预算，简单平均又会冲淡少数检索头的信号。Page-EntroKV先在共享组内按熵加权评分，再按页取舍，解决组内选择冲突。</a:t>
            </a:r>
          </a:p>
          <a:p>
            <a:r>
              <a:t>关键技术｜核心思路与实现方法</a:t>
            </a:r>
          </a:p>
          <a:p>
            <a:r>
              <a:t>关键效果｜基线 → 论文方案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"Page-EntroKV：按GQA共享组统一淘汰KV页",</a:t>
            </a:r>
          </a:p>
          <a:p>
            <a:r>
              <a:t>    "map_label": "KV Cache × KV Cache 淘汰",</a:t>
            </a:r>
          </a:p>
          <a:p>
            <a:r>
              <a:t>    "background": "GQA多个Query头共享KV，逐头选token后求并集会超预算；均值又可能稀释检索头。该方案先合并组内信息，再选页。",</a:t>
            </a:r>
          </a:p>
          <a:p>
            <a:r>
              <a:t>    "steps": [</a:t>
            </a:r>
          </a:p>
          <a:p>
            <a:r>
              <a:t>      "移除attention sink，用Rényi-2熵识别有效检索头。",</a:t>
            </a:r>
          </a:p>
          <a:p>
            <a:r>
              <a:t>      "组内加权汇总重要性，避免各头独立选择再取并集。",</a:t>
            </a:r>
          </a:p>
          <a:p>
            <a:r>
              <a:t>      "将token分数映射到页，按层与KV组执行预算受控淘汰。"</a:t>
            </a:r>
          </a:p>
          <a:p>
            <a:r>
              <a:t>    ],</a:t>
            </a:r>
          </a:p>
          <a:p>
            <a:r>
              <a:t>    "conditions": [</a:t>
            </a:r>
          </a:p>
          <a:p>
            <a:r>
              <a:t>      "Qwen2.5-1.5B-Instruct；单卡T4；HF eager，逻辑分页16 tokens。",</a:t>
            </a:r>
          </a:p>
          <a:p>
            <a:r>
              <a:t>      "pilot上下文约0.9k–8.2k；检索测试≤2.5k，保留预算20%。",</a:t>
            </a:r>
          </a:p>
          <a:p>
            <a:r>
              <a:t>      "A100/vLLM/128k是后续计划，尚非已测配置。"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"作者明确尚无服务级TTFT实测。"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"TPOT",</a:t>
            </a:r>
          </a:p>
          <a:p>
            <a:r>
              <a:t>        "value": "作者明确尚无服务级逐token时延或吞吐实测。"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"20%是逻辑页保留预算；KV字节、整模型显存与峰值HBM均未实测。"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"20%预算：单次池化保留率100%；严格全层保留在25%–75%位置为0%。"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"LongBench仅4×20例，缺Full KV同口径基线；不能计算精度损失，也不能宣称无损。",</a:t>
            </a:r>
          </a:p>
          <a:p>
            <a:r>
              <a:t>    "takeaway": "先在vLLM-Ascend实现“组内汇总后按页淘汰”，核对实际页占用能否严格遵守预算；再跑全层检索与业务问答。只有损失小于1%、峰值HBM确实下降且TPOT改善，才能替代现有淘汰器。",</a:t>
            </a:r>
          </a:p>
          <a:p>
            <a:r>
              <a:t>    "locator": "v1 §6.1（配置）；Table4（预算）；Table6–7（质量）；§6.5、§7（待验证项）"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"2610.03135",</a:t>
            </a:r>
          </a:p>
          <a:p>
            <a:r>
              <a:t>    "version": "v1",</a:t>
            </a:r>
          </a:p>
          <a:p>
            <a:r>
              <a:t>    "short_name": "Page-EntroKV",</a:t>
            </a:r>
          </a:p>
          <a:p>
            <a:r>
              <a:t>    "source": "https://arxiv.org/pdf/2610.03135v1",</a:t>
            </a:r>
          </a:p>
          <a:p>
            <a:r>
              <a:t>    "primary_web_verified": true,</a:t>
            </a:r>
          </a:p>
          <a:p>
            <a:r>
              <a:t>    "title": "Page-EntroKV: Hardware-Aligned, Entropy-Weighted KV-Cache Eviction under Grouped-Query Attention",</a:t>
            </a:r>
          </a:p>
          <a:p>
            <a:r>
              <a:t>    "mechanisms": [</a:t>
            </a:r>
          </a:p>
          <a:p>
            <a:r>
              <a:t>      "先在物理 GQA 共享组内合并各 Query head 的重要性，再选 KV 页，避免“每头各选一份、最终求并集”撑破缓存预算。",</a:t>
            </a:r>
          </a:p>
          <a:p>
            <a:r>
              <a:t>      "剔除 attention sink 后，用 Rényi-2 熵给检索型头更高权重，减少均值池化对少数关键检索头的稀释。",</a:t>
            </a:r>
          </a:p>
          <a:p>
            <a:r>
              <a:t>      "把 token 分数投影到固定页框，按 layer × KV group × page 逐页保留；现有验证是 HF eager 上的逻辑分页 pilot，融合 vLLM 内核尚待实现。"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"metric": "TTFT",</a:t>
            </a:r>
          </a:p>
          <a:p>
            <a:r>
              <a:t>        "model": "Qwen2.5-1.5B-Instruct",</a:t>
            </a:r>
          </a:p>
          <a:p>
            <a:r>
              <a:t>        "hardware": "1× NVIDIA T4",</a:t>
            </a:r>
          </a:p>
          <a:p>
            <a:r>
              <a:t>        "dataset": "pilot",</a:t>
            </a:r>
          </a:p>
          <a:p>
            <a:r>
              <a:t>        "input_output": "context .9k–8.2k",</a:t>
            </a:r>
          </a:p>
          <a:p>
            <a:r>
              <a:t>        "batch": null,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"§6.1 / §6.5 / §7, PDF p.11,13–15",</a:t>
            </a:r>
          </a:p>
          <a:p>
            <a:r>
              <a:t>        "status": "unreported",</a:t>
            </a:r>
          </a:p>
          <a:p>
            <a:r>
              <a:t>        "note": "作者明确写无 serving-level measurements；预注册 A100/vLLM 实验不是结果。",</a:t>
            </a:r>
          </a:p>
          <a:p>
            <a:r>
              <a:t>        "source": "https://arxiv.org/pdf/2610.03135v1",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"TPOT / inter-token latency",</a:t>
            </a:r>
          </a:p>
          <a:p>
            <a:r>
              <a:t>        "model": "Qwen2.5-1.5B-Instruct",</a:t>
            </a:r>
          </a:p>
          <a:p>
            <a:r>
              <a:t>        "hardware": "1× NVIDIA T4",</a:t>
            </a:r>
          </a:p>
          <a:p>
            <a:r>
              <a:t>        "dataset": "pilot",</a:t>
            </a:r>
          </a:p>
          <a:p>
            <a:r>
              <a:t>        "input_output": "context .9k–8.2k",</a:t>
            </a:r>
          </a:p>
          <a:p>
            <a:r>
              <a:t>        "batch": null,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"§6.1 / §6.5 / §7, PDF p.11,13–15",</a:t>
            </a:r>
          </a:p>
          <a:p>
            <a:r>
              <a:t>        "status": "unreported",</a:t>
            </a:r>
          </a:p>
          <a:p>
            <a:r>
              <a:t>        "note": "作者明确将服务吞吐、TTFT、inter-token latency 列为待做实验。",</a:t>
            </a:r>
          </a:p>
          <a:p>
            <a:r>
              <a:t>        "source": "https://arxiv.org/pdf/2610.03135v1",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"物理 KV 并集超额比 UOR（最大值）",</a:t>
            </a:r>
          </a:p>
          <a:p>
            <a:r>
              <a:t>        "model": "Qwen2.5-1.5B-Instruct; GQA r=6",</a:t>
            </a:r>
          </a:p>
          <a:p>
            <a:r>
              <a:t>        "hardware": "1× NVIDIA T4; HF transformers eager; logical page size=16",</a:t>
            </a:r>
          </a:p>
          <a:p>
            <a:r>
              <a:t>        "dataset": "真实长上下文文本，2,240 cell log；pooling 共1,008测量",</a:t>
            </a:r>
          </a:p>
          <a:p>
            <a:r>
              <a:t>        "input_output": "budget k/T=.02",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"head-independent replay",</a:t>
            </a:r>
          </a:p>
          <a:p>
            <a:r>
              <a:t>          "value": 4.75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"pooled Page-EntroKV",</a:t>
            </a:r>
          </a:p>
          <a:p>
            <a:r>
              <a:t>          "value": 1.0</a:t>
            </a:r>
          </a:p>
          <a:p>
            <a:r>
              <a:t>        },</a:t>
            </a:r>
          </a:p>
          <a:p>
            <a:r>
              <a:t>        "unit": "× nominal budget",</a:t>
            </a:r>
          </a:p>
          <a:p>
            <a:r>
              <a:t>        "locator": "Table 4b / pooled row, PDF p.13",</a:t>
            </a:r>
          </a:p>
          <a:p>
            <a:r>
              <a:t>        "status": "reported",</a:t>
            </a:r>
          </a:p>
          <a:p>
            <a:r>
              <a:t>        "note": "4.75× 来自 cell-level sweep；Table4a 不同 scorer 分层统计最大 5.10×，不可混成相同测试。UOR=1 是预算一致性，不是吞吐提升。",</a:t>
            </a:r>
          </a:p>
          <a:p>
            <a:r>
              <a:t>        "source": "https://arxiv.org/pdf/2610.03135v1",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"needle 页保留率：pooled-selection criterion",</a:t>
            </a:r>
          </a:p>
          <a:p>
            <a:r>
              <a:t>        "model": "Qwen2.5-1.5B-Instruct",</a:t>
            </a:r>
          </a:p>
          <a:p>
            <a:r>
              <a:t>        "hardware": "1× NVIDIA T4",</a:t>
            </a:r>
          </a:p>
          <a:p>
            <a:r>
              <a:t>        "dataset": "pilot needle retrieval",</a:t>
            </a:r>
          </a:p>
          <a:p>
            <a:r>
              <a:t>        "input_output": "context 959 /1469 /1989 /2499; retention 20%",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"arithmetic mean pooling",</a:t>
            </a:r>
          </a:p>
          <a:p>
            <a:r>
              <a:t>          "value": 0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"Page-EntroKV",</a:t>
            </a:r>
          </a:p>
          <a:p>
            <a:r>
              <a:t>          "value": 100</a:t>
            </a:r>
          </a:p>
          <a:p>
            <a:r>
              <a:t>        },</a:t>
            </a:r>
          </a:p>
          <a:p>
            <a:r>
              <a:t>        "unit": "% retained",</a:t>
            </a:r>
          </a:p>
          <a:p>
            <a:r>
              <a:t>        "locator": "Table 6a, PDF p.15",</a:t>
            </a:r>
          </a:p>
          <a:p>
            <a:r>
              <a:t>        "status": "reported",</a:t>
            </a:r>
          </a:p>
          <a:p>
            <a:r>
              <a:t>        "note": "只要求 pooled eviction 后页仍在，不要求所有层均保留。不是最终问答准确率。",</a:t>
            </a:r>
          </a:p>
          <a:p>
            <a:r>
              <a:t>        "source": "https://arxiv.org/pdf/2610.03135v1",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"needle 页保留率：strict all-layer criterion",</a:t>
            </a:r>
          </a:p>
          <a:p>
            <a:r>
              <a:t>        "model": "Qwen2.5-1.5B-Instruct",</a:t>
            </a:r>
          </a:p>
          <a:p>
            <a:r>
              <a:t>        "hardware": "1× NVIDIA T4",</a:t>
            </a:r>
          </a:p>
          <a:p>
            <a:r>
              <a:t>        "dataset": "pilot needle retrieval",</a:t>
            </a:r>
          </a:p>
          <a:p>
            <a:r>
              <a:t>        "input_output": "needle depth 25% /50% /75%; retention 20%",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"uncompressed",</a:t>
            </a:r>
          </a:p>
          <a:p>
            <a:r>
              <a:t>          "value": 100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"Page-EntroKV",</a:t>
            </a:r>
          </a:p>
          <a:p>
            <a:r>
              <a:t>          "value": 0</a:t>
            </a:r>
          </a:p>
          <a:p>
            <a:r>
              <a:t>        },</a:t>
            </a:r>
          </a:p>
          <a:p>
            <a:r>
              <a:t>        "unit": "% retained",</a:t>
            </a:r>
          </a:p>
          <a:p>
            <a:r>
              <a:t>        "locator": "Table 6b, §6.4, PDF p.12,15",</a:t>
            </a:r>
          </a:p>
          <a:p>
            <a:r>
              <a:t>        "status": "reported",</a:t>
            </a:r>
          </a:p>
          <a:p>
            <a:r>
              <a:t>        "note": "所有层都保留的严格指标在上述深度失败，不可只展示 100% pooled 结果。",</a:t>
            </a:r>
          </a:p>
          <a:p>
            <a:r>
              <a:t>        "source": "https://arxiv.org/pdf/2610.03135v1",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"LongBench 四个子集任务分",</a:t>
            </a:r>
          </a:p>
          <a:p>
            <a:r>
              <a:t>        "model": "Qwen2.5-1.5B-Instruct",</a:t>
            </a:r>
          </a:p>
          <a:p>
            <a:r>
              <a:t>        "hardware": "1× NVIDIA T4; HF eager",</a:t>
            </a:r>
          </a:p>
          <a:p>
            <a:r>
              <a:t>        "dataset": "qasper / multifieldqa_en / lcc / repobench-p; 20 samples each",</a:t>
            </a:r>
          </a:p>
          <a:p>
            <a:r>
              <a:t>        "input_output": "retention 20%",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"uncompressed same-harness baseline",</a:t>
            </a:r>
          </a:p>
          <a:p>
            <a:r>
              <a:t>          "value": null,</a:t>
            </a:r>
          </a:p>
          <a:p>
            <a:r>
              <a:t>          "status": "unreported"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"Page-EntroKV",</a:t>
            </a:r>
          </a:p>
          <a:p>
            <a:r>
              <a:t>          "values": {</a:t>
            </a:r>
          </a:p>
          <a:p>
            <a:r>
              <a:t>            "qasper": 38.6,</a:t>
            </a:r>
          </a:p>
          <a:p>
            <a:r>
              <a:t>            "multifieldqa_en": 44.2,</a:t>
            </a:r>
          </a:p>
          <a:p>
            <a:r>
              <a:t>            "lcc": 56.1,</a:t>
            </a:r>
          </a:p>
          <a:p>
            <a:r>
              <a:t>            "repobench-p": 44.81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 7, §6.4, PDF p.13,15",</a:t>
            </a:r>
          </a:p>
          <a:p>
            <a:r>
              <a:t>        "status": "reported",</a:t>
            </a:r>
          </a:p>
          <a:p>
            <a:r>
              <a:t>        "note": "缺少同框架未压缩基线；其余11子集因答案抽取错误被排除，不能给精度损失百分比。",</a:t>
            </a:r>
          </a:p>
          <a:p>
            <a:r>
              <a:t>        "source": "https://arxiv.org/pdf/2610.03135v1",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"slide_ready": {</a:t>
            </a:r>
          </a:p>
          <a:p>
            <a:r>
              <a:t>      "headline": "Page-EntroKV 解决 GQA 缓存预算失真，当前证据尚不能证明服务加速或质量无损",</a:t>
            </a:r>
          </a:p>
          <a:p>
            <a:r>
              <a:t>      "configuration": "Qwen2.5-1.5B-Instruct｜单卡 T4｜HF eager｜page=16 的逻辑模拟｜最多约8.2k上下文",</a:t>
            </a:r>
          </a:p>
          <a:p>
            <a:r>
              <a:t>      "key_effect": "2% 预算下，逐头独立选择最大 UOR 4.75×；先组内合并后 UOR=1.000。TTFT、TPOT、吞吐尚未实测。",</a:t>
            </a:r>
          </a:p>
          <a:p>
            <a:r>
              <a:t>      "quality": "20%保留预算，pooling 层面的 needle 保留率 100%；严格要求每层保留时，25%–75%位置均失败。LongBench 只有4×20样本且无同口径 Full KV 基线。",</a:t>
            </a:r>
          </a:p>
          <a:p>
            <a:r>
              <a:t>      "decision": "先用真实 vLLM-Ascend 页管理复现“实际占用是否等于预算”，再测严格全层召回与服务延迟；不能列为已证实的低损耗部署方案。",</a:t>
            </a:r>
          </a:p>
          <a:p>
            <a:r>
              <a:t>      "memory": "20%页保留是预算而非实测显存；未报告KV GiB、模型总内存和峰值HBM对照。"</a:t>
            </a:r>
          </a:p>
          <a:p>
            <a:r>
              <a:t>    },</a:t>
            </a:r>
          </a:p>
          <a:p>
            <a:r>
              <a:t>    "limitations": [</a:t>
            </a:r>
          </a:p>
          <a:p>
            <a:r>
              <a:t>      "预注册 Llama-3.1-8B / A100 / vLLM / 128k 配置是计划，不能进入已测配置栏。",</a:t>
            </a:r>
          </a:p>
          <a:p>
            <a:r>
              <a:t>      "两内核融合方案属于设计，开源发布列为 future work。"</a:t>
            </a:r>
          </a:p>
          <a:p>
            <a:r>
              <a:t>    ],</a:t>
            </a:r>
          </a:p>
          <a:p>
            <a:r>
              <a:t>    "conflicts": [</a:t>
            </a:r>
          </a:p>
          <a:p>
            <a:r>
              <a:t>      "摘要强调 pooled 100% recall，Table6b strict all-layer failure 必须并列披露。",</a:t>
            </a:r>
          </a:p>
          <a:p>
            <a:r>
              <a:t>      "Table4a 最大5.10×和Table4b最大4.75×属于不同聚合口径，数字均有来源，但不可互换。"</a:t>
            </a:r>
          </a:p>
          <a:p>
            <a:r>
              <a:t>    ],</a:t>
            </a:r>
          </a:p>
          <a:p>
            <a:r>
              <a:t>    "memory": {</a:t>
            </a:r>
          </a:p>
          <a:p>
            <a:r>
              <a:t>      "kv_bytes":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"unreported",</a:t>
            </a:r>
          </a:p>
          <a:p>
            <a:r>
              <a:t>        "note": "pilot报告预算和页基数，没有实测KV字节或峰值HBM。"</a:t>
            </a:r>
          </a:p>
          <a:p>
            <a:r>
              <a:t>      },</a:t>
            </a:r>
          </a:p>
          <a:p>
            <a:r>
              <a:t>      "logical_retention": {</a:t>
            </a:r>
          </a:p>
          <a:p>
            <a:r>
              <a:t>        "baseline": 100,</a:t>
            </a:r>
          </a:p>
          <a:p>
            <a:r>
              <a:t>        "treatment": 20,</a:t>
            </a:r>
          </a:p>
          <a:p>
            <a:r>
              <a:t>        "unit": "% token/page budget",</a:t>
            </a:r>
          </a:p>
          <a:p>
            <a:r>
              <a:t>        "status": "reported",</a:t>
            </a:r>
          </a:p>
          <a:p>
            <a:r>
              <a:t>        "locator": "Table6–7",</a:t>
            </a:r>
          </a:p>
          <a:p>
            <a:r>
              <a:t>        "note": "80%逻辑保留预算减少，不等于实测总显存减少80%。"</a:t>
            </a:r>
          </a:p>
          <a:p>
            <a:r>
              <a:t>      },</a:t>
            </a:r>
          </a:p>
          <a:p>
            <a:r>
              <a:t>      "structural_byte_estimate": {</a:t>
            </a:r>
          </a:p>
          <a:p>
            <a:r>
              <a:t>        "baseline": 1,</a:t>
            </a:r>
          </a:p>
          <a:p>
            <a:r>
              <a:t>        "treatment": 0.2,</a:t>
            </a:r>
          </a:p>
          <a:p>
            <a:r>
              <a:t>        "unit": "same-dtype retained page payload ratio",</a:t>
            </a:r>
          </a:p>
          <a:p>
            <a:r>
              <a:t>        "reduction_pct_derived": 80,</a:t>
            </a:r>
          </a:p>
          <a:p>
            <a:r>
              <a:t>        "status": "conditional_design_accounting",</a:t>
            </a:r>
          </a:p>
          <a:p>
            <a:r>
              <a:t>        "note": "仅在固定页大小、数据类型、无额外副本等条件下，保留KV页载荷随页数线性减少；元数据、激活、模型参数与临时空间另计。"</a:t>
            </a:r>
          </a:p>
          <a:p>
            <a:r>
              <a:t>      },</a:t>
            </a:r>
          </a:p>
          <a:p>
            <a:r>
              <a:t>      "total_model_memory":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"unreported"</a:t>
            </a:r>
          </a:p>
          <a:p>
            <a:r>
              <a:t>      },</a:t>
            </a:r>
          </a:p>
          <a:p>
            <a:r>
              <a:t>      "peak_hbm":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"unreported"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"title": "Page-EntroKV：先合并共享组评分，再按页淘汰KV",</a:t>
            </a:r>
          </a:p>
          <a:p>
            <a:r>
              <a:t>  "background": "GQA多个Query头共用KV：各头分别选token再取并集会超预算；直接平均又可能冲淡少数检索头找到的关键信息。",</a:t>
            </a:r>
          </a:p>
          <a:p>
            <a:r>
              <a:t>  "principle": "让共用同一份KV的Query头先形成统一评分，再决定保留哪些页。",</a:t>
            </a:r>
          </a:p>
          <a:p>
            <a:r>
              <a:t>  "steps": [</a:t>
            </a:r>
          </a:p>
          <a:p>
            <a:r>
              <a:t>    "仅在计算熵时排除首部sink并重新归一化，避免“只盯开头”的低熵头被误判为检索头；不是删除这些token。",</a:t>
            </a:r>
          </a:p>
          <a:p>
            <a:r>
              <a:t>    "在共享同一份KV的Query组内，用负熵softmax加权汇总token分数；关注少数有效位置的头权重更高。",</a:t>
            </a:r>
          </a:p>
          <a:p>
            <a:r>
              <a:t>    "页分数取页内最高token分数，再按配额保留高分页；避免逐头各选再并集，但跨KV组物理页仍需取并集。"</a:t>
            </a:r>
          </a:p>
          <a:p>
            <a:r>
              <a:t>  ],</a:t>
            </a:r>
          </a:p>
          <a:p>
            <a:r>
              <a:t>  "mechanism_detail": "GQA各Query头独立选token后取并集，会让同组实际保留量膨胀；简单平均又会稀释检索信号。Page-EntroKV先排除首部sink对熵的干扰，用Rényi-2熵给组内各头加权，再汇成一份token分数。页分数取其中最大值，按配额保留高分页。它解决的是组内选择冲突；跨KV组的物理页仍需取并集，不能等同于已实现严格的总显存预算。",</a:t>
            </a:r>
          </a:p>
          <a:p>
            <a:r>
              <a:t>  "innovation": "把选择单位对齐GQA共享组和分页缓存；熵加权保护少数检索头，页内最大值避免一个关键token被整页均值稀释。",</a:t>
            </a:r>
          </a:p>
          <a:p>
            <a:r>
              <a:t>  "cost": "需要读取注意力统计并执行页选择；现有结果为小规模逻辑分页试验，服务级时延、真实页释放和跨组物理占用未证实。",</a:t>
            </a:r>
          </a:p>
          <a:p>
            <a:r>
              <a:t>  "mechanism_labels": [</a:t>
            </a:r>
          </a:p>
          <a:p>
            <a:r>
              <a:t>    "隔离sink干扰",</a:t>
            </a:r>
          </a:p>
          <a:p>
            <a:r>
              <a:t>    "组内熵加权",</a:t>
            </a:r>
          </a:p>
          <a:p>
            <a:r>
              <a:t>    "页级Top-k选择"</a:t>
            </a:r>
          </a:p>
          <a:p>
            <a:r>
              <a:t>  ],</a:t>
            </a:r>
          </a:p>
          <a:p>
            <a:r>
              <a:t>  "takeaway": "先在vLLM-Ascend接入“组内汇总后按页淘汰”，分开记录组内保留量、跨KV组页并集和实际释放的HBM；用全层检索与业务问答验证损失小于1%，再比较TTFT与TPOT。20%逻辑保留预算不能直接写成80%显存节省。",</a:t>
            </a:r>
          </a:p>
          <a:p>
            <a:r>
              <a:t>  "short_name": "Page-EntroKV",</a:t>
            </a:r>
          </a:p>
          <a:p>
            <a:r>
              <a:t>  "locators": [</a:t>
            </a:r>
          </a:p>
          <a:p>
            <a:r>
              <a:t>    "§4.1 / Definition 4–5, PDF p.6",</a:t>
            </a:r>
          </a:p>
          <a:p>
            <a:r>
              <a:t>    "§4.2 / Eq.(20)–(22) / Fig.2, PDF p.7",</a:t>
            </a:r>
          </a:p>
          <a:p>
            <a:r>
              <a:t>    "§4.2 / Proposition 4, PDF p.8",</a:t>
            </a:r>
          </a:p>
          <a:p>
            <a:r>
              <a:t>    "§6.1, §6.5, §7"</a:t>
            </a:r>
          </a:p>
          <a:p>
            <a:r>
              <a:t>  ],</a:t>
            </a:r>
          </a:p>
          <a:p>
            <a:r>
              <a:t>  "source_url": "https://arxiv.org/pdf/2610.03135v1",</a:t>
            </a:r>
          </a:p>
          <a:p>
            <a:r>
              <a:t>  "background_with_idea": "GQA各Query头单独选KV再取并集容易超预算，简单平均又会冲淡少数检索头的信号。Page-EntroKV先在共享组内按熵加权评分，再按页取舍，解决组内选择冲突。"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深入解读：</a:t>
            </a:r>
          </a:p>
          <a:p>
            <a:r>
              <a:t>这一页的定位是容量研究，暂时不是加速方案。普通SVD只让KV数值接近，不知道哪些误差真正影响注意力；AttSVD按Query协方差加权Key，按token收到的注意力质量加权Value，再做低秩分解。它保留所有token位置，但数值是有损重建。低秩因子持久存储，每步decode仍逐层重建KV，近期token保持原值；Stream限制精确窗口，历史压缩块仍会积累。论文Qwen3-8B在32k的KV张量4.500到2.260GiB；另一个50%缓存质量实验LongBench均分51.8到51.8。它们不是同一服务配置的完整性能闭环。我们的验证要先看同缓存字节下加权是否优于raw SVD，再把分解、重建和临时峰值全部算入，看同SLO是否真的增加并发。</a:t>
            </a:r>
          </a:p>
          <a:p/>
          <a:p>
            <a:r>
              <a:t>问：既然所有token都保留，为什么还需要测检索质量？</a:t>
            </a:r>
          </a:p>
          <a:p>
            <a:r>
              <a:t>答：保留的是位置，截断秩后的K/V数值并不等于原值。注意力加权优化的是特定误差目标，不能保证所有下游任务无损；平均分相同也可能掩盖关键检索子任务退化。</a:t>
            </a:r>
          </a:p>
          <a:p/>
          <a:p>
            <a:r>
              <a:t>问：KV减半为什么不一定让TPOT变快或峰值显存减半？</a:t>
            </a:r>
          </a:p>
          <a:p>
            <a:r>
              <a:t>答：4.500到2.260GiB是持久KV张量范围，未包含全部模型驻留、逐层重建临时空间及调度。每步重建和分块SVD新增计算；论文缺服务时延实测，因此需要单独测TTFT、首个decode、稳态TPOT及完整生命周期峰值。</a:t>
            </a:r>
          </a:p>
          <a:p/>
          <a:p>
            <a:r>
              <a:t>问：Stream是否保证整个KV缓存有界？</a:t>
            </a:r>
          </a:p>
          <a:p>
            <a:r>
              <a:t>答：精确尾部窗口有界，但老token被压成块后仍随生成长度累积。因此不是总KV恒定。实验必须覆盖真实长输出，并核算每块因子、元数据和临时重建空间，不能只测初始prompt压缩率。</a:t>
            </a:r>
          </a:p>
          <a:p/>
          <a:p>
            <a:r>
              <a:t>阅读衔接：容量候选必须补上服务级代价。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"AttSVD：按注意力方向分解KV，保留全部token",</a:t>
            </a:r>
          </a:p>
          <a:p>
            <a:r>
              <a:t>    "map_label": "KV Cache × 低秩分解",</a:t>
            </a:r>
          </a:p>
          <a:p>
            <a:r>
              <a:t>    "background": "淘汰token会不可逆地丢失信息。AttSVD保留全部位置，按当前prompt的注意力结构选低秩方向，减少每个token的存储。",</a:t>
            </a:r>
          </a:p>
          <a:p>
            <a:r>
              <a:t>    "steps": [</a:t>
            </a:r>
          </a:p>
          <a:p>
            <a:r>
              <a:t>      "Key按Query协方差、Value按token注意力权重加权后做SVD。",</a:t>
            </a:r>
          </a:p>
          <a:p>
            <a:r>
              <a:t>      "为K/V分别选秩，将缓存保存为低秩因子和精确尾部。",</a:t>
            </a:r>
          </a:p>
          <a:p>
            <a:r>
              <a:t>      "逐层按需还原；Stream再压缩过旧decode块，限制尾部增长。"</a:t>
            </a:r>
          </a:p>
          <a:p>
            <a:r>
              <a:t>    ],</a:t>
            </a:r>
          </a:p>
          <a:p>
            <a:r>
              <a:t>    "conditions": [</a:t>
            </a:r>
          </a:p>
          <a:p>
            <a:r>
              <a:t>      "Qwen3-8B，BF16、rank64；KV内存测试32k上下文。",</a:t>
            </a:r>
          </a:p>
          <a:p>
            <a:r>
              <a:t>      "质量：LongBench九任务、1750例，50%缓存；与内存分测。",</a:t>
            </a:r>
          </a:p>
          <a:p>
            <a:r>
              <a:t>      "全文未找到明确GPU型号、batch及分项时延结果。"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"未找到实测；在线SVD引入的预处理耗时尚不明确。"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"TPOT",</a:t>
            </a:r>
          </a:p>
          <a:p>
            <a:r>
              <a:t>        "value": "未找到实测；按层重建及Stream分块SVD成本须补测。"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"Qwen3-8B@32k：KV张量4.500→2.260 GiB，−49.8%；非整模型峰值。"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"同模型LongBench均分：Dense 51.8→Accum 51.8/Stream 51.9；非逐任务无损。"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"Phi-4同为50%缓存时36.7→36.0，相对损失1.91%；不能将小于1分写成小于1%。",</a:t>
            </a:r>
          </a:p>
          <a:p>
            <a:r>
              <a:t>    "takeaway": "优先验证注意力加权与K/V独立动态秩，先以较高保留率找业务损失小于1%的配置。同步计入SVD、重建和精确尾部的总成本；若仅省缓存却拖慢TTFT或TPOT，则不作为低时延部署方案。",</a:t>
            </a:r>
          </a:p>
          <a:p>
            <a:r>
              <a:t>    "locator": "v1 §3/Algorithm2（机制）；Table1（内存）；Table2（质量）；§4/Appendix D（配置）"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"2610.06927",</a:t>
            </a:r>
          </a:p>
          <a:p>
            <a:r>
              <a:t>    "version": "v1",</a:t>
            </a:r>
          </a:p>
          <a:p>
            <a:r>
              <a:t>    "short_name": "AttSVD",</a:t>
            </a:r>
          </a:p>
          <a:p>
            <a:r>
              <a:t>    "source": "https://arxiv.org/pdf/2610.06927v1",</a:t>
            </a:r>
          </a:p>
          <a:p>
            <a:r>
              <a:t>    "primary_web_verified": true,</a:t>
            </a:r>
          </a:p>
          <a:p>
            <a:r>
              <a:t>    "title": "AttSVD: Prompt-Adaptive Low-Rank KV Cache Compression via Attention-Guided SVD",</a:t>
            </a:r>
          </a:p>
          <a:p>
            <a:r>
              <a:t>    "mechanisms": [</a:t>
            </a:r>
          </a:p>
          <a:p>
            <a:r>
              <a:t>      "每个 prompt、每层、每个 KV head 在线求低秩分解，保留所有 token；Key 按 Query 协方差加权，Value 按注意力质量加权，避免只优化原始 KV 重建误差。",</a:t>
            </a:r>
          </a:p>
          <a:p>
            <a:r>
              <a:t>      "按各矩阵的奇异值能量独立选择 Key/Value 秩，Key 可以降得更多，Value 可保持更高秩；支持固定秩与能量阈值两种控制。",</a:t>
            </a:r>
          </a:p>
          <a:p>
            <a:r>
              <a:t>      "缓存只存低秩因子和精确尾部，Decode 按层还原；Accum 保留新 token 精确尾部，Stream 把过旧 token 分块压缩，限制尾部增长。"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"metric": "TTFT",</a:t>
            </a:r>
          </a:p>
          <a:p>
            <a:r>
              <a:t>        "model": "Phi-4-14B / Qwen3-8B / Llama-3.1-8B-Instruct",</a:t>
            </a:r>
          </a:p>
          <a:p>
            <a:r>
              <a:t>        "hardware": "未找到设备型号",</a:t>
            </a:r>
          </a:p>
          <a:p>
            <a:r>
              <a:t>        "dataset": null,</a:t>
            </a:r>
          </a:p>
          <a:p>
            <a:r>
              <a:t>        "input_output": null,</a:t>
            </a:r>
          </a:p>
          <a:p>
            <a:r>
              <a:t>        "batch": null,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"全文、§4、Appendix D",</a:t>
            </a:r>
          </a:p>
          <a:p>
            <a:r>
              <a:t>        "status": "not_found",</a:t>
            </a:r>
          </a:p>
          <a:p>
            <a:r>
              <a:t>        "note": "未找到 TTFT 数值；在线 SVD 的耗时不能省略或猜测。",</a:t>
            </a:r>
          </a:p>
          <a:p>
            <a:r>
              <a:t>        "source": "https://arxiv.org/pdf/2610.06927v1",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"TPOT",</a:t>
            </a:r>
          </a:p>
          <a:p>
            <a:r>
              <a:t>        "model": "Phi-4-14B / Qwen3-8B / Llama-3.1-8B-Instruct",</a:t>
            </a:r>
          </a:p>
          <a:p>
            <a:r>
              <a:t>        "hardware": "未找到设备型号",</a:t>
            </a:r>
          </a:p>
          <a:p>
            <a:r>
              <a:t>        "dataset": null,</a:t>
            </a:r>
          </a:p>
          <a:p>
            <a:r>
              <a:t>        "input_output": null,</a:t>
            </a:r>
          </a:p>
          <a:p>
            <a:r>
              <a:t>        "batch": null,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"全文、§4、Appendix D",</a:t>
            </a:r>
          </a:p>
          <a:p>
            <a:r>
              <a:t>        "status": "not_found",</a:t>
            </a:r>
          </a:p>
          <a:p>
            <a:r>
              <a:t>        "note": "未找到 TPOT 或 decode latency 实测。按层重建与 stream SVD 的代价尚无数值。",</a:t>
            </a:r>
          </a:p>
          <a:p>
            <a:r>
              <a:t>        "source": "https://arxiv.org/pdf/2610.06927v1",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"KV 实际张量存储",</a:t>
            </a:r>
          </a:p>
          <a:p>
            <a:r>
              <a:t>        "model": "Qwen3-8B; 36 layers; 8 KV heads; d=128; BF16",</a:t>
            </a:r>
          </a:p>
          <a:p>
            <a:r>
              <a:t>        "hardware": "未找到设备型号",</a:t>
            </a:r>
          </a:p>
          <a:p>
            <a:r>
              <a:t>        "dataset": "prefill forward cache accounting",</a:t>
            </a:r>
          </a:p>
          <a:p>
            <a:r>
              <a:t>        "input_output": "32k context",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"dense rank128",</a:t>
            </a:r>
          </a:p>
          <a:p>
            <a:r>
              <a:t>          "value": 4.5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"AttSVD rank64",</a:t>
            </a:r>
          </a:p>
          <a:p>
            <a:r>
              <a:t>          "value": 2.26</a:t>
            </a:r>
          </a:p>
          <a:p>
            <a:r>
              <a:t>        },</a:t>
            </a:r>
          </a:p>
          <a:p>
            <a:r>
              <a:t>        "unit": "GiB",</a:t>
            </a:r>
          </a:p>
          <a:p>
            <a:r>
              <a:t>        "locator": "Table1, PDF p.7",</a:t>
            </a:r>
          </a:p>
          <a:p>
            <a:r>
              <a:t>        "status": "reported",</a:t>
            </a:r>
          </a:p>
          <a:p>
            <a:r>
              <a:t>        "absolute_delta": -2.24,</a:t>
            </a:r>
          </a:p>
          <a:p>
            <a:r>
              <a:t>        "relative_change_pct": -49.7778,</a:t>
            </a:r>
          </a:p>
          <a:p>
            <a:r>
              <a:t>        "direction": "lower_is_better",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"note": "缩小约49.78%；因子+精确尾部计入。非整模型峰值显存。",</a:t>
            </a:r>
          </a:p>
          <a:p>
            <a:r>
              <a:t>        "source": "https://arxiv.org/pdf/2610.06927v1",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"LongBench 九任务平均分",</a:t>
            </a:r>
          </a:p>
          <a:p>
            <a:r>
              <a:t>        "model": "Qwen3-8B",</a:t>
            </a:r>
          </a:p>
          <a:p>
            <a:r>
              <a:t>        "hardware": "未找到设备型号",</a:t>
            </a:r>
          </a:p>
          <a:p>
            <a:r>
              <a:t>        "dataset": "LongBench 9 tasks; 1750 examples",</a:t>
            </a:r>
          </a:p>
          <a:p>
            <a:r>
              <a:t>        "input_output": "50% cache; rank64; output task-dependent",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"dense",</a:t>
            </a:r>
          </a:p>
          <a:p>
            <a:r>
              <a:t>          "value": 51.8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"AttSVD-Accum",</a:t>
            </a:r>
          </a:p>
          <a:p>
            <a:r>
              <a:t>          "value": 51.8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"Table2, PDF p.7",</a:t>
            </a:r>
          </a:p>
          <a:p>
            <a:r>
              <a:t>        "status": "reported",</a:t>
            </a:r>
          </a:p>
          <a:p>
            <a:r>
              <a:t>        "absolute_delta": 0.0,</a:t>
            </a:r>
          </a:p>
          <a:p>
            <a:r>
              <a:t>        "relative_change_pct": 0.0,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"https://arxiv.org/pdf/2610.06927v1",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"LongBench 九任务平均分",</a:t>
            </a:r>
          </a:p>
          <a:p>
            <a:r>
              <a:t>        "model": "Qwen3-8B",</a:t>
            </a:r>
          </a:p>
          <a:p>
            <a:r>
              <a:t>        "hardware": "未找到设备型号",</a:t>
            </a:r>
          </a:p>
          <a:p>
            <a:r>
              <a:t>        "dataset": "LongBench 9 tasks; 1750 examples",</a:t>
            </a:r>
          </a:p>
          <a:p>
            <a:r>
              <a:t>        "input_output": "50% cache; rank64; stream w=64",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"dense",</a:t>
            </a:r>
          </a:p>
          <a:p>
            <a:r>
              <a:t>          "value": 51.8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"AttSVD-Stream",</a:t>
            </a:r>
          </a:p>
          <a:p>
            <a:r>
              <a:t>          "value": 51.9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"Table2, PDF p.7",</a:t>
            </a:r>
          </a:p>
          <a:p>
            <a:r>
              <a:t>        "status": "reported",</a:t>
            </a:r>
          </a:p>
          <a:p>
            <a:r>
              <a:t>        "absolute_delta": 0.1,</a:t>
            </a:r>
          </a:p>
          <a:p>
            <a:r>
              <a:t>        "relative_change_pct": 0.1931,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"https://arxiv.org/pdf/2610.06927v1",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"LongBench 九任务平均分",</a:t>
            </a:r>
          </a:p>
          <a:p>
            <a:r>
              <a:t>        "model": "Phi-4-14B",</a:t>
            </a:r>
          </a:p>
          <a:p>
            <a:r>
              <a:t>        "hardware": "未找到设备型号",</a:t>
            </a:r>
          </a:p>
          <a:p>
            <a:r>
              <a:t>        "dataset": "LongBench 9 tasks; 1750 examples",</a:t>
            </a:r>
          </a:p>
          <a:p>
            <a:r>
              <a:t>        "input_output": "50% cache; rank64",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"dense",</a:t>
            </a:r>
          </a:p>
          <a:p>
            <a:r>
              <a:t>          "value": 36.7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"AttSVD-Accum",</a:t>
            </a:r>
          </a:p>
          <a:p>
            <a:r>
              <a:t>          "value": 36.0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"Table2, PDF p.7",</a:t>
            </a:r>
          </a:p>
          <a:p>
            <a:r>
              <a:t>        "status": "reported",</a:t>
            </a:r>
          </a:p>
          <a:p>
            <a:r>
              <a:t>        "absolute_delta": -0.7,</a:t>
            </a:r>
          </a:p>
          <a:p>
            <a:r>
              <a:t>        "relative_change_pct": -1.9074,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"note": "下降0.7分但相对损失约1.91%，不能把“&lt;1分”写成“&lt;1%”。",</a:t>
            </a:r>
          </a:p>
          <a:p>
            <a:r>
              <a:t>        "source": "https://arxiv.org/pdf/2610.06927v1",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"LongBench 九任务平均分",</a:t>
            </a:r>
          </a:p>
          <a:p>
            <a:r>
              <a:t>        "model": "Phi-4-14B",</a:t>
            </a:r>
          </a:p>
          <a:p>
            <a:r>
              <a:t>        "hardware": "未找到设备型号",</a:t>
            </a:r>
          </a:p>
          <a:p>
            <a:r>
              <a:t>        "dataset": "LongBench 9 tasks; 1750 examples",</a:t>
            </a:r>
          </a:p>
          <a:p>
            <a:r>
              <a:t>        "input_output": "energy threshold .997; approximately75% cache; keyrank≈65,valuerank≈127",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"dense",</a:t>
            </a:r>
          </a:p>
          <a:p>
            <a:r>
              <a:t>          "value": 36.7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"AttSVD dynamic",</a:t>
            </a:r>
          </a:p>
          <a:p>
            <a:r>
              <a:t>          "value": 36.5</a:t>
            </a:r>
          </a:p>
          <a:p>
            <a:r>
              <a:t>        },</a:t>
            </a:r>
          </a:p>
          <a:p>
            <a:r>
              <a:t>        "unit": "score /100",</a:t>
            </a:r>
          </a:p>
          <a:p>
            <a:r>
              <a:t>        "locator": "Table4, §4.3, PDF p.9",</a:t>
            </a:r>
          </a:p>
          <a:p>
            <a:r>
              <a:t>        "status": "reported",</a:t>
            </a:r>
          </a:p>
          <a:p>
            <a:r>
              <a:t>        "absolute_delta": -0.2,</a:t>
            </a:r>
          </a:p>
          <a:p>
            <a:r>
              <a:t>        "relative_change_pct": -0.545,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"note": "相对平均分损失约0.54%；这不等同业务所有子任务&lt;1%，并且缓存节省仅约25%。",</a:t>
            </a:r>
          </a:p>
          <a:p>
            <a:r>
              <a:t>        "source": "https://arxiv.org/pdf/2610.06927v1",</a:t>
            </a:r>
          </a:p>
          <a:p>
            <a:r>
              <a:t>        "precision": "exact table/text values; no visual curve digitization"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"slide_ready": {</a:t>
            </a:r>
          </a:p>
          <a:p>
            <a:r>
              <a:t>      "headline": "AttSVD 用注意力加权低秩保留全部 token；质量与缓存已有数据，速度仍是空白",</a:t>
            </a:r>
          </a:p>
          <a:p>
            <a:r>
              <a:t>      "configuration": "Qwen3-8B / Phi-4-14B｜LongBench 9任务1750例｜BF16缓存｜硬件、batch未找到明确值",</a:t>
            </a:r>
          </a:p>
          <a:p>
            <a:r>
              <a:t>      "key_effect": "Qwen3-8B 32k KV 张量存储 4.500→2.260 GiB（−49.8%）；TTFT 和 TPOT 未找到实测。",</a:t>
            </a:r>
          </a:p>
          <a:p>
            <a:r>
              <a:t>      "quality": "50%缓存：Qwen3-8B均分51.8→51.8（Accum）/51.9（Stream）；Phi-4均分36.7→36.0（相对−1.91%）。Phi-4采用动态秩、约75%缓存时36.7→36.5。",</a:t>
            </a:r>
          </a:p>
          <a:p>
            <a:r>
              <a:t>      "decision": "适合优先验证“动态秩是否保住业务质量”；必须测在线 SVD、重建和 stream 分块压缩成本，再判断是否满足时延目标。",</a:t>
            </a:r>
          </a:p>
          <a:p>
            <a:r>
              <a:t>      "memory": "Qwen3-8B 32k KV实测张量4.500→2.260 GiB（−49.8%）；Phi-4-14B为6.250→3.139 GiB（−49.8%）。总峰值HBM未给。"</a:t>
            </a:r>
          </a:p>
          <a:p>
            <a:r>
              <a:t>    },</a:t>
            </a:r>
          </a:p>
          <a:p>
            <a:r>
              <a:t>    "limitations": [</a:t>
            </a:r>
          </a:p>
          <a:p>
            <a:r>
              <a:t>      "全文未找到硬件型号、batch与独立时延表。",</a:t>
            </a:r>
          </a:p>
          <a:p>
            <a:r>
              <a:t>      "平均分不下降不代表每个任务不下降。",</a:t>
            </a:r>
          </a:p>
          <a:p>
            <a:r>
              <a:t>      "未报告昇腾或Qwen3.8-27B结果。"</a:t>
            </a:r>
          </a:p>
          <a:p>
            <a:r>
              <a:t>    ],</a:t>
            </a:r>
          </a:p>
          <a:p>
            <a:r>
              <a:t>    "conflicts": [</a:t>
            </a:r>
          </a:p>
          <a:p>
            <a:r>
              <a:t>      "Table2 caption称匹配dense，但Phi-4-14B均分下降0.7分、Stream下降1.0分，需展示实际数值。",</a:t>
            </a:r>
          </a:p>
          <a:p>
            <a:r>
              <a:t>      "Appendix D.1声称两模式8/9任务完全相同，但Table2 Phi-4大多数任务数值不同；不能照抄该断言。"</a:t>
            </a:r>
          </a:p>
          <a:p>
            <a:r>
              <a:t>    ],</a:t>
            </a:r>
          </a:p>
          <a:p>
            <a:r>
              <a:t>    "memory": {</a:t>
            </a:r>
          </a:p>
          <a:p>
            <a:r>
              <a:t>      "kv_bytes": [</a:t>
            </a:r>
          </a:p>
          <a:p>
            <a:r>
              <a:t>        {</a:t>
            </a:r>
          </a:p>
          <a:p>
            <a:r>
              <a:t>          "model": "Qwen3-8B",</a:t>
            </a:r>
          </a:p>
          <a:p>
            <a:r>
              <a:t>          "context": "32k",</a:t>
            </a:r>
          </a:p>
          <a:p>
            <a:r>
              <a:t>          "baseline": 4.5,</a:t>
            </a:r>
          </a:p>
          <a:p>
            <a:r>
              <a:t>          "treatment": 2.26,</a:t>
            </a:r>
          </a:p>
          <a:p>
            <a:r>
              <a:t>          "unit": "GiB",</a:t>
            </a:r>
          </a:p>
          <a:p>
            <a:r>
              <a:t>          "reduction_pct_derived": 49.7778,</a:t>
            </a:r>
          </a:p>
          <a:p>
            <a:r>
              <a:t>          "status": "measured_tensor_bytes",</a:t>
            </a:r>
          </a:p>
          <a:p>
            <a:r>
              <a:t>          "locator": "Table1, PDF p.7",</a:t>
            </a:r>
          </a:p>
          <a:p>
            <a:r>
              <a:t>          "note": "rank64 vs dense rank128;因子和精确尾部计入。"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"model": "Phi-4-14B",</a:t>
            </a:r>
          </a:p>
          <a:p>
            <a:r>
              <a:t>          "context": "32k",</a:t>
            </a:r>
          </a:p>
          <a:p>
            <a:r>
              <a:t>          "baseline": 6.25,</a:t>
            </a:r>
          </a:p>
          <a:p>
            <a:r>
              <a:t>          "treatment": 3.139,</a:t>
            </a:r>
          </a:p>
          <a:p>
            <a:r>
              <a:t>          "unit": "GiB",</a:t>
            </a:r>
          </a:p>
          <a:p>
            <a:r>
              <a:t>          "reduction_pct_derived": 49.776,</a:t>
            </a:r>
          </a:p>
          <a:p>
            <a:r>
              <a:t>          "status": "measured_tensor_bytes",</a:t>
            </a:r>
          </a:p>
          <a:p>
            <a:r>
              <a:t>          "locator": "Table1, PDF p.7",</a:t>
            </a:r>
          </a:p>
          <a:p>
            <a:r>
              <a:t>          "note": "rank64 vs dense rank128;不能外推整模型显存。"</a:t>
            </a:r>
          </a:p>
          <a:p>
            <a:r>
              <a:t>        }</a:t>
            </a:r>
          </a:p>
          <a:p>
            <a:r>
              <a:t>      ],</a:t>
            </a:r>
          </a:p>
          <a:p>
            <a:r>
              <a:t>      "total_model_memory":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</a:t>
            </a:r>
          </a:p>
          <a:p>
            <a:r>
              <a:t>      },</a:t>
            </a:r>
          </a:p>
          <a:p>
            <a:r>
              <a:t>      "peak_hbm":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"not_found",</a:t>
            </a:r>
          </a:p>
          <a:p>
            <a:r>
              <a:t>        "note": "正文称以allocator peak交叉检查存储，没有列整模型峰值HBM对比表。"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"title": "AttSVD：保留全部token，用注意力加权选择低秩方向",</a:t>
            </a:r>
          </a:p>
          <a:p>
            <a:r>
              <a:t>  "background": "直接删KV会丢失token；直接对原始KV做SVD，又可能把有限秩用在注意力很少读取的方向。",</a:t>
            </a:r>
          </a:p>
          <a:p>
            <a:r>
              <a:t>  "principle": "不删除token，改为优先保存对注意力分数和输出更重要的低秩方向。",</a:t>
            </a:r>
          </a:p>
          <a:p>
            <a:r>
              <a:t>  "steps": [</a:t>
            </a:r>
          </a:p>
          <a:p>
            <a:r>
              <a:t>    "用Query协方差加权Key，使误差贴近注意力分数；按每个token收到的注意力总量加权Value，强调输出贡献。",</a:t>
            </a:r>
          </a:p>
          <a:p>
            <a:r>
              <a:t>    "对加权KV做截断SVD，只存“token×秩”和“秩×通道”两个因子；保留全部位置，用较少方向近似原矩阵。",</a:t>
            </a:r>
          </a:p>
          <a:p>
            <a:r>
              <a:t>    "解码时逐层重建KV，再拼上近期原值；Stream将离开窗口的老token分块压缩，窗口有界但压缩块仍累计。"</a:t>
            </a:r>
          </a:p>
          <a:p>
            <a:r>
              <a:t>  ],</a:t>
            </a:r>
          </a:p>
          <a:p>
            <a:r>
              <a:t>  "mechanism_detail": "普通SVD只求KV数值重建误差最小，不知道哪些方向会影响回答。AttSVD先用Query协方差加权Key，让分解关注QK分数；再按token获得的注意力总量加权Value，优先保住输出贡献。对加权矩阵做截断SVD后，只持久保存低秩因子，近期token保持原值；解码时逐层重建。Stream将变旧的精确token分块压缩，节省缓存但增加SVD和重建成本。",</a:t>
            </a:r>
          </a:p>
          <a:p>
            <a:r>
              <a:t>  "innovation": "分解仍是标准SVD，创新在输入的注意力加权及缓存维护；K与V的加权目标不同，秩可按预算或各自能量谱设定。",</a:t>
            </a:r>
          </a:p>
          <a:p>
            <a:r>
              <a:t>  "cost": "每步逐层重建产生临时内存和计算；Stream还需分块SVD。固定的是精确尾部窗口，压缩块总量仍随生成增长。",</a:t>
            </a:r>
          </a:p>
          <a:p>
            <a:r>
              <a:t>  "mechanism_labels": [</a:t>
            </a:r>
          </a:p>
          <a:p>
            <a:r>
              <a:t>    "注意力加权",</a:t>
            </a:r>
          </a:p>
          <a:p>
            <a:r>
              <a:t>    "低秩因子存储",</a:t>
            </a:r>
          </a:p>
          <a:p>
            <a:r>
              <a:t>    "精确尾部与重建"</a:t>
            </a:r>
          </a:p>
          <a:p>
            <a:r>
              <a:t>  ],</a:t>
            </a:r>
          </a:p>
          <a:p>
            <a:r>
              <a:t>  "takeaway": "先在相同KV容量下比较“注意力加权SVD”和“原始KV直接SVD”的业务质量，找出损失小于1%的配置；再核算低秩因子、精确窗口、累计压缩块和逐层重建的临时内存，并单测SVD与重建耗时。Stream固定的是精确窗口，只有实测HBM及TTFT、TPOT达标才推进部署。",</a:t>
            </a:r>
          </a:p>
          <a:p>
            <a:r>
              <a:t>  "short_name": "AttSVD",</a:t>
            </a:r>
          </a:p>
          <a:p>
            <a:r>
              <a:t>  "locators": [</a:t>
            </a:r>
          </a:p>
          <a:p>
            <a:r>
              <a:t>    "§3.2 / Eq.(3)–(4), PDF p.4",</a:t>
            </a:r>
          </a:p>
          <a:p>
            <a:r>
              <a:t>    "§3.3 / Fig.1, PDF p.3–5",</a:t>
            </a:r>
          </a:p>
          <a:p>
            <a:r>
              <a:t>    "§3.4 / Eq.(5), PDF p.5–6"</a:t>
            </a:r>
          </a:p>
          <a:p>
            <a:r>
              <a:t>  ],</a:t>
            </a:r>
          </a:p>
          <a:p>
            <a:r>
              <a:t>  "source_url": "https://arxiv.org/pdf/2610.06927v1",</a:t>
            </a:r>
          </a:p>
          <a:p>
            <a:r>
              <a:t>  "background_with_idea": "删KV会丢失token，普通SVD又只追求KV数值接近，未必保住注意力输出。AttSVD先按注意力作用加权，再做低秩分解，保留全部token位置，但只存较少方向并在计算时重建。"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图文附录 · 学术进展  /  KV Cache × GQA/MQA（Key头合并）</a:t>
            </a:r>
          </a:p>
          <a:p>
            <a:r>
              <a:t>SAGA：少读Key、只算重要Value，分两段降低解码开销</a:t>
            </a:r>
          </a:p>
          <a:p>
            <a:r>
              <a:t>稀疏Attention减少Value计算后，Key读取成为剩余瓶颈，精确排序还会吞掉收益。SAGA合并Key头而保留Value头，再用周期阈值实现近似Top-N，分别减少Key读取与Value访问。</a:t>
            </a:r>
          </a:p>
          <a:p>
            <a:r>
              <a:t>关键技术｜核心思路与实现方法</a:t>
            </a:r>
          </a:p>
          <a:p>
            <a:r>
              <a:t>关键效果｜基线 → 论文方案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"display": {</a:t>
            </a:r>
          </a:p>
          <a:p>
            <a:r>
              <a:t>    "title": "SAGA：减少Key头，结合稀疏PV加速解码",</a:t>
            </a:r>
          </a:p>
          <a:p>
            <a:r>
              <a:t>    "map_label": "KV Cache × GQA/MQA（Key头合并）",</a:t>
            </a:r>
          </a:p>
          <a:p>
            <a:r>
              <a:t>    "background": "稀疏Attention降低PV成本后，QK成为剩余瓶颈。SAGA减少Key头但保留Value容量，再配合近似Top-N选择压低两段开销。",</a:t>
            </a:r>
          </a:p>
          <a:p>
            <a:r>
              <a:t>    "steps": [</a:t>
            </a:r>
          </a:p>
          <a:p>
            <a:r>
              <a:t>      "合并Key投影头，减少QK计算与Key读取，保留Value头。",</a:t>
            </a:r>
          </a:p>
          <a:p>
            <a:r>
              <a:t>      "Atop-N用校准阈值选择高概率条目，减少PV计算。",</a:t>
            </a:r>
          </a:p>
          <a:p>
            <a:r>
              <a:t>      "用教师KL与真实标签蒸馏恢复质量；不是无需训练的运行时开关。"</a:t>
            </a:r>
          </a:p>
          <a:p>
            <a:r>
              <a:t>    ],</a:t>
            </a:r>
          </a:p>
          <a:p>
            <a:r>
              <a:t>    "conditions": [</a:t>
            </a:r>
          </a:p>
          <a:p>
            <a:r>
              <a:t>      "性能：Llama3.2-1B，H100；64k上下文、batch16；CUDA graphs。",</a:t>
            </a:r>
          </a:p>
          <a:p>
            <a:r>
              <a:t>      "Key头8→4，Value保持8，Atop-N=1024；32步解码×10次。",</a:t>
            </a:r>
          </a:p>
          <a:p>
            <a:r>
              <a:t>      "质量：同模型HellaSwag仅比较架构蒸馏，不含Atop-N联合效果。"</a:t>
            </a:r>
          </a:p>
          <a:p>
            <a:r>
              <a:t>    ],</a:t>
            </a:r>
          </a:p>
          <a:p>
            <a:r>
              <a:t>    "rows": [</a:t>
            </a:r>
          </a:p>
          <a:p>
            <a:r>
              <a:t>      {</a:t>
            </a:r>
          </a:p>
          <a:p>
            <a:r>
              <a:t>        "label": "TTFT",</a:t>
            </a:r>
          </a:p>
          <a:p>
            <a:r>
              <a:t>        "value": "未找到实测；论文聚焦decode阶段。"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"解码",</a:t>
            </a:r>
          </a:p>
          <a:p>
            <a:r>
              <a:t>        "value": "逐token微基准40.57→18.99 ms（−53.2%）\n服务TPOT未单列，不等同完整服务收益"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"内存",</a:t>
            </a:r>
          </a:p>
          <a:p>
            <a:r>
              <a:t>        "value": "未报告GiB；已合并层KV按头数推算少25%，排除豁免层和临时空间，非实测。"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"label": "质量",</a:t>
            </a:r>
          </a:p>
          <a:p>
            <a:r>
              <a:t>        "value": "Llama3.2-1B HellaSwag：GQA 64.3%→SAGA 58.3%，−6.0个百分点。"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"extra": "Qwen2.5-32B扩展仅未训练架构计时，没有质量结果；不可当作27B业务收益。",</a:t>
            </a:r>
          </a:p>
          <a:p>
            <a:r>
              <a:t>    "takeaway": "把无需训练的Atop-N与需要蒸馏的Key头合并分开试验，先扫描稀疏N，再决定是否改模型结构。长上下文业务质量损失必须小于1%，并以昇腾同并发下的TTFT、TPOT及实际显存确认收益。",</a:t>
            </a:r>
          </a:p>
          <a:p>
            <a:r>
              <a:t>    "locator": "v1 §3–4（机制）；§5.1/Table5（解码）；Table1（质量）；§D.5/Table6（32B边界）"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"id": "2610.04753",</a:t>
            </a:r>
          </a:p>
          <a:p>
            <a:r>
              <a:t>    "version": "v1",</a:t>
            </a:r>
          </a:p>
          <a:p>
            <a:r>
              <a:t>    "short_name": "SAGA",</a:t>
            </a:r>
          </a:p>
          <a:p>
            <a:r>
              <a:t>    "source": "https://arxiv.org/pdf/2610.04753v1",</a:t>
            </a:r>
          </a:p>
          <a:p>
            <a:r>
              <a:t>    "primary_web_verified": true,</a:t>
            </a:r>
          </a:p>
          <a:p>
            <a:r>
              <a:t>    "title": "More Value per Key: Asymmetric Sparse Attention for Faster LLM Decoding",</a:t>
            </a:r>
          </a:p>
          <a:p>
            <a:r>
              <a:t>    "mechanisms": [</a:t>
            </a:r>
          </a:p>
          <a:p>
            <a:r>
              <a:t>      "把 Key 与 Value 的头数解耦：减半 Key 头降低 QK 计算和 Key 读取，同时保留 Value 头的表达容量。",</a:t>
            </a:r>
          </a:p>
          <a:p>
            <a:r>
              <a:t>      "Atop-N 先校准概率阈值，再用阈值筛选近似Top-N条目；稀疏PV降低后半段成本，SAGA进一步降低剩余的QK瓶颈。",</a:t>
            </a:r>
          </a:p>
          <a:p>
            <a:r>
              <a:t>      "预训练模型先匹配并合并Key投影头，再用教师KL与真实标签交叉熵蒸馏恢复质量；这不是无需训练的纯运行时开关。"</a:t>
            </a:r>
          </a:p>
          <a:p>
            <a:r>
              <a:t>    ],</a:t>
            </a:r>
          </a:p>
          <a:p>
            <a:r>
              <a:t>    "benchmarks": [</a:t>
            </a:r>
          </a:p>
          <a:p>
            <a:r>
              <a:t>      {</a:t>
            </a:r>
          </a:p>
          <a:p>
            <a:r>
              <a:t>        "metric": "TTFT",</a:t>
            </a:r>
          </a:p>
          <a:p>
            <a:r>
              <a:t>        "model": "Llama3.2-1B / Qwen2.5-1.5B",</a:t>
            </a:r>
          </a:p>
          <a:p>
            <a:r>
              <a:t>        "hardware": null,</a:t>
            </a:r>
          </a:p>
          <a:p>
            <a:r>
              <a:t>        "dataset": null,</a:t>
            </a:r>
          </a:p>
          <a:p>
            <a:r>
              <a:t>        "input_output": null,</a:t>
            </a:r>
          </a:p>
          <a:p>
            <a:r>
              <a:t>        "batch": null,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"全文、§5.1、AppendixD",</a:t>
            </a:r>
          </a:p>
          <a:p>
            <a:r>
              <a:t>        "status": "not_found",</a:t>
            </a:r>
          </a:p>
          <a:p>
            <a:r>
              <a:t>        "note": "论文重点decode；未找到TTFT实测。",</a:t>
            </a:r>
          </a:p>
          <a:p>
            <a:r>
              <a:t>        "source": "https://arxiv.org/pdf/2610.04753v1",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"TPOT（线上服务口径）",</a:t>
            </a:r>
          </a:p>
          <a:p>
            <a:r>
              <a:t>        "model": "Llama3.2-1B / Qwen2.5-1.5B",</a:t>
            </a:r>
          </a:p>
          <a:p>
            <a:r>
              <a:t>        "hardware": null,</a:t>
            </a:r>
          </a:p>
          <a:p>
            <a:r>
              <a:t>        "dataset": null,</a:t>
            </a:r>
          </a:p>
          <a:p>
            <a:r>
              <a:t>        "input_output": null,</a:t>
            </a:r>
          </a:p>
          <a:p>
            <a:r>
              <a:t>        "batch": null,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null,</a:t>
            </a:r>
          </a:p>
          <a:p>
            <a:r>
              <a:t>        "locator": "§5.1 / Table5",</a:t>
            </a:r>
          </a:p>
          <a:p>
            <a:r>
              <a:t>        "status": "not_found",</a:t>
            </a:r>
          </a:p>
          <a:p>
            <a:r>
              <a:t>        "note": "有受控 compiled CUDA graph 的 end-to-end per-token decode latency；不是声明包含队列、服务调度的TPOT，展示时保留论文指标名。",</a:t>
            </a:r>
          </a:p>
          <a:p>
            <a:r>
              <a:t>        "source": "https://arxiv.org/pdf/2610.04753v1",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"逐token解码延迟（论文口径）",</a:t>
            </a:r>
          </a:p>
          <a:p>
            <a:r>
              <a:t>        "model": "Llama3.2-1B; Key heads8→4",</a:t>
            </a:r>
          </a:p>
          <a:p>
            <a:r>
              <a:t>        "hardware": "NVIDIA H100; compiled CUDA graphs",</a:t>
            </a:r>
          </a:p>
          <a:p>
            <a:r>
              <a:t>        "dataset": "延迟微基准，内容数据集未列出",</a:t>
            </a:r>
          </a:p>
          <a:p>
            <a:r>
              <a:t>        "input_output": "64k context; general methodology32 generated tokens/run,10 runs",</a:t>
            </a:r>
          </a:p>
          <a:p>
            <a:r>
              <a:t>        "batch": 16,</a:t>
            </a:r>
          </a:p>
          <a:p>
            <a:r>
              <a:t>        "baseline": {</a:t>
            </a:r>
          </a:p>
          <a:p>
            <a:r>
              <a:t>          "method": "GQA full",</a:t>
            </a:r>
          </a:p>
          <a:p>
            <a:r>
              <a:t>          "value": 40.57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"SAGA + Atop-N1024",</a:t>
            </a:r>
          </a:p>
          <a:p>
            <a:r>
              <a:t>          "value": 18.99</a:t>
            </a:r>
          </a:p>
          <a:p>
            <a:r>
              <a:t>        },</a:t>
            </a:r>
          </a:p>
          <a:p>
            <a:r>
              <a:t>        "unit": "ms/token",</a:t>
            </a:r>
          </a:p>
          <a:p>
            <a:r>
              <a:t>        "locator": "Table5, AppendixD.4, PDF p.20; §5.1",</a:t>
            </a:r>
          </a:p>
          <a:p>
            <a:r>
              <a:t>        "status": "reported",</a:t>
            </a:r>
          </a:p>
          <a:p>
            <a:r>
              <a:t>        "absolute_delta": -21.58,</a:t>
            </a:r>
          </a:p>
          <a:p>
            <a:r>
              <a:t>        "relative_change_pct": -53.192,</a:t>
            </a:r>
          </a:p>
          <a:p>
            <a:r>
              <a:t>        "direction": "lower_is_better",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"note": "减少53.19%；作者加速比2.14×。独立于Qwen32B未训练架构测试。",</a:t>
            </a:r>
          </a:p>
          <a:p>
            <a:r>
              <a:t>        "source": "https://arxiv.org/pdf/2610.04753v1",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"逐token解码延迟（仅改头数）",</a:t>
            </a:r>
          </a:p>
          <a:p>
            <a:r>
              <a:t>        "model": "Llama3.2-1B; Key heads8→4",</a:t>
            </a:r>
          </a:p>
          <a:p>
            <a:r>
              <a:t>        "hardware": "NVIDIA H100; compiled CUDA graphs",</a:t>
            </a:r>
          </a:p>
          <a:p>
            <a:r>
              <a:t>        "dataset": "延迟微基准",</a:t>
            </a:r>
          </a:p>
          <a:p>
            <a:r>
              <a:t>        "input_output": "64k context",</a:t>
            </a:r>
          </a:p>
          <a:p>
            <a:r>
              <a:t>        "batch": 16,</a:t>
            </a:r>
          </a:p>
          <a:p>
            <a:r>
              <a:t>        "baseline": {</a:t>
            </a:r>
          </a:p>
          <a:p>
            <a:r>
              <a:t>          "method": "GQA full",</a:t>
            </a:r>
          </a:p>
          <a:p>
            <a:r>
              <a:t>          "value": 40.57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"SAGA full",</a:t>
            </a:r>
          </a:p>
          <a:p>
            <a:r>
              <a:t>          "value": 31.08</a:t>
            </a:r>
          </a:p>
          <a:p>
            <a:r>
              <a:t>        },</a:t>
            </a:r>
          </a:p>
          <a:p>
            <a:r>
              <a:t>        "unit": "ms/token",</a:t>
            </a:r>
          </a:p>
          <a:p>
            <a:r>
              <a:t>        "locator": "Table5, AppendixD.4, PDF p.20",</a:t>
            </a:r>
          </a:p>
          <a:p>
            <a:r>
              <a:t>        "status": "reported",</a:t>
            </a:r>
          </a:p>
          <a:p>
            <a:r>
              <a:t>        "absolute_delta": -9.49,</a:t>
            </a:r>
          </a:p>
          <a:p>
            <a:r>
              <a:t>        "relative_change_pct": -23.3917,</a:t>
            </a:r>
          </a:p>
          <a:p>
            <a:r>
              <a:t>        "direction": "lower_is_better",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"https://arxiv.org/pdf/2610.04753v1",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"逐token解码延迟（未训练架构）",</a:t>
            </a:r>
          </a:p>
          <a:p>
            <a:r>
              <a:t>        "model": "Qwen2.5-32B architecture, untrained weights; Key heads8→4",</a:t>
            </a:r>
          </a:p>
          <a:p>
            <a:r>
              <a:t>        "hardware": "NVIDIA H100",</a:t>
            </a:r>
          </a:p>
          <a:p>
            <a:r>
              <a:t>        "dataset": "shape/kernel benchmark; no quality evaluation",</a:t>
            </a:r>
          </a:p>
          <a:p>
            <a:r>
              <a:t>        "input_output": "128k context",</a:t>
            </a:r>
          </a:p>
          <a:p>
            <a:r>
              <a:t>        "batch": 1,</a:t>
            </a:r>
          </a:p>
          <a:p>
            <a:r>
              <a:t>        "baseline": {</a:t>
            </a:r>
          </a:p>
          <a:p>
            <a:r>
              <a:t>          "method": "GQA full",</a:t>
            </a:r>
          </a:p>
          <a:p>
            <a:r>
              <a:t>          "value": 46.9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"SAGA + Atop-N1024",</a:t>
            </a:r>
          </a:p>
          <a:p>
            <a:r>
              <a:t>          "value": 39.43</a:t>
            </a:r>
          </a:p>
          <a:p>
            <a:r>
              <a:t>        },</a:t>
            </a:r>
          </a:p>
          <a:p>
            <a:r>
              <a:t>        "unit": "ms/token",</a:t>
            </a:r>
          </a:p>
          <a:p>
            <a:r>
              <a:t>        "locator": "Table6, AppendixD.5, PDF p.20",</a:t>
            </a:r>
          </a:p>
          <a:p>
            <a:r>
              <a:t>        "status": "reported",</a:t>
            </a:r>
          </a:p>
          <a:p>
            <a:r>
              <a:t>        "absolute_delta": -7.47,</a:t>
            </a:r>
          </a:p>
          <a:p>
            <a:r>
              <a:t>        "relative_change_pct": -15.9275,</a:t>
            </a:r>
          </a:p>
          <a:p>
            <a:r>
              <a:t>        "direction": "lower_is_better",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"note": "不能写成已训练Qwen32B模型端到端业务收益。",</a:t>
            </a:r>
          </a:p>
          <a:p>
            <a:r>
              <a:t>        "source": "https://arxiv.org/pdf/2610.04753v1",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"逐token解码延迟（未训练架构）",</a:t>
            </a:r>
          </a:p>
          <a:p>
            <a:r>
              <a:t>        "model": "Qwen2.5-32B architecture, untrained weights; Key heads8→4",</a:t>
            </a:r>
          </a:p>
          <a:p>
            <a:r>
              <a:t>        "hardware": "NVIDIA H100",</a:t>
            </a:r>
          </a:p>
          <a:p>
            <a:r>
              <a:t>        "dataset": "shape/kernel benchmark; no quality evaluation",</a:t>
            </a:r>
          </a:p>
          <a:p>
            <a:r>
              <a:t>        "input_output": "128k context",</a:t>
            </a:r>
          </a:p>
          <a:p>
            <a:r>
              <a:t>        "batch": 16,</a:t>
            </a:r>
          </a:p>
          <a:p>
            <a:r>
              <a:t>        "baseline": {</a:t>
            </a:r>
          </a:p>
          <a:p>
            <a:r>
              <a:t>          "method": "GQA full",</a:t>
            </a:r>
          </a:p>
          <a:p>
            <a:r>
              <a:t>          "value": 263.06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"SAGA + Atop-N1024",</a:t>
            </a:r>
          </a:p>
          <a:p>
            <a:r>
              <a:t>          "value": 175.06</a:t>
            </a:r>
          </a:p>
          <a:p>
            <a:r>
              <a:t>        },</a:t>
            </a:r>
          </a:p>
          <a:p>
            <a:r>
              <a:t>        "unit": "ms/token",</a:t>
            </a:r>
          </a:p>
          <a:p>
            <a:r>
              <a:t>        "locator": "Table6, AppendixD.5, PDF p.20",</a:t>
            </a:r>
          </a:p>
          <a:p>
            <a:r>
              <a:t>        "status": "reported",</a:t>
            </a:r>
          </a:p>
          <a:p>
            <a:r>
              <a:t>        "absolute_delta": -88.0,</a:t>
            </a:r>
          </a:p>
          <a:p>
            <a:r>
              <a:t>        "relative_change_pct": -33.4524,</a:t>
            </a:r>
          </a:p>
          <a:p>
            <a:r>
              <a:t>        "direction": "lower_is_better",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"https://arxiv.org/pdf/2610.04753v1",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"HellaSwag acc_norm",</a:t>
            </a:r>
          </a:p>
          <a:p>
            <a:r>
              <a:t>        "model": "Qwen2.5-1.5B; Key heads2→1",</a:t>
            </a:r>
          </a:p>
          <a:p>
            <a:r>
              <a:t>        "hardware": "质量评测硬件未单独标明",</a:t>
            </a:r>
          </a:p>
          <a:p>
            <a:r>
              <a:t>        "dataset": "HellaSwag",</a:t>
            </a:r>
          </a:p>
          <a:p>
            <a:r>
              <a:t>        "input_output": null,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"teacher GQA",</a:t>
            </a:r>
          </a:p>
          <a:p>
            <a:r>
              <a:t>          "value": 67.8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"distilled SAGA",</a:t>
            </a:r>
          </a:p>
          <a:p>
            <a:r>
              <a:t>          "value": 64.4</a:t>
            </a:r>
          </a:p>
          <a:p>
            <a:r>
              <a:t>        },</a:t>
            </a:r>
          </a:p>
          <a:p>
            <a:r>
              <a:t>        "unit": "% accuracy",</a:t>
            </a:r>
          </a:p>
          <a:p>
            <a:r>
              <a:t>        "locator": "Table1, PDF p.10",</a:t>
            </a:r>
          </a:p>
          <a:p>
            <a:r>
              <a:t>        "status": "reported",</a:t>
            </a:r>
          </a:p>
          <a:p>
            <a:r>
              <a:t>        "absolute_delta": -3.4,</a:t>
            </a:r>
          </a:p>
          <a:p>
            <a:r>
              <a:t>        "relative_change_pct": -5.0147,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"note": "质量表为架构蒸馏，不把稀疏Atop-N额外误差混入。",</a:t>
            </a:r>
          </a:p>
          <a:p>
            <a:r>
              <a:t>        "source": "https://arxiv.org/pdf/2610.04753v1",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"WikiText word perplexity",</a:t>
            </a:r>
          </a:p>
          <a:p>
            <a:r>
              <a:t>        "model": "Qwen2.5-1.5B; Key heads2→1",</a:t>
            </a:r>
          </a:p>
          <a:p>
            <a:r>
              <a:t>        "hardware": "质量评测硬件未单独标明",</a:t>
            </a:r>
          </a:p>
          <a:p>
            <a:r>
              <a:t>        "dataset": "WikiText",</a:t>
            </a:r>
          </a:p>
          <a:p>
            <a:r>
              <a:t>        "input_output": null,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"teacher GQA",</a:t>
            </a:r>
          </a:p>
          <a:p>
            <a:r>
              <a:t>          "value": 12.1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"distilled SAGA",</a:t>
            </a:r>
          </a:p>
          <a:p>
            <a:r>
              <a:t>          "value": 12.43</a:t>
            </a:r>
          </a:p>
          <a:p>
            <a:r>
              <a:t>        },</a:t>
            </a:r>
          </a:p>
          <a:p>
            <a:r>
              <a:t>        "unit": "PPL",</a:t>
            </a:r>
          </a:p>
          <a:p>
            <a:r>
              <a:t>        "locator": "Table1, PDF p.10",</a:t>
            </a:r>
          </a:p>
          <a:p>
            <a:r>
              <a:t>        "status": "reported",</a:t>
            </a:r>
          </a:p>
          <a:p>
            <a:r>
              <a:t>        "absolute_delta": 0.33,</a:t>
            </a:r>
          </a:p>
          <a:p>
            <a:r>
              <a:t>        "relative_change_pct": 2.7273,</a:t>
            </a:r>
          </a:p>
          <a:p>
            <a:r>
              <a:t>        "direction": "lower_is_better",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"https://arxiv.org/pdf/2610.04753v1",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"HellaSwag acc_norm",</a:t>
            </a:r>
          </a:p>
          <a:p>
            <a:r>
              <a:t>        "model": "Llama3.2-1B; Key heads8→4",</a:t>
            </a:r>
          </a:p>
          <a:p>
            <a:r>
              <a:t>        "hardware": "质量评测硬件未单独标明",</a:t>
            </a:r>
          </a:p>
          <a:p>
            <a:r>
              <a:t>        "dataset": "HellaSwag",</a:t>
            </a:r>
          </a:p>
          <a:p>
            <a:r>
              <a:t>        "input_output": null,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"teacher GQA",</a:t>
            </a:r>
          </a:p>
          <a:p>
            <a:r>
              <a:t>          "value": 64.3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"distilled SAGA",</a:t>
            </a:r>
          </a:p>
          <a:p>
            <a:r>
              <a:t>          "value": 58.3</a:t>
            </a:r>
          </a:p>
          <a:p>
            <a:r>
              <a:t>        },</a:t>
            </a:r>
          </a:p>
          <a:p>
            <a:r>
              <a:t>        "unit": "% accuracy",</a:t>
            </a:r>
          </a:p>
          <a:p>
            <a:r>
              <a:t>        "locator": "Table1, PDF p.10",</a:t>
            </a:r>
          </a:p>
          <a:p>
            <a:r>
              <a:t>        "status": "reported",</a:t>
            </a:r>
          </a:p>
          <a:p>
            <a:r>
              <a:t>        "absolute_delta": -6.0,</a:t>
            </a:r>
          </a:p>
          <a:p>
            <a:r>
              <a:t>        "relative_change_pct": -9.3313,</a:t>
            </a:r>
          </a:p>
          <a:p>
            <a:r>
              <a:t>        "direction": "higher_is_better",</a:t>
            </a:r>
          </a:p>
          <a:p>
            <a:r>
              <a:t>        "calculation": "(treatment / baseline - 1) × 100; author numbers, editor calculation",</a:t>
            </a:r>
          </a:p>
          <a:p>
            <a:r>
              <a:t>        "source": "https://arxiv.org/pdf/2610.04753v1",</a:t>
            </a:r>
          </a:p>
          <a:p>
            <a:r>
              <a:t>        "precision": "exact table/text values; no visual curve digitization"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"metric": "RULER aggregate retention",</a:t>
            </a:r>
          </a:p>
          <a:p>
            <a:r>
              <a:t>        "model": "Qwen2.5-1.5B",</a:t>
            </a:r>
          </a:p>
          <a:p>
            <a:r>
              <a:t>        "hardware": "质量评测硬件未单独标明",</a:t>
            </a:r>
          </a:p>
          <a:p>
            <a:r>
              <a:t>        "dataset": "RULER",</a:t>
            </a:r>
          </a:p>
          <a:p>
            <a:r>
              <a:t>        "input_output": "8k /16k /32k",</a:t>
            </a:r>
          </a:p>
          <a:p>
            <a:r>
              <a:t>        "batch": null,</a:t>
            </a:r>
          </a:p>
          <a:p>
            <a:r>
              <a:t>        "baseline": {</a:t>
            </a:r>
          </a:p>
          <a:p>
            <a:r>
              <a:t>          "method": "teacher",</a:t>
            </a:r>
          </a:p>
          <a:p>
            <a:r>
              <a:t>          "value": 100</a:t>
            </a:r>
          </a:p>
          <a:p>
            <a:r>
              <a:t>        },</a:t>
            </a:r>
          </a:p>
          <a:p>
            <a:r>
              <a:t>        "treatment": {</a:t>
            </a:r>
          </a:p>
          <a:p>
            <a:r>
              <a:t>          "method": "distilled SAGA",</a:t>
            </a:r>
          </a:p>
          <a:p>
            <a:r>
              <a:t>          "value": 96.3</a:t>
            </a:r>
          </a:p>
          <a:p>
            <a:r>
              <a:t>        },</a:t>
            </a:r>
          </a:p>
          <a:p>
            <a:r>
              <a:t>        "unit": "% of teacher score",</a:t>
            </a:r>
          </a:p>
          <a:p>
            <a:r>
              <a:t>        "locator": "§5.3, PDF p.9",</a:t>
            </a:r>
          </a:p>
          <a:p>
            <a:r>
              <a:t>        "status": "reported",</a:t>
            </a:r>
          </a:p>
          <a:p>
            <a:r>
              <a:t>        "note": "相对下降3.7%；叠加Atop-N不同N的保持率正文为83%–97%，不是所有配置&lt;1%损失。",</a:t>
            </a:r>
          </a:p>
          <a:p>
            <a:r>
              <a:t>        "source": "https://arxiv.org/pdf/2610.04753v1",</a:t>
            </a:r>
          </a:p>
          <a:p>
            <a:r>
              <a:t>        "relative_change_pct": null,</a:t>
            </a:r>
          </a:p>
          <a:p>
            <a:r>
              <a:t>        "precision": "exact table/text values; no visual curve digitization"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"slide_ready": {</a:t>
            </a:r>
          </a:p>
          <a:p>
            <a:r>
              <a:t>      "headline": "SAGA 同时压低QK与稀疏PV开销，已见解码收益，但模型改造与质量损失不能跳过",</a:t>
            </a:r>
          </a:p>
          <a:p>
            <a:r>
              <a:t>      "configuration": "Llama3.2-1B｜H100｜64k上下文｜batch16｜SAGA Key heads8→4 + Atop-N1024｜CUDA graphs",</a:t>
            </a:r>
          </a:p>
          <a:p>
            <a:r>
              <a:t>      "key_effect": "逐token解码延迟40.57→18.99ms（−53.2%，2.14×）；TTFT未报告。该微基准不是包含排队的线上TPOT。",</a:t>
            </a:r>
          </a:p>
          <a:p>
            <a:r>
              <a:t>      "quality": "同模型架构蒸馏后HellaSwag64.3→58.3（−6.0个百分点）；Qwen2.5-1.5B为67.8→64.4。32B扩展仅未训练权重测时，无质量结果。",</a:t>
            </a:r>
          </a:p>
          <a:p>
            <a:r>
              <a:t>      "decision": "优先分离“可直接试的Atop-N”与“需要蒸馏的Key头合并”；先在业务长上下文筛选N与头数，质量未达&lt;1%就不能推荐替换部署。",</a:t>
            </a:r>
          </a:p>
          <a:p>
            <a:r>
              <a:t>      "memory": "未给实测GiB。Key头8→4、Value保持8，仅对已合并层按张量形状推算KV载荷少25%，不是总显存实测。"</a:t>
            </a:r>
          </a:p>
          <a:p>
            <a:r>
              <a:t>    },</a:t>
            </a:r>
          </a:p>
          <a:p>
            <a:r>
              <a:t>    "limitations": [</a:t>
            </a:r>
          </a:p>
          <a:p>
            <a:r>
              <a:t>      "数字2.14×是同配置Table5；摘要&gt;2×与128k图中的2.2×/2.6×不能移植到27B昇腾。",</a:t>
            </a:r>
          </a:p>
          <a:p>
            <a:r>
              <a:t>      "本地证据固定v1；在线无版本URL当前为v2，需固定版本防漂移。",</a:t>
            </a:r>
          </a:p>
          <a:p>
            <a:r>
              <a:t>      "没有真正业务Qwen3.8-27B或昇腾实测。"</a:t>
            </a:r>
          </a:p>
          <a:p>
            <a:r>
              <a:t>    ],</a:t>
            </a:r>
          </a:p>
          <a:p>
            <a:r>
              <a:t>    "conflicts": [</a:t>
            </a:r>
          </a:p>
          <a:p>
            <a:r>
              <a:t>      "v1本地PDF已核对首屏版本；arxiv不带版本URL现在为v2(2026-10-06)，本文件不混用新版未审表格。"</a:t>
            </a:r>
          </a:p>
          <a:p>
            <a:r>
              <a:t>    ],</a:t>
            </a:r>
          </a:p>
          <a:p>
            <a:r>
              <a:t>    "memory": {</a:t>
            </a:r>
          </a:p>
          <a:p>
            <a:r>
              <a:t>      "kv_bytes":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</a:t>
            </a:r>
          </a:p>
          <a:p>
            <a:r>
              <a:t>      },</a:t>
            </a:r>
          </a:p>
          <a:p>
            <a:r>
              <a:t>      "kv_head_count_estimate": {</a:t>
            </a:r>
          </a:p>
          <a:p>
            <a:r>
              <a:t>        "baseline_key_heads": 8,</a:t>
            </a:r>
          </a:p>
          <a:p>
            <a:r>
              <a:t>        "baseline_value_heads": 8,</a:t>
            </a:r>
          </a:p>
          <a:p>
            <a:r>
              <a:t>        "treatment_key_heads": 4,</a:t>
            </a:r>
          </a:p>
          <a:p>
            <a:r>
              <a:t>        "treatment_value_heads": 8,</a:t>
            </a:r>
          </a:p>
          <a:p>
            <a:r>
              <a:t>        "unit": "heads",</a:t>
            </a:r>
          </a:p>
          <a:p>
            <a:r>
              <a:t>        "reduction_pct_derived": 25,</a:t>
            </a:r>
          </a:p>
          <a:p>
            <a:r>
              <a:t>        "status": "conditional_shape_calculation",</a:t>
            </a:r>
          </a:p>
          <a:p>
            <a:r>
              <a:t>        "locator": "§3.2 / §5.1",</a:t>
            </a:r>
          </a:p>
          <a:p>
            <a:r>
              <a:t>        "note": "在应用合并的层上、相同序列长度/head维数/dtype，KV载荷由16份降至12份；不包含豁免层、padding、临时gather与模型参数。不能宣称实测总显存下降25%。"</a:t>
            </a:r>
          </a:p>
          <a:p>
            <a:r>
              <a:t>      },</a:t>
            </a:r>
          </a:p>
          <a:p>
            <a:r>
              <a:t>      "total_model_memory":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</a:t>
            </a:r>
          </a:p>
          <a:p>
            <a:r>
              <a:t>      },</a:t>
            </a:r>
          </a:p>
          <a:p>
            <a:r>
              <a:t>      "peak_hbm": {</a:t>
            </a:r>
          </a:p>
          <a:p>
            <a:r>
              <a:t>        "baseline": null,</a:t>
            </a:r>
          </a:p>
          <a:p>
            <a:r>
              <a:t>        "treatment": null,</a:t>
            </a:r>
          </a:p>
          <a:p>
            <a:r>
              <a:t>        "unit": "GiB",</a:t>
            </a:r>
          </a:p>
          <a:p>
            <a:r>
              <a:t>        "status": "not_found"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关键技术重写：</a:t>
            </a:r>
          </a:p>
          <a:p>
            <a:r>
              <a:t>{</a:t>
            </a:r>
          </a:p>
          <a:p>
            <a:r>
              <a:t>  "title": "SAGA：少读Key、只算重要Value，分两段降低解码开销",</a:t>
            </a:r>
          </a:p>
          <a:p>
            <a:r>
              <a:t>  "background": "只稀疏化Value计算仍要读取全部Key；精确Top-N排序的成本还可能吃掉稀疏收益。",</a:t>
            </a:r>
          </a:p>
          <a:p>
            <a:r>
              <a:t>  "principle": "减少Key头降低读取成本，再用近似Top-N缩小Value计算范围。",</a:t>
            </a:r>
          </a:p>
          <a:p>
            <a:r>
              <a:t>  "steps": [</a:t>
            </a:r>
          </a:p>
          <a:p>
            <a:r>
              <a:t>    "用原模型的Query衡量Key头合并后的注意力分数误差，选择误差小的配对；合并Key投影，保持Value头数不变。",</a:t>
            </a:r>
          </a:p>
          <a:p>
            <a:r>
              <a:t>    "定期求一次第N大注意力概率作为阈值，后续用逐项比较筛选Value；省去每步精确排序，但选择的是近似Top-N。",</a:t>
            </a:r>
          </a:p>
          <a:p>
            <a:r>
              <a:t>    "合并后用教师输出的KL损失和真实标签交叉熵微调，让模型适应较少Key头；它有训练成本，不能当作纯运行时开关。"</a:t>
            </a:r>
          </a:p>
          <a:p>
            <a:r>
              <a:t>  ],</a:t>
            </a:r>
          </a:p>
          <a:p>
            <a:r>
              <a:t>  "mechanism_detail": "稀疏Attention只计算重要Value后，读取Key成为剩余瓶颈。SAGA把Key与Value头数解耦：按注意力分数误差匹配并合并Key头，减少Key存取，同时保留Value头的表达容量。Atop-N定期求一次阈值，后续步骤用比较筛选近似Top-N，避免逐步排序。已有模型还须蒸馏恢复质量；阈值校准和稀疏收集在短序列上可能抵消收益。",</a:t>
            </a:r>
          </a:p>
          <a:p>
            <a:r>
              <a:t>  "innovation": "把QK阶段和PV阶段分别优化：少Key头负责降低前段读取成本，Atop-N负责降低后段Value访问与计算，二者可以分开评估。",</a:t>
            </a:r>
          </a:p>
          <a:p>
            <a:r>
              <a:t>  "cost": "Key头合并改变模型，需要匹配初始化和蒸馏；Atop-N无需重训但有近似误差、阈值校准和gather开销。",</a:t>
            </a:r>
          </a:p>
          <a:p>
            <a:r>
              <a:t>  "mechanism_labels": [</a:t>
            </a:r>
          </a:p>
          <a:p>
            <a:r>
              <a:t>    "Key头合并",</a:t>
            </a:r>
          </a:p>
          <a:p>
            <a:r>
              <a:t>    "近似Top-N",</a:t>
            </a:r>
          </a:p>
          <a:p>
            <a:r>
              <a:t>    "蒸馏恢复质量"</a:t>
            </a:r>
          </a:p>
          <a:p>
            <a:r>
              <a:t>  ],</a:t>
            </a:r>
          </a:p>
          <a:p>
            <a:r>
              <a:t>  "short_name": "SAGA",</a:t>
            </a:r>
          </a:p>
          <a:p>
            <a:r>
              <a:t>  "locators": [</a:t>
            </a:r>
          </a:p>
          <a:p>
            <a:r>
              <a:t>    "§3.1, PDF p.5; Appendix C.1, PDF p.16–17",</a:t>
            </a:r>
          </a:p>
          <a:p>
            <a:r>
              <a:t>    "§3.2, PDF p.5",</a:t>
            </a:r>
          </a:p>
          <a:p>
            <a:r>
              <a:t>    "§4.1 / Lemma 4.1–Theorem 4.2, PDF p.6–7",</a:t>
            </a:r>
          </a:p>
          <a:p>
            <a:r>
              <a:t>    "§5.1, §5.3; Appendix C.3"</a:t>
            </a:r>
          </a:p>
          <a:p>
            <a:r>
              <a:t>  ],</a:t>
            </a:r>
          </a:p>
          <a:p>
            <a:r>
              <a:t>  "source_url": "https://arxiv.org/pdf/2610.04753v1",</a:t>
            </a:r>
          </a:p>
          <a:p>
            <a:r>
              <a:t>  "background_with_idea": "稀疏Attention减少Value计算后，Key读取成为剩余瓶颈，精确排序还会吞掉收益。SAGA合并Key头而保留Value头，再用周期阈值实现近似Top-N，分别减少Key读取与Value访问。"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02 热点资讯 · H1</a:t>
            </a:r>
          </a:p>
          <a:p>
            <a:r>
              <a:t>Mistral Large 4：万亿参数 MoE 把权重容量推到前台</a:t>
            </a:r>
          </a:p>
          <a:p>
            <a:r>
              <a:t>2026-10-06 · Mistral 官方预览公告 · 关联技术地图：权重 × 量化</a:t>
            </a:r>
          </a:p>
          <a:p>
            <a:r>
              <a:t>01  发生了什么 · 原始事实</a:t>
            </a:r>
          </a:p>
          <a:p>
            <a:r>
              <a:t>01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"section": "02 热点资讯 · H1",</a:t>
            </a:r>
          </a:p>
          <a:p>
            <a:r>
              <a:t>  "title": "Mistral Large 4：万亿参数 MoE 把权重容量推到前台",</a:t>
            </a:r>
          </a:p>
          <a:p>
            <a:r>
              <a:t>  "meta": "2026-10-06 · Mistral 官方预览公告 · 关联技术地图：权重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"模型规模",</a:t>
            </a:r>
          </a:p>
          <a:p>
            <a:r>
              <a:t>      "官方披露 1T 总参数、52B 激活参数；两者分别描述模型规模与稀疏激活规模。"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"开放状态",</a:t>
            </a:r>
          </a:p>
          <a:p>
            <a:r>
              <a:t>      "预览 API 已开放；权重计划月底发布。截止核对时，不把开放计划写成已交付。"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"研究窗口",</a:t>
            </a:r>
          </a:p>
          <a:p>
            <a:r>
              <a:t>      "权重和架构细节尚待发布；当前不能复核专家布局、可量化层或部署格式。"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"容量预算：总权重仍需有去处",</a:t>
            </a:r>
          </a:p>
          <a:p>
            <a:r>
              <a:t>      "52B 激活参数不能替代总参数容量账。需区分全量驻留、专家分层存储、每 token 搬运与通信成本。"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"技术选择：量化与驻留要共同设计",</a:t>
            </a:r>
          </a:p>
          <a:p>
            <a:r>
              <a:t>      "专家权重量化可减小存储与搬运字节，但收益取决于路由命中、解码开销和并行划分，不能只按名义位宽排名。"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"先列入权重 × 量化跟踪；等权重公开后，优先核对专家格式与驻留预算，再决定是否投入适配。",</a:t>
            </a:r>
          </a:p>
          <a:p>
            <a:r>
              <a:t>  "boundary": "证据边界：厂商规格与发布计划；容量与路线取舍为分析判断。未证明压缩收益或昇腾支持。",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"[H1] Mistral 官方公告 · Preview / Frontier performance",</a:t>
            </a:r>
          </a:p>
          <a:p>
            <a:r>
              <a:t>      "url": "https://mistral.ai/news/mistral-large-4/"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02 热点资讯 · H2</a:t>
            </a:r>
          </a:p>
          <a:p>
            <a:r>
              <a:t>openTPU：低比特要看总字节、质量与端到端收益</a:t>
            </a:r>
          </a:p>
          <a:p>
            <a:r>
              <a:t>2026-10-01 作者实验 · build B · Kintex-7 PCIe 板卡 · 权重 × 量化</a:t>
            </a:r>
          </a:p>
          <a:p>
            <a:r>
              <a:t>01  发生了什么 · 原始事实</a:t>
            </a:r>
          </a:p>
          <a:p>
            <a:r>
              <a:t>01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"section": "02 热点资讯 · H2",</a:t>
            </a:r>
          </a:p>
          <a:p>
            <a:r>
              <a:t>  "title": "openTPU：低比特要看总字节、质量与端到端收益",</a:t>
            </a:r>
          </a:p>
          <a:p>
            <a:r>
              <a:t>  "meta": "2026-10-01 作者实验 · build B · Kintex-7 PCIe 板卡 · 权重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"编码成本",</a:t>
            </a:r>
          </a:p>
          <a:p>
            <a:r>
              <a:t>      "4-bit 权重采用两级块尺度；计入尺度后为 4.25 bit/weight，LM head 保留 INT8。"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"可比结果",</a:t>
            </a:r>
          </a:p>
          <a:p>
            <a:r>
              <a:t>      "Qwen3.5-2B：INT8 / 4-bit 的 wall 解码速度为 8.00 / 12.03 tok/s。"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"测量条件",</a:t>
            </a:r>
          </a:p>
          <a:p>
            <a:r>
              <a:t>      "512-token prompt、64 greedy tokens；device 与 wall 分开计，DRAM 流量由板卡计数器读取。"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"名义压缩率不能代替实际收益",</a:t>
            </a:r>
          </a:p>
          <a:p>
            <a:r>
              <a:t>      "12.03 / 8.00 约为 1.50 倍（计算值）；不能按位宽减半直接宣称两倍加速。尺度、保留层和反量化都要计费。"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"评测口径值得迁移，硬件倍数不能迁移",</a:t>
            </a:r>
          </a:p>
          <a:p>
            <a:r>
              <a:t>      "在昇腾报告总权重字节、端到端时延及质量变化。作者说明量化存在 PPL 代价，模拟器逐位一致不等于全精度质量无损。"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"把它作为量化评测口径参考；在同模型、同负载、同质量约束下比较昇腾基线，不照搬 FPGA 加速倍数。",</a:t>
            </a:r>
          </a:p>
          <a:p>
            <a:r>
              <a:t>  "boundary": "证据边界：项目作者自测；10-01 为实验日。上述比值由原表计算，未进行昇腾复现。",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"[H2] openTPU README · Results / Method / 4-bit encoding",</a:t>
            </a:r>
          </a:p>
          <a:p>
            <a:r>
              <a:t>      "url": "https://github.com/FeSens/openTPU"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02 热点资讯 · H3</a:t>
            </a:r>
          </a:p>
          <a:p>
            <a:r>
              <a:t>Strands Decider 2B：先缩小任务职责，再压缩模型</a:t>
            </a:r>
          </a:p>
          <a:p>
            <a:r>
              <a:t>2026-10-01 · Strands 官方开源介绍 · 相邻研究背景，非剪枝或蒸馏成果</a:t>
            </a:r>
          </a:p>
          <a:p>
            <a:r>
              <a:t>01  发生了什么 · 原始事实</a:t>
            </a:r>
          </a:p>
          <a:p>
            <a:r>
              <a:t>01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"section": "02 热点资讯 · H3",</a:t>
            </a:r>
          </a:p>
          <a:p>
            <a:r>
              <a:t>  "title": "Strands Decider 2B：先缩小任务职责，再压缩模型",</a:t>
            </a:r>
          </a:p>
          <a:p>
            <a:r>
              <a:t>  "meta": "2026-10-01 · Strands 官方开源介绍 · 相邻研究背景，非剪枝或蒸馏成果",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"模型改造",</a:t>
            </a:r>
          </a:p>
          <a:p>
            <a:r>
              <a:t>      "以 Qwen3.5-2B 为主干，替换 LM head 为 pointer head，用 rank-16 LoRA 微调。"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"任务边界",</a:t>
            </a:r>
          </a:p>
          <a:p>
            <a:r>
              <a:t>      "一次前向对给定选项打分；不能生成通用文本，不适合直接替代聊天、编码和摘要模型。"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"可研究性",</a:t>
            </a:r>
          </a:p>
          <a:p>
            <a:r>
              <a:t>      "官方开放代码、权重、训练数据与脚本；评测关注准确率、置信度校准与决策延迟。"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"压缩前先问：业务是否需要通用生成",</a:t>
            </a:r>
          </a:p>
          <a:p>
            <a:r>
              <a:t>      "分类、路由和选项决策可评估任务专用模型。改变任务职责与降低数值精度是两种取舍，收益不能混在一个压缩指标里。"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"研究顺序：先形成任务基线，再量化",</a:t>
            </a:r>
          </a:p>
          <a:p>
            <a:r>
              <a:t>      "若专用模型满足业务准确率，再评估低比特质量损失与服务成本。无法承担的复杂推理仍交给通用模型。"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"路由业务可单列试验：先测决策准确率、校准与 P95 延迟，再判断是否量化；不纳入剪枝／蒸馏已实现清单。",</a:t>
            </a:r>
          </a:p>
          <a:p>
            <a:r>
              <a:t>  "boundary": "证据边界：官方架构与开源披露；昇腾适配和本地延迟未确认。不可用生成质量评测替代决策质量。",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"[H3] Strands · Model Architecture / Limitations / Performance",</a:t>
            </a:r>
          </a:p>
          <a:p>
            <a:r>
              <a:t>      "url": "https://strandsagents.com/blog/introducing-strands-decider/"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03 产业动态 · I1 · 模型压缩</a:t>
            </a:r>
          </a:p>
          <a:p>
            <a:r>
              <a:t>msModelSlim：模型 × 量化模式开始形成明确交付项</a:t>
            </a:r>
          </a:p>
          <a:p>
            <a:r>
              <a:t>本月核对既有文档 · 26.0.0.alpha02 为内测版，发布日期未列 · 权重／激活 × 量化</a:t>
            </a:r>
          </a:p>
          <a:p>
            <a:r>
              <a:t>01  发生了什么 · 原始事实</a:t>
            </a:r>
          </a:p>
          <a:p>
            <a:r>
              <a:t>01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"section": "03 产业动态 · I1 · 模型压缩",</a:t>
            </a:r>
          </a:p>
          <a:p>
            <a:r>
              <a:t>  "title": "msModelSlim：模型 × 量化模式开始形成明确交付项",</a:t>
            </a:r>
          </a:p>
          <a:p>
            <a:r>
              <a:t>  "meta": "本月核对既有文档 · 26.0.0.alpha02 为内测版，发布日期未列 · 权重／激活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"具体模型与模式",</a:t>
            </a:r>
          </a:p>
          <a:p>
            <a:r>
              <a:t>      "alpha02 列示 Qwen3-Coder-480B W4A8、Qwen3.5 MoE W8A8 与 GLM-5 W4A8。"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"接入与调优变化",</a:t>
            </a:r>
          </a:p>
          <a:p>
            <a:r>
              <a:t>      "版本说明新增自定义 practice 目录的 entry point，构建 model_adapter 插件化基础，并优化自动调优。"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"算法与版本分开",</a:t>
            </a:r>
          </a:p>
          <a:p>
            <a:r>
              <a:t>      "V1 算法文档列出 GPTQ、AWQ、FA3 Quant、KVCache Quant；不把目录收录当作全部模型已支持。"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"论文比较应站在可交付基线上",</a:t>
            </a:r>
          </a:p>
          <a:p>
            <a:r>
              <a:t>      "权重量化研究先确认目标模型能导出何种格式，再与 GPTQ／AWQ 等已支持路径比较；相同位宽仍可能因布局而不能互换。"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"低精度能力落地依赖三重匹配",</a:t>
            </a:r>
          </a:p>
          <a:p>
            <a:r>
              <a:t>      "模型实践、量化输出、推理引擎要一致。自动调优可形成质量基线，但“工具支持”不能代替算子可执行或真实加速证明。"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"先用目标模型已支持的配置建立质量与容量基线；新论文只有在同总字节、同负载下有增量价值时才投入适配。",</a:t>
            </a:r>
          </a:p>
          <a:p>
            <a:r>
              <a:t>  "boundary": "证据边界：官方文档，2026-10-09 复核；alpha02 非正式版、非确认的十月新发布；部署依模型实践核对。",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"[I1a] msModelSlim · 版本说明 / alpha02",</a:t>
            </a:r>
          </a:p>
          <a:p>
            <a:r>
              <a:t>      "url": "https://msmodelslim.readthedocs.io/zh-cn/latest/zh/release_notes/release_notes/"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"label": "[I1b] V1 算法总览",</a:t>
            </a:r>
          </a:p>
          <a:p>
            <a:r>
              <a:t>      "url": "https://msmodelslim.readthedocs.io/zh-cn/latest/zh/knowledge_base/quantization_algorithms/"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03 产业动态 · I2 · 算子执行</a:t>
            </a:r>
          </a:p>
          <a:p>
            <a:r>
              <a:t>量化 Attention：低精主体与高精尾块需要联合核算</a:t>
            </a:r>
          </a:p>
          <a:p>
            <a:r>
              <a:t>ops-transformer 主干公开目录 · 2026-10-09 复核 · KV Cache × 量化；关联激活 × 量化</a:t>
            </a:r>
          </a:p>
          <a:p>
            <a:r>
              <a:t>01  发生了什么 · 原始事实</a:t>
            </a:r>
          </a:p>
          <a:p>
            <a:r>
              <a:t>01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"section": "03 产业动态 · I2 · 算子执行",</a:t>
            </a:r>
          </a:p>
          <a:p>
            <a:r>
              <a:t>  "title": "量化 Attention：低精主体与高精尾块需要联合核算",</a:t>
            </a:r>
          </a:p>
          <a:p>
            <a:r>
              <a:t>  "meta": "ops-transformer 主干公开目录 · 2026-10-09 复核 · KV Cache × 量化；关联激活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"高精窗口接口",</a:t>
            </a:r>
          </a:p>
          <a:p>
            <a:r>
              <a:t>      "主干说明将 quant_flash_attn 从 15 输入扩至 18 输入，新增 v_tail 尾块高精窗口及配套元数据。"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"布局正确性修复",</a:t>
            </a:r>
          </a:p>
          <a:p>
            <a:r>
              <a:t>      "提交 26716275 描述真实 stride 传入地址计算，修复非连续 v_tail 被按连续布局寻址导致的精度错误。"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"可用范围待核对",</a:t>
            </a:r>
          </a:p>
          <a:p>
            <a:r>
              <a:t>      "目录说明在 CANN 9.2 TensorV2 环境验证；CANN 9.1 有既有版本检查限制。正式发布标签尚待确认。"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"混合精度缓存：保质量也增加容量",</a:t>
            </a:r>
          </a:p>
          <a:p>
            <a:r>
              <a:t>      "高精尾块意味着不能把全部 KV 都按 MXFP8 计算。比较缓存总字节时，要纳入尾块、尺度与布局元数据。"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"论文方案与工程路径的连接点",</a:t>
            </a:r>
          </a:p>
          <a:p>
            <a:r>
              <a:t>      "KV 量化论文若需要高精残差窗口，可优先核对已有尾块接口；窗口策略、布局检查和 Attention 合计时延仍需验证。"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"把高精尾块列为 KV 量化的工程候选；先核对合法布局、窗口字节与版本，再测质量—容量—时延的取舍。",</a:t>
            </a:r>
          </a:p>
          <a:p>
            <a:r>
              <a:t>  "boundary": "证据边界：主干目录公开变更说明；未重跑项目测试，提交精确日期未确认；主干能力不等于安装包已发布。",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"[I2] quant_flash_attn · 主干目录与提交描述",</a:t>
            </a:r>
          </a:p>
          <a:p>
            <a:r>
              <a:t>      "url": "https://gitcode.com/cann/ops-transformer/tree/master/attention/quant_flash_attn"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03 产业动态 · I3 · 服务集成</a:t>
            </a:r>
          </a:p>
          <a:p>
            <a:r>
              <a:t>vLLM-Ascend 候选版：低精度支持必须细到模型和层</a:t>
            </a:r>
          </a:p>
          <a:p>
            <a:r>
              <a:t>v0.27.1rc1 · 说明日期 09-24 / GitHub 发布 09-29 · 权重／激活／KV Cache × 量化</a:t>
            </a:r>
          </a:p>
          <a:p>
            <a:r>
              <a:t>01  发生了什么 · 原始事实</a:t>
            </a:r>
          </a:p>
          <a:p>
            <a:r>
              <a:t>01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"section": "03 产业动态 · I3 · 服务集成",</a:t>
            </a:r>
          </a:p>
          <a:p>
            <a:r>
              <a:t>  "title": "vLLM-Ascend 候选版：低精度支持必须细到模型和层",</a:t>
            </a:r>
          </a:p>
          <a:p>
            <a:r>
              <a:t>  "meta": "v0.27.1rc1 · 说明日期 09-24 / GitHub 发布 09-29 · 权重／激活／KV Cache × 量化",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"模型和硬件限定",</a:t>
            </a:r>
          </a:p>
          <a:p>
            <a:r>
              <a:t>      "MiniMax-M3 覆盖 Atlas 800 A3、950DT；DeepSeek-V4-Flash 覆盖 950DT。A2 未充分验证。"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"量化路径不是全层同精度",</a:t>
            </a:r>
          </a:p>
          <a:p>
            <a:r>
              <a:t>      "MiniMax-M3 新增 W8A8 与 ModelOpt 兼容 MXFP8；fp8 缓存开关下，MSA／index 为 FP8，dense GQA 默认 BF16。"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"配套基线明确",</a:t>
            </a:r>
          </a:p>
          <a:p>
            <a:r>
              <a:t>      "发布镜像配套 vLLM 0.27.1、CANN 9.1.0、HDK 26.1.1、PyTorch／torch_npu 2.10.0 系列。"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"容量估计必须按层计算",</a:t>
            </a:r>
          </a:p>
          <a:p>
            <a:r>
              <a:t>      "全模型缓存不能统一按 C8估算。要读取实际缓存类型、BF16 回退与各层占比，再计算并发容量。"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"算子和调度改变收益兑现方式",</a:t>
            </a:r>
          </a:p>
          <a:p>
            <a:r>
              <a:t>      "发布说明含稀疏 Attention、索引与 TP 通信变化；研究比较要固定完整镜像，区分数值压缩收益与运行栈优化收益。"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"仅在声明支持的模型／硬件组合建立候选基线；先确认逐层 dtype 和回退，再测同质量与 SLA 下的容量及 TPOT。",</a:t>
            </a:r>
          </a:p>
          <a:p>
            <a:r>
              <a:t>  "boundary": "证据边界：官方候选发布说明；不是正式版或十月新发布，不代表 A2 等范围外组合可用；未有昇腾本地实测。",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"[I3] vLLM-Ascend v0.27.1rc1 · Features / Scope / Dependencies",</a:t>
            </a:r>
          </a:p>
          <a:p>
            <a:r>
              <a:t>      "url": "https://github.com/vllm-project/vllm-ascend/releases/tag/v0.27.1rc1"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03 产业动态 · I4 · 运行正确性</a:t>
            </a:r>
          </a:p>
          <a:p>
            <a:r>
              <a:t>vLLM-Ascend 正式补丁：压缩收益先过正确性门槛</a:t>
            </a:r>
          </a:p>
          <a:p>
            <a:r>
              <a:t>v0.23.0.post1 · 说明日期 09-21 / GitHub 发布 09-22 · 既有补丁，本月复核</a:t>
            </a:r>
          </a:p>
          <a:p>
            <a:r>
              <a:t>01  发生了什么 · 原始事实</a:t>
            </a:r>
          </a:p>
          <a:p>
            <a:r>
              <a:t>01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"section": "03 产业动态 · I4 · 运行正确性",</a:t>
            </a:r>
          </a:p>
          <a:p>
            <a:r>
              <a:t>  "title": "vLLM-Ascend 正式补丁：压缩收益先过正确性门槛",</a:t>
            </a:r>
          </a:p>
          <a:p>
            <a:r>
              <a:t>  "meta": "v0.23.0.post1 · 说明日期 09-21 / GitHub 发布 09-22 · 既有补丁，本月复核",</a:t>
            </a:r>
          </a:p>
          <a:p>
            <a:r>
              <a:t>  "facts": [</a:t>
            </a:r>
          </a:p>
          <a:p>
            <a:r>
              <a:t>    [</a:t>
            </a:r>
          </a:p>
          <a:p>
            <a:r>
              <a:t>      "KV 写入修复",</a:t>
            </a:r>
          </a:p>
          <a:p>
            <a:r>
              <a:t>      "DP 对齐 dummy run 前使各 KV group 的 slot mapping 失效，修复陈旧 KV-cache 写入。"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"量化缓冲区稳定性",</a:t>
            </a:r>
          </a:p>
          <a:p>
            <a:r>
              <a:t>      "修复 Atlas 300I DUO 的 MTP overlay 前缀缓存精度；ACL Graph 下 RL 重载时保持 W8A8 MXFP8 转换缓冲稳定。"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"KV Pool 依赖固定",</a:t>
            </a:r>
          </a:p>
          <a:p>
            <a:r>
              <a:t>      "锁定 memfabric_hybrid 与 memcache_hybrid 为 1.2.0；这些修复分属各自执行条件。"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"impacts": [</a:t>
            </a:r>
          </a:p>
          <a:p>
            <a:r>
              <a:t>    [</a:t>
            </a:r>
          </a:p>
          <a:p>
            <a:r>
              <a:t>      "错误复用会伪装成量化质量损失",</a:t>
            </a:r>
          </a:p>
          <a:p>
            <a:r>
              <a:t>      "KV 写入、前缀复用和权重重载的问题可能污染质量比较。应先排除状态错误，再归因于量化误差。"</a:t>
            </a:r>
          </a:p>
          <a:p>
            <a:r>
              <a:t>    ],</a:t>
            </a:r>
          </a:p>
          <a:p>
            <a:r>
              <a:t>    [</a:t>
            </a:r>
          </a:p>
          <a:p>
            <a:r>
              <a:t>      "基线要包含真实生命周期",</a:t>
            </a:r>
          </a:p>
          <a:p>
            <a:r>
              <a:t>      "单次静态推理不足以覆盖复用、重载和分布式路径。仅对业务使用的路径补充回归，避免把相关补丁泛化为所有模型收益。"</a:t>
            </a:r>
          </a:p>
          <a:p>
            <a:r>
              <a:t>    ]</a:t>
            </a:r>
          </a:p>
          <a:p>
            <a:r>
              <a:t>  ],</a:t>
            </a:r>
          </a:p>
          <a:p>
            <a:r>
              <a:t>  "view": "现网涉及上述路径时，先评估补丁基线并回归正确性；确认结果一致后，再比较论文方案的净性能收益。",</a:t>
            </a:r>
          </a:p>
          <a:p>
            <a:r>
              <a:t>  "boundary": "证据边界：官方 Bug Fixes 与依赖变更；精度修复不等于吞吐提升，正式补丁也不证明所有模型／硬件可用。",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"label": "[I4] vLLM-Ascend v0.23.0.post1 · Bug Fixes / Other Changes",</a:t>
            </a:r>
          </a:p>
          <a:p>
            <a:r>
              <a:t>      "url": "https://github.com/vllm-project/vllm-ascend/releases/tag/v0.23.0.post1"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目标是质量损失小于1%，同时提高吞吐、降低时延。业务分两类：LLM可以先以Qwen3.8-27B为例，但不限于这个模型；另一类是降噪、翻译等领域模型。这两类不能套同一套压缩方案。我们需要分别判断：是权重读取拖慢逐词生成，是长上下文缓存限制并发，还是降低位宽以后质量不够。LLM要分开看首词和逐词时延，领域模型要看任务质量与端到端响应。310P、910B和950的执行条件也要逐一核对，950的具体型号目前还不确定。后面三项技术分别对应这三个问题，不会只凭位宽更低就判定更好。</a:t>
            </a:r>
          </a:p>
          <a:p/>
          <a:p>
            <a:r>
              <a:t>阅读衔接：下面看三项论文各自真正证明了什么。</a:t>
            </a:r>
          </a:p>
          <a:p/>
          <a:p>
            <a:r>
              <a:t>来源与既有复核记录：</a:t>
            </a:r>
          </a:p>
          <a:p>
            <a:r>
              <a:t># PPT 第3页：本期筛选</a:t>
            </a:r>
          </a:p>
          <a:p/>
          <a:p>
            <a:r>
              <a:t>## 建议标题</a:t>
            </a:r>
          </a:p>
          <a:p>
            <a:r>
              <a:t>优先穿刺三条路线，先验证业务收益，再决定昇腾移植</a:t>
            </a:r>
          </a:p>
          <a:p/>
          <a:p>
            <a:r>
              <a:t>## 页首判断</a:t>
            </a:r>
          </a:p>
          <a:p>
            <a:r>
              <a:t>10篇论文中，优先研究 AlignQuant、AttSVD 与 Align Then Correct：分别解决“权重读取慢”“长上下文缓存大”“低比特质量掉”。这三条有可核对的有效证据，但尚无一条证明在我们的昇腾业务上同时达到精度损失&lt;1%、高吞吐与低时延。</a:t>
            </a:r>
          </a:p>
          <a:p/>
          <a:p>
            <a:r>
              <a:t>## 主体（三行或三张横向卡片）</a:t>
            </a:r>
          </a:p>
          <a:p/>
          <a:p>
            <a:r>
              <a:t>| 优先路线 | 为什么值得试：论文事实 | 此次要回答的问题 |</a:t>
            </a:r>
          </a:p>
          <a:p>
            <a:r>
              <a:t>|---|---|---|</a:t>
            </a:r>
          </a:p>
          <a:p>
            <a:r>
              <a:t>| **权重 × 量化｜AlignQuant** | Llama-3.2-3B / A100 / B1，TPOT 17.19→7.54 ms，驻留显存5.99→2.72 GiB；但TTFT 17.47→19.67 ms。 | 在昇腾上，块对齐W4/W8能否保住质量，同时减少真实权重读取与逐字时延，而不是只减少文件大小？ |</a:t>
            </a:r>
          </a:p>
          <a:p>
            <a:r>
              <a:t>| **KV Cache × 低秩｜AttSVD** | Qwen3-8B 32k KV张量4.500→2.260 GiB；LongBench九任务均分51.8→51.8。论文未报告TTFT/TPOT。 | 注意力加权、动态选秩能否保持长文本质量？在线SVD与重建是否吃掉省缓存带来的收益？ |</a:t>
            </a:r>
          </a:p>
          <a:p>
            <a:r>
              <a:t>| **权重 × 量化/低秩｜Align Then Correct** | Qwen3-8B，3-bit+rank64后CSQA69.11，FP16为69.38（−0.27pp）；增加适配器存储，时延未报告。 | 先对齐再校正能否修复业务低比特误差？补偿分支计入后，是否仍有净显存与时延收益？ |</a:t>
            </a:r>
          </a:p>
          <a:p/>
          <a:p>
            <a:r>
              <a:t>## 页脚筛选结果</a:t>
            </a:r>
          </a:p>
          <a:p>
            <a:r>
              <a:t>**保留观察**：StagQ、DeferKV、Page-EntroKV——分别缺真实权重时延、严格质量达标或服务级证据。</a:t>
            </a:r>
          </a:p>
          <a:p>
            <a:r>
              <a:t>**暂缓直接移植**：TaSQ 1-bit、DBW 1.61-bit、SpAx、SAGA——当前关键配置存在明显质量损失，或仅适合卸载/需再训练场景。</a:t>
            </a:r>
          </a:p>
          <a:p/>
          <a:p>
            <a:r>
              <a:t>**适用边界**：上表为LLM候选，业务以Qwen3.8-27B为例；10篇均未直接验证降噪/翻译领域模型，也未验证310P/910B/950。950具体型号待确认。</a:t>
            </a:r>
          </a:p>
          <a:p/>
          <a:p>
            <a:r>
              <a:t>## 排版建议</a:t>
            </a:r>
          </a:p>
          <a:p>
            <a:r>
              <a:t>标题下只保留一句判断；主体三行表用“论文事实 / 要验证的问题”两列；三个路线名与技术地图一致。数值不采用全绿：AlignQuant TTFT变慢用警示色；“未报告”保留灰色文本。不能用三张大成功卡暗示三条已经可落地。</a:t>
            </a:r>
          </a:p>
          <a:p/>
          <a:p>
            <a:r>
              <a:t>---</a:t>
            </a:r>
          </a:p>
          <a:p/>
          <a:p>
            <a:r>
              <a:t># PPT 第16页：研究建议</a:t>
            </a:r>
          </a:p>
          <a:p/>
          <a:p>
            <a:r>
              <a:t>## 建议标题</a:t>
            </a:r>
          </a:p>
          <a:p>
            <a:r>
              <a:t>把论文变成三个可执行实验：测清质量、内存与时延的净收益</a:t>
            </a:r>
          </a:p>
          <a:p/>
          <a:p>
            <a:r>
              <a:t>## 顶部一句话</a:t>
            </a:r>
          </a:p>
          <a:p>
            <a:r>
              <a:t>先在一套可复现的910B业务环境完成机制与端到端验证，再按实际算子能力评估310P；950在型号与软件栈明确后纳入。以下是实验计划，不是昇腾已实现能力或承诺收益。</a:t>
            </a:r>
          </a:p>
          <a:p/>
          <a:p>
            <a:r>
              <a:t>## 主体：三个实验，三种明确决策</a:t>
            </a:r>
          </a:p>
          <a:p/>
          <a:p>
            <a:r>
              <a:t>### 01 AlignQuant：验证“块对齐混合精度”能否真正加快decode</a:t>
            </a:r>
          </a:p>
          <a:p>
            <a:r>
              <a:t>**做什么**：在LLM线性层复现prefill/decode联合敏感度选位；比较固定W8、固定W4与块级W4/W8，固定激活方案。先验证数值，再按目标矩阵核的合法tile和格式实现紧凑加载。</a:t>
            </a:r>
          </a:p>
          <a:p>
            <a:r>
              <a:t>**为什么**：论文已同时测到逐字时延和驻留显存改善，但首字变慢；关键是量化布局与算子执行共同设计。</a:t>
            </a:r>
          </a:p>
          <a:p>
            <a:r>
              <a:t>**怎么决定**：分别记录TTFT、稳态TPOT、吞吐和驻留/峰值显存。业务关键任务相对质量损失&lt;1%，真实TPOT与吞吐改善，且TTFT满足服务SLO，才扩大试点；若仅文件变小、运行时先展开全量高精度权重，则不能判为成功。</a:t>
            </a:r>
          </a:p>
          <a:p>
            <a:r>
              <a:t>**退出条件**：没有可执行的混合位宽核，或转换/启动开销吞掉节省的读取成本，暂停完整移植，保留敏感度分配研究。</a:t>
            </a:r>
          </a:p>
          <a:p/>
          <a:p>
            <a:r>
              <a:t>### 02 AttSVD：验证“动态低秩KV”能否增大长文本并发而不拖慢响应</a:t>
            </a:r>
          </a:p>
          <a:p>
            <a:r>
              <a:t>**做什么**：在真实长文本请求上对比不加权SVD、注意力加权SVD与动态K/V选秩；由保守缓存预算逐步压缩，分别测试Accum精确尾部和Stream分块压缩。</a:t>
            </a:r>
          </a:p>
          <a:p>
            <a:r>
              <a:t>**为什么**：已有KV张量接近减半且Qwen3-8B平均质量不下降的证据；缺口恰好是在线分解与逐层重建的时间成本。</a:t>
            </a:r>
          </a:p>
          <a:p>
            <a:r>
              <a:t>**怎么决定**：逐任务测长文检索、跨段推理与业务回答质量；把在线SVD计入TTFT、重建/分块压缩计入TPOT，同时测因子、精确尾部、临时缓冲的峰值显存。关键任务损失&lt;1%，且同SLO下可承载并发增加，才进入服务集成。</a:t>
            </a:r>
          </a:p>
          <a:p>
            <a:r>
              <a:t>**退出条件**：只能通过更慢响应换容量，或关键检索子任务退化，降低压缩率；不能用九任务平均分掩盖失败项。</a:t>
            </a:r>
          </a:p>
          <a:p/>
          <a:p>
            <a:r>
              <a:t>### 03 Align Then Correct：验证“两阶段低秩补偿”是否值得付出额外分支</a:t>
            </a:r>
          </a:p>
          <a:p>
            <a:r>
              <a:t>**做什么**：选业务已确认质量受损的低比特配置，保持量化权重冻结，比较无补偿、单阶段对齐、两阶段rank64补偿；研究复现3-bit机制，部署候选只使用目标环境已支持的位宽/格式。</a:t>
            </a:r>
          </a:p>
          <a:p>
            <a:r>
              <a:t>**为什么**：3-bit Qwen3-8B已接近FP16质量；比“直接尝试2-bit”更符合当前&lt;1%损失目标，但论文没有证明补偿后的推理速度与内存收益。</a:t>
            </a:r>
          </a:p>
          <a:p>
            <a:r>
              <a:t>**怎么决定**：同一量化权重下观察补偿恢复了哪些任务；将额外适配器字节、低秩GEMM及融合开销全部计入。只有质量回到&lt;1%损失、且仍优于现有部署的资源/延迟组合，才保留补偿分支。</a:t>
            </a:r>
          </a:p>
          <a:p>
            <a:r>
              <a:t>**退出条件**：补偿仍达不到质量门槛，或低秩分支抵消量化收益，升高位宽或保留敏感层，不继续压低位数。</a:t>
            </a:r>
          </a:p>
          <a:p/>
          <a:p>
            <a:r>
              <a:t>## 领域模型独立说明（底部细条）</a:t>
            </a:r>
          </a:p>
          <a:p>
            <a:r>
              <a:t>**降噪/翻译不能照搬LLM结论。** 可先借鉴两阶段误差补偿，前提是明确其线性层、任务损失及可求的统计；用降噪任务既有音质指标、翻译任务既有翻译质量指标和端到端时延验收。不对没有自回归KV的模型安排KV压缩实验。</a:t>
            </a:r>
          </a:p>
          <a:p/>
          <a:p>
            <a:r>
              <a:t>## 统一验收口径（讲者备注或末行小字）</a:t>
            </a:r>
          </a:p>
          <a:p>
            <a:r>
              <a:t>- “&lt;1%”暂按业务主质量指标相对下降理解，并同时显示原始分数与百分点变化；若业务另有定义，以业务定义为准。关键子任务分别验收，不只看平均值。</a:t>
            </a:r>
          </a:p>
          <a:p>
            <a:r>
              <a:t>- 对照必须同模型/数据集/硬件/软件版本/输入输出长度/并发；增加最大batch的容量收益另列，不混成同batch加速。</a:t>
            </a:r>
          </a:p>
          <a:p>
            <a:r>
              <a:t>- “权重字节”“KV张量”“模型驻留”“请求峰值”四种内存独立记录。</a:t>
            </a:r>
          </a:p>
          <a:p>
            <a:r>
              <a:t>- 不要求每条路线都同时实现所有收益；应用成功必须满足该服务的质量和时延SLO，并在目标资源/吞吐指标上产生净收益。</a:t>
            </a:r>
          </a:p>
          <a:p>
            <a:r>
              <a:t>- 3-bit、W4/W8、在线SVD以及rank64融合均为待验证方案，不声明310P、910B或未确定型号950已支持。</a:t>
            </a:r>
          </a:p>
          <a:p/>
          <a:p>
            <a:r>
              <a:t>## 第16页避免塞满文字的可见版（推荐真正上屏）</a:t>
            </a:r>
          </a:p>
          <a:p>
            <a:r>
              <a:t>三列，每列仅呈现如下四行，其余内容放speaker notes：</a:t>
            </a:r>
          </a:p>
          <a:p>
            <a:r>
              <a:t>1. AlignQuant｜改什么：联合敏感度选位＋块级W4/W8。验什么：同配置TTFT/TPOT、吞吐、真实显存。过关：质量&lt;1%且净收益成立。停在哪：混合核不可执行或解包吃掉收益。</a:t>
            </a:r>
          </a:p>
          <a:p>
            <a:r>
              <a:t>2. AttSVD｜改什么：注意力加权SVD＋动态K/V秩。验什么：关键长文本任务、在线SVD/重建代价。过关：同SLO可承载并发增加。停在哪：容量只靠牺牲响应或关键任务换来。</a:t>
            </a:r>
          </a:p>
          <a:p>
            <a:r>
              <a:t>3. Align Then Correct｜改什么：固定低比特权重＋两阶段rank64补偿。验什么：恢复的质量与新增分支成本。过关：&lt;1%质量损失且低比特仍有净收益。停在哪：补偿无效或开销抵消量化。</a:t>
            </a:r>
          </a:p>
          <a:p/>
          <a:p>
            <a:r>
              <a:t>## 依据</a:t>
            </a:r>
          </a:p>
          <a:p>
            <a:r>
              <a:t>- AlignQuant：https://arxiv.org/abs/2610.07457v1，Table1/2、AppendixG.5/G.7。</a:t>
            </a:r>
          </a:p>
          <a:p>
            <a:r>
              <a:t>- AttSVD：https://arxiv.org/pdf/2610.06927v1，Table1/2/4；速度证据缺失需补。</a:t>
            </a:r>
          </a:p>
          <a:p>
            <a:r>
              <a:t>- Align Then Correct：https://arxiv.org/abs/2610.08164v1，Table1/2、AppendixG。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要能区分原因。AlignQuant先固定总字节和激活配置，比较联合敏感度与固定分配，再把读取、解包、矩阵计算分开计时，确认少读字节是否换来净收益。ATC固定低比特底座和最终rank64，比较无补偿、单阶段和两阶段，并与同总字节的更高位宽比较。AttSVD则在相同容量下比较普通和注意力加权SVD，把在线分解、重建和精确尾部都计入。通过条件是关键业务质量达标，并在真实负载下取得可接受的时延、吞吐或容量收益；不满足就调整或停止。这里不预报提升比例，也不把还没确认的算子支持写成既成事实。</a:t>
            </a:r>
          </a:p>
          <a:p/>
          <a:p>
            <a:r>
              <a:t>深入解读：</a:t>
            </a:r>
          </a:p>
          <a:p>
            <a:r>
              <a:t>这里不是批准三个同时上马的项目，而是三个条件式研究入口。先用真实请求和现有基线确认瓶颈：如果decode被权重读取限制，做AlignQuant的块分配与紧凑执行；如果目标支持的低比特格式质量超过门槛，做ATC补偿与同总字节升位宽竞争；如果长文本KV限制并发，再做AttSVD。每条都要有能推翻自己的对照，先验证机制价值，再投入算子改造。统一固定模型、业务测试集、软件栈、负载和硬件，分别报告质量、TTFT、TPOT、吞吐、内存范围。低于1%的业务质量门槛和既有时延SLO先过，再比较目标收益，不设虚构的收益承诺。领域降噪和翻译使用自己的质量指标和端到端时延，没有自回归缓存的模型不套KV方案。</a:t>
            </a:r>
          </a:p>
          <a:p/>
          <a:p>
            <a:r>
              <a:t>问：为什么这三篇优先，是否只是论文数字更好看？</a:t>
            </a:r>
          </a:p>
          <a:p>
            <a:r>
              <a:t>答：选择依据是不同业务瓶颈与可检验的技术增量：AlignQuant有模型级执行证据，ATC提供低比特质量修复机制，AttSVD提供保留token位置的容量机制。它们的成熟度不同，也都没有昇腾业务实测。其他7篇因质量代价、卸载前提、训练成本或缺服务证据保留备查。</a:t>
            </a:r>
          </a:p>
          <a:p/>
          <a:p>
            <a:r>
              <a:t>问：什么结果会让我们停止，而不是继续调参？</a:t>
            </a:r>
          </a:p>
          <a:p>
            <a:r>
              <a:t>答：AlignQuant若解包或转换吃掉读取节省，暂停完整内核移植；ATC若关键质量不通过或被同总字节升位宽方案支配，停止额外分支；AttSVD若关键检索失败或只能放宽SLO换容量，不进入服务集成。停止的是当前配置或路线投入，不否认论文研究价值。</a:t>
            </a:r>
          </a:p>
          <a:p/>
          <a:p>
            <a:r>
              <a:t>问：怎样保证三类效果可比，且不是把不同实验拼在一起？</a:t>
            </a:r>
          </a:p>
          <a:p>
            <a:r>
              <a:t>答：性能与质量使用同一部署配置、数据版本和独立测试集；固定输入输出分布及并发，最大batch容量收益另列。TTFT、TPOT、总时延和微基准分开，权重字节、KV张量、驻留、峰值分开；质量原值、百分点、相对变化同时给出，关键子任务单验收。没有源数据的指标明确未报告，不反推。</a:t>
            </a:r>
          </a:p>
          <a:p/>
          <a:p>
            <a:r>
              <a:t>阅读衔接：这些对照足以支撑下一轮继续或停止的决定。</a:t>
            </a:r>
          </a:p>
          <a:p/>
          <a:p>
            <a:r>
              <a:t>来源与既有复核记录：</a:t>
            </a:r>
          </a:p>
          <a:p>
            <a:r>
              <a:t># PPT 第3页：本期筛选</a:t>
            </a:r>
          </a:p>
          <a:p/>
          <a:p>
            <a:r>
              <a:t>## 建议标题</a:t>
            </a:r>
          </a:p>
          <a:p>
            <a:r>
              <a:t>优先穿刺三条路线，先验证业务收益，再决定昇腾移植</a:t>
            </a:r>
          </a:p>
          <a:p/>
          <a:p>
            <a:r>
              <a:t>## 页首判断</a:t>
            </a:r>
          </a:p>
          <a:p>
            <a:r>
              <a:t>10篇论文中，优先研究 AlignQuant、AttSVD 与 Align Then Correct：分别解决“权重读取慢”“长上下文缓存大”“低比特质量掉”。这三条有可核对的有效证据，但尚无一条证明在我们的昇腾业务上同时达到精度损失&lt;1%、高吞吐与低时延。</a:t>
            </a:r>
          </a:p>
          <a:p/>
          <a:p>
            <a:r>
              <a:t>## 主体（三行或三张横向卡片）</a:t>
            </a:r>
          </a:p>
          <a:p/>
          <a:p>
            <a:r>
              <a:t>| 优先路线 | 为什么值得试：论文事实 | 此次要回答的问题 |</a:t>
            </a:r>
          </a:p>
          <a:p>
            <a:r>
              <a:t>|---|---|---|</a:t>
            </a:r>
          </a:p>
          <a:p>
            <a:r>
              <a:t>| **权重 × 量化｜AlignQuant** | Llama-3.2-3B / A100 / B1，TPOT 17.19→7.54 ms，驻留显存5.99→2.72 GiB；但TTFT 17.47→19.67 ms。 | 在昇腾上，块对齐W4/W8能否保住质量，同时减少真实权重读取与逐字时延，而不是只减少文件大小？ |</a:t>
            </a:r>
          </a:p>
          <a:p>
            <a:r>
              <a:t>| **KV Cache × 低秩｜AttSVD** | Qwen3-8B 32k KV张量4.500→2.260 GiB；LongBench九任务均分51.8→51.8。论文未报告TTFT/TPOT。 | 注意力加权、动态选秩能否保持长文本质量？在线SVD与重建是否吃掉省缓存带来的收益？ |</a:t>
            </a:r>
          </a:p>
          <a:p>
            <a:r>
              <a:t>| **权重 × 量化/低秩｜Align Then Correct** | Qwen3-8B，3-bit+rank64后CSQA69.11，FP16为69.38（−0.27pp）；增加适配器存储，时延未报告。 | 先对齐再校正能否修复业务低比特误差？补偿分支计入后，是否仍有净显存与时延收益？ |</a:t>
            </a:r>
          </a:p>
          <a:p/>
          <a:p>
            <a:r>
              <a:t>## 页脚筛选结果</a:t>
            </a:r>
          </a:p>
          <a:p>
            <a:r>
              <a:t>**保留观察**：StagQ、DeferKV、Page-EntroKV——分别缺真实权重时延、严格质量达标或服务级证据。</a:t>
            </a:r>
          </a:p>
          <a:p>
            <a:r>
              <a:t>**暂缓直接移植**：TaSQ 1-bit、DBW 1.61-bit、SpAx、SAGA——当前关键配置存在明显质量损失，或仅适合卸载/需再训练场景。</a:t>
            </a:r>
          </a:p>
          <a:p/>
          <a:p>
            <a:r>
              <a:t>**适用边界**：上表为LLM候选，业务以Qwen3.8-27B为例；10篇均未直接验证降噪/翻译领域模型，也未验证310P/910B/950。950具体型号待确认。</a:t>
            </a:r>
          </a:p>
          <a:p/>
          <a:p>
            <a:r>
              <a:t>## 排版建议</a:t>
            </a:r>
          </a:p>
          <a:p>
            <a:r>
              <a:t>标题下只保留一句判断；主体三行表用“论文事实 / 要验证的问题”两列；三个路线名与技术地图一致。数值不采用全绿：AlignQuant TTFT变慢用警示色；“未报告”保留灰色文本。不能用三张大成功卡暗示三条已经可落地。</a:t>
            </a:r>
          </a:p>
          <a:p/>
          <a:p>
            <a:r>
              <a:t>---</a:t>
            </a:r>
          </a:p>
          <a:p/>
          <a:p>
            <a:r>
              <a:t># PPT 第16页：研究建议</a:t>
            </a:r>
          </a:p>
          <a:p/>
          <a:p>
            <a:r>
              <a:t>## 建议标题</a:t>
            </a:r>
          </a:p>
          <a:p>
            <a:r>
              <a:t>把论文变成三个可执行实验：测清质量、内存与时延的净收益</a:t>
            </a:r>
          </a:p>
          <a:p/>
          <a:p>
            <a:r>
              <a:t>## 顶部一句话</a:t>
            </a:r>
          </a:p>
          <a:p>
            <a:r>
              <a:t>先在一套可复现的910B业务环境完成机制与端到端验证，再按实际算子能力评估310P；950在型号与软件栈明确后纳入。以下是实验计划，不是昇腾已实现能力或承诺收益。</a:t>
            </a:r>
          </a:p>
          <a:p/>
          <a:p>
            <a:r>
              <a:t>## 主体：三个实验，三种明确决策</a:t>
            </a:r>
          </a:p>
          <a:p/>
          <a:p>
            <a:r>
              <a:t>### 01 AlignQuant：验证“块对齐混合精度”能否真正加快decode</a:t>
            </a:r>
          </a:p>
          <a:p>
            <a:r>
              <a:t>**做什么**：在LLM线性层复现prefill/decode联合敏感度选位；比较固定W8、固定W4与块级W4/W8，固定激活方案。先验证数值，再按目标矩阵核的合法tile和格式实现紧凑加载。</a:t>
            </a:r>
          </a:p>
          <a:p>
            <a:r>
              <a:t>**为什么**：论文已同时测到逐字时延和驻留显存改善，但首字变慢；关键是量化布局与算子执行共同设计。</a:t>
            </a:r>
          </a:p>
          <a:p>
            <a:r>
              <a:t>**怎么决定**：分别记录TTFT、稳态TPOT、吞吐和驻留/峰值显存。业务关键任务相对质量损失&lt;1%，真实TPOT与吞吐改善，且TTFT满足服务SLO，才扩大试点；若仅文件变小、运行时先展开全量高精度权重，则不能判为成功。</a:t>
            </a:r>
          </a:p>
          <a:p>
            <a:r>
              <a:t>**退出条件**：没有可执行的混合位宽核，或转换/启动开销吞掉节省的读取成本，暂停完整移植，保留敏感度分配研究。</a:t>
            </a:r>
          </a:p>
          <a:p/>
          <a:p>
            <a:r>
              <a:t>### 02 AttSVD：验证“动态低秩KV”能否增大长文本并发而不拖慢响应</a:t>
            </a:r>
          </a:p>
          <a:p>
            <a:r>
              <a:t>**做什么**：在真实长文本请求上对比不加权SVD、注意力加权SVD与动态K/V选秩；由保守缓存预算逐步压缩，分别测试Accum精确尾部和Stream分块压缩。</a:t>
            </a:r>
          </a:p>
          <a:p>
            <a:r>
              <a:t>**为什么**：已有KV张量接近减半且Qwen3-8B平均质量不下降的证据；缺口恰好是在线分解与逐层重建的时间成本。</a:t>
            </a:r>
          </a:p>
          <a:p>
            <a:r>
              <a:t>**怎么决定**：逐任务测长文检索、跨段推理与业务回答质量；把在线SVD计入TTFT、重建/分块压缩计入TPOT，同时测因子、精确尾部、临时缓冲的峰值显存。关键任务损失&lt;1%，且同SLO下可承载并发增加，才进入服务集成。</a:t>
            </a:r>
          </a:p>
          <a:p>
            <a:r>
              <a:t>**退出条件**：只能通过更慢响应换容量，或关键检索子任务退化，降低压缩率；不能用九任务平均分掩盖失败项。</a:t>
            </a:r>
          </a:p>
          <a:p/>
          <a:p>
            <a:r>
              <a:t>### 03 Align Then Correct：验证“两阶段低秩补偿”是否值得付出额外分支</a:t>
            </a:r>
          </a:p>
          <a:p>
            <a:r>
              <a:t>**做什么**：选业务已确认质量受损的低比特配置，保持量化权重冻结，比较无补偿、单阶段对齐、两阶段rank64补偿；研究复现3-bit机制，部署候选只使用目标环境已支持的位宽/格式。</a:t>
            </a:r>
          </a:p>
          <a:p>
            <a:r>
              <a:t>**为什么**：3-bit Qwen3-8B已接近FP16质量；比“直接尝试2-bit”更符合当前&lt;1%损失目标，但论文没有证明补偿后的推理速度与内存收益。</a:t>
            </a:r>
          </a:p>
          <a:p>
            <a:r>
              <a:t>**怎么决定**：同一量化权重下观察补偿恢复了哪些任务；将额外适配器字节、低秩GEMM及融合开销全部计入。只有质量回到&lt;1%损失、且仍优于现有部署的资源/延迟组合，才保留补偿分支。</a:t>
            </a:r>
          </a:p>
          <a:p>
            <a:r>
              <a:t>**退出条件**：补偿仍达不到质量门槛，或低秩分支抵消量化收益，升高位宽或保留敏感层，不继续压低位数。</a:t>
            </a:r>
          </a:p>
          <a:p/>
          <a:p>
            <a:r>
              <a:t>## 领域模型独立说明（底部细条）</a:t>
            </a:r>
          </a:p>
          <a:p>
            <a:r>
              <a:t>**降噪/翻译不能照搬LLM结论。** 可先借鉴两阶段误差补偿，前提是明确其线性层、任务损失及可求的统计；用降噪任务既有音质指标、翻译任务既有翻译质量指标和端到端时延验收。不对没有自回归KV的模型安排KV压缩实验。</a:t>
            </a:r>
          </a:p>
          <a:p/>
          <a:p>
            <a:r>
              <a:t>## 统一验收口径（讲者备注或末行小字）</a:t>
            </a:r>
          </a:p>
          <a:p>
            <a:r>
              <a:t>- “&lt;1%”暂按业务主质量指标相对下降理解，并同时显示原始分数与百分点变化；若业务另有定义，以业务定义为准。关键子任务分别验收，不只看平均值。</a:t>
            </a:r>
          </a:p>
          <a:p>
            <a:r>
              <a:t>- 对照必须同模型/数据集/硬件/软件版本/输入输出长度/并发；增加最大batch的容量收益另列，不混成同batch加速。</a:t>
            </a:r>
          </a:p>
          <a:p>
            <a:r>
              <a:t>- “权重字节”“KV张量”“模型驻留”“请求峰值”四种内存独立记录。</a:t>
            </a:r>
          </a:p>
          <a:p>
            <a:r>
              <a:t>- 不要求每条路线都同时实现所有收益；应用成功必须满足该服务的质量和时延SLO，并在目标资源/吞吐指标上产生净收益。</a:t>
            </a:r>
          </a:p>
          <a:p>
            <a:r>
              <a:t>- 3-bit、W4/W8、在线SVD以及rank64融合均为待验证方案，不声明310P、910B或未确定型号950已支持。</a:t>
            </a:r>
          </a:p>
          <a:p/>
          <a:p>
            <a:r>
              <a:t>## 第16页避免塞满文字的可见版（推荐真正上屏）</a:t>
            </a:r>
          </a:p>
          <a:p>
            <a:r>
              <a:t>三列，每列仅呈现如下四行，其余内容放speaker notes：</a:t>
            </a:r>
          </a:p>
          <a:p>
            <a:r>
              <a:t>1. AlignQuant｜改什么：联合敏感度选位＋块级W4/W8。验什么：同配置TTFT/TPOT、吞吐、真实显存。过关：质量&lt;1%且净收益成立。停在哪：混合核不可执行或解包吃掉收益。</a:t>
            </a:r>
          </a:p>
          <a:p>
            <a:r>
              <a:t>2. AttSVD｜改什么：注意力加权SVD＋动态K/V秩。验什么：关键长文本任务、在线SVD/重建代价。过关：同SLO可承载并发增加。停在哪：容量只靠牺牲响应或关键任务换来。</a:t>
            </a:r>
          </a:p>
          <a:p>
            <a:r>
              <a:t>3. Align Then Correct｜改什么：固定低比特权重＋两阶段rank64补偿。验什么：恢复的质量与新增分支成本。过关：&lt;1%质量损失且低比特仍有净收益。停在哪：补偿无效或开销抵消量化。</a:t>
            </a:r>
          </a:p>
          <a:p/>
          <a:p>
            <a:r>
              <a:t>## 依据</a:t>
            </a:r>
          </a:p>
          <a:p>
            <a:r>
              <a:t>- AlignQuant：https://arxiv.org/abs/2610.07457v1，Table1/2、AppendixG.5/G.7。</a:t>
            </a:r>
          </a:p>
          <a:p>
            <a:r>
              <a:t>- AttSVD：https://arxiv.org/pdf/2610.06927v1，Table1/2/4；速度证据缺失需补。</a:t>
            </a:r>
          </a:p>
          <a:p>
            <a:r>
              <a:t>- Align Then Correct：https://arxiv.org/abs/2610.08164v1，Table1/2、AppendixG。</a:t>
            </a:r>
          </a:p>
          <a:p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权重 × 量化</a:t>
            </a:r>
          </a:p>
          <a:p>
            <a:r>
              <a:t>AlignQuant｜原始测试条件与结果</a:t>
            </a:r>
          </a:p>
          <a:p>
            <a:r>
              <a:t>Llama-3.2-3B-Instruct｜A100 40GB｜BF16对照</a:t>
            </a:r>
          </a:p>
          <a:p>
            <a:r>
              <a:t>B=1；输入128 / 输出512 tokens；60% W4 + 40% W8</a:t>
            </a:r>
          </a:p>
          <a:p>
            <a:r>
              <a:t>质量：WikiText-2及MMLU等6任务；系统负载未列文本集。</a:t>
            </a:r>
          </a:p>
          <a:p>
            <a:r>
              <a:t>← 返回第4页：技术与研究判断</a:t>
            </a:r>
          </a:p>
          <a:p>
            <a:r>
              <a:t>arXiv:2610.07457v1 · 原PDF第7页；连续裁剪、未改写原图 · 原图/原文可点击 · 指标复核 2026-10-15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"pdf_page": 7,</a:t>
            </a:r>
          </a:p>
          <a:p>
            <a:r>
              <a:t>  "pdf_rect": [</a:t>
            </a:r>
          </a:p>
          <a:p>
            <a:r>
              <a:t>    105.0,</a:t>
            </a:r>
          </a:p>
          <a:p>
            <a:r>
              <a:t>    125.0,</a:t>
            </a:r>
          </a:p>
          <a:p>
            <a:r>
              <a:t>    508.0,</a:t>
            </a:r>
          </a:p>
          <a:p>
            <a:r>
              <a:t>    205.0</a:t>
            </a:r>
          </a:p>
          <a:p>
            <a:r>
              <a:t>  ],</a:t>
            </a:r>
          </a:p>
          <a:p>
            <a:r>
              <a:t>  "pdf_sha256": "0a7290e3416c713673d64656cddb16805395259b13e4640f9ba0c597ce24fef1",</a:t>
            </a:r>
          </a:p>
          <a:p>
            <a:r>
              <a:t>  "sha256": "c09dfb4db914c6d7d165a6f88ca39fe395e68a936fa56959955f5cd67ed2a049",</a:t>
            </a:r>
          </a:p>
          <a:p>
            <a:r>
              <a:t>  "pixels": [</a:t>
            </a:r>
          </a:p>
          <a:p>
            <a:r>
              <a:t>    2401,</a:t>
            </a:r>
          </a:p>
          <a:p>
            <a:r>
              <a:t>    477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"selection": "Table 1: all metrics, headings and units; Llama3.2-3B context is supplied by slide conditions.",</a:t>
            </a:r>
          </a:p>
          <a:p>
            <a:r>
              <a:t>  "derivation": "Direct render from original PDF; contiguous crop; no relabeling, collage, highlight or synthesis."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激活 × 稀疏选择；关联权重 × 量化</a:t>
            </a:r>
          </a:p>
          <a:p>
            <a:r>
              <a:t>SpAx｜原始测试条件与结果</a:t>
            </a:r>
          </a:p>
          <a:p>
            <a:r>
              <a:t>如何读这张表</a:t>
            </a:r>
          </a:p>
          <a:p>
            <a:r>
              <a:t>Qwen3.6-27B｜RTX4090 / PCIe4.0×8｜B=1</a:t>
            </a:r>
          </a:p>
          <a:p>
            <a:r>
              <a:t>仅FFN从CPU卸载；Dense BF16 vs trellis近似（+10% PPL容忍）</a:t>
            </a:r>
          </a:p>
          <a:p>
            <a:r>
              <a:t>4步预热＋8步解码；输入长度未报告。质量另见Table 10。</a:t>
            </a:r>
          </a:p>
          <a:p>
            <a:r>
              <a:t>SSD实搬34.23→4.62 GB/token（−86.5%）；减少搬运不能等同减少显存或模型总存储。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"pdf_page": 17,</a:t>
            </a:r>
          </a:p>
          <a:p>
            <a:r>
              <a:t>  "pdf_rect": [</a:t>
            </a:r>
          </a:p>
          <a:p>
            <a:r>
              <a:t>    112.0,</a:t>
            </a:r>
          </a:p>
          <a:p>
            <a:r>
              <a:t>    359.0,</a:t>
            </a:r>
          </a:p>
          <a:p>
            <a:r>
              <a:t>    497.0,</a:t>
            </a:r>
          </a:p>
          <a:p>
            <a:r>
              <a:t>    491.0</a:t>
            </a:r>
          </a:p>
          <a:p>
            <a:r>
              <a:t>  ],</a:t>
            </a:r>
          </a:p>
          <a:p>
            <a:r>
              <a:t>  "pdf_sha256": "aab273fbc29c619cc615e8410e2bc90bef29a87e5d796680664c4994e1332dab",</a:t>
            </a:r>
          </a:p>
          <a:p>
            <a:r>
              <a:t>  "sha256": "93b4f164ff9835a08e46b177c553967258db2b905f70b10cc23de056324ed40b",</a:t>
            </a:r>
          </a:p>
          <a:p>
            <a:r>
              <a:t>  "pixels": [</a:t>
            </a:r>
          </a:p>
          <a:p>
            <a:r>
              <a:t>    2401,</a:t>
            </a:r>
          </a:p>
          <a:p>
            <a:r>
              <a:t>    824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"selection": "Table 7: both BF16 and Q4KM CPU/flash rows; full QWEN model/config identities and units.",</a:t>
            </a:r>
          </a:p>
          <a:p>
            <a:r>
              <a:t>  "derivation": "Direct render from original PDF; contiguous crop; no relabeling, collage, highlight or synthesis."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KV Cache × 量化</a:t>
            </a:r>
          </a:p>
          <a:p>
            <a:r>
              <a:t>TaSQ｜原始测试条件与结果</a:t>
            </a:r>
          </a:p>
          <a:p>
            <a:r>
              <a:t>性能：Qwen3-4B-Thinking-2507，单卡RTX 6000 Ada，SGLang。</a:t>
            </a:r>
          </a:p>
          <a:p>
            <a:r>
              <a:t>吞吐：2k入/32k出；TTFT：8k–32k输入、batch=1。</a:t>
            </a:r>
          </a:p>
          <a:p>
            <a:r>
              <a:t>质量：同模型，AIME24/25、LCB-v6、SciBench三种子均分；性能分测。</a:t>
            </a:r>
          </a:p>
          <a:p>
            <a:r>
              <a:t>← 返回第13页：技术与研究判断</a:t>
            </a:r>
          </a:p>
          <a:p>
            <a:r>
              <a:t>arXiv:2610.03027v1 · 原PDF第7页；连续裁剪、未改写原图 · 原图/原文可点击 · 指标复核 2026-10-15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"paper": "2610.03027",</a:t>
            </a:r>
          </a:p>
          <a:p>
            <a:r>
              <a:t>  "pdf_page": 7,</a:t>
            </a:r>
          </a:p>
          <a:p>
            <a:r>
              <a:t>  "pdf_rect": [</a:t>
            </a:r>
          </a:p>
          <a:p>
            <a:r>
              <a:t>    106,</a:t>
            </a:r>
          </a:p>
          <a:p>
            <a:r>
              <a:t>    237,</a:t>
            </a:r>
          </a:p>
          <a:p>
            <a:r>
              <a:t>    506,</a:t>
            </a:r>
          </a:p>
          <a:p>
            <a:r>
              <a:t>    317</a:t>
            </a:r>
          </a:p>
          <a:p>
            <a:r>
              <a:t>  ],</a:t>
            </a:r>
          </a:p>
          <a:p>
            <a:r>
              <a:t>  "pdf_sha256": "7cfa31393ec4fc2900fcc222db9752344e27fdd04cd056ea66626ee1d0735060",</a:t>
            </a:r>
          </a:p>
          <a:p>
            <a:r>
              <a:t>  "sha256": "4904013012c04c0ecd534102d430b2ccd2083bfccf1cece0453f68e16832d79f",</a:t>
            </a:r>
          </a:p>
          <a:p>
            <a:r>
              <a:t>  "pixels": [</a:t>
            </a:r>
          </a:p>
          <a:p>
            <a:r>
              <a:t>    2400,</a:t>
            </a:r>
          </a:p>
          <a:p>
            <a:r>
              <a:t>    480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"source_url": "https://arxiv.org/pdf/2610.03027v1",</a:t>
            </a:r>
          </a:p>
          <a:p>
            <a:r>
              <a:t>  "note": "Table 2: caption, headers, Qwen3-4B-Thinking-2507 rows",</a:t>
            </a:r>
          </a:p>
          <a:p>
            <a:r>
              <a:t>  "operation": "single continuous source-PDF crop; no composition or text modification"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KV Cache × KV Cache 淘汰</a:t>
            </a:r>
          </a:p>
          <a:p>
            <a:r>
              <a:t>Page-EntroKV｜原始测试条件与结果</a:t>
            </a:r>
          </a:p>
          <a:p>
            <a:r>
              <a:t>如何读这张表</a:t>
            </a:r>
          </a:p>
          <a:p>
            <a:r>
              <a:t>Qwen2.5-1.5B-Instruct；单卡T4；HF eager，逻辑分页16 tokens。</a:t>
            </a:r>
          </a:p>
          <a:p>
            <a:r>
              <a:t>pilot上下文约0.9k–8.2k；检索测试≤2.5k，保留预算20%。</a:t>
            </a:r>
          </a:p>
          <a:p>
            <a:r>
              <a:t>A100/vLLM/128k是后续计划，尚非已测配置。</a:t>
            </a:r>
          </a:p>
          <a:p>
            <a:r>
              <a:t>LongBench仅4×20例，缺Full KV同口径基线；不能计算精度损失，也不能宣称无损。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"paper": "2610.03135",</a:t>
            </a:r>
          </a:p>
          <a:p>
            <a:r>
              <a:t>  "pdf_page": 15,</a:t>
            </a:r>
          </a:p>
          <a:p>
            <a:r>
              <a:t>  "pdf_rect": [</a:t>
            </a:r>
          </a:p>
          <a:p>
            <a:r>
              <a:t>    35.5,</a:t>
            </a:r>
          </a:p>
          <a:p>
            <a:r>
              <a:t>    301,</a:t>
            </a:r>
          </a:p>
          <a:p>
            <a:r>
              <a:t>    294.5,</a:t>
            </a:r>
          </a:p>
          <a:p>
            <a:r>
              <a:t>    491</a:t>
            </a:r>
          </a:p>
          <a:p>
            <a:r>
              <a:t>  ],</a:t>
            </a:r>
          </a:p>
          <a:p>
            <a:r>
              <a:t>  "pdf_sha256": "1cb4360be18b02a8f404c49070ec30125ea89f42aa737967d911b10415c53794",</a:t>
            </a:r>
          </a:p>
          <a:p>
            <a:r>
              <a:t>  "sha256": "b67b1dae6f9eb92840ca7f554dde081bc409d58277a6bda4fe7a457d380736f9",</a:t>
            </a:r>
          </a:p>
          <a:p>
            <a:r>
              <a:t>  "pixels": [</a:t>
            </a:r>
          </a:p>
          <a:p>
            <a:r>
              <a:t>    1554,</a:t>
            </a:r>
          </a:p>
          <a:p>
            <a:r>
              <a:t>    1140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"source_url": "https://arxiv.org/pdf/2610.03135v1",</a:t>
            </a:r>
          </a:p>
          <a:p>
            <a:r>
              <a:t>  "note": "Table 6: both pooled and strict all-layer criteria; includes pilot and 20% budget caption",</a:t>
            </a:r>
          </a:p>
          <a:p>
            <a:r>
              <a:t>  "operation": "single continuous source-PDF crop; no composition or text modification"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KV Cache × 低秩分解</a:t>
            </a:r>
          </a:p>
          <a:p>
            <a:r>
              <a:t>AttSVD｜原始测试条件与结果</a:t>
            </a:r>
          </a:p>
          <a:p>
            <a:r>
              <a:t>Qwen3-8B，BF16、rank64；KV内存测试32k上下文。</a:t>
            </a:r>
          </a:p>
          <a:p>
            <a:r>
              <a:t>质量：LongBench九任务、1750例，50%缓存；与内存分测。</a:t>
            </a:r>
          </a:p>
          <a:p>
            <a:r>
              <a:t>全文未找到明确GPU型号、batch及分项时延结果。</a:t>
            </a:r>
          </a:p>
          <a:p>
            <a:r>
              <a:t>← 返回第6页：技术与研究判断</a:t>
            </a:r>
          </a:p>
          <a:p>
            <a:r>
              <a:t>arXiv:2610.06927v1 · 原PDF第7页；连续裁剪、未改写原图 · 原图/原文可点击 · 指标复核 2026-10-15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"paper": "2610.06927",</a:t>
            </a:r>
          </a:p>
          <a:p>
            <a:r>
              <a:t>  "pdf_page": 7,</a:t>
            </a:r>
          </a:p>
          <a:p>
            <a:r>
              <a:t>  "pdf_rect": [</a:t>
            </a:r>
          </a:p>
          <a:p>
            <a:r>
              <a:t>    106,</a:t>
            </a:r>
          </a:p>
          <a:p>
            <a:r>
              <a:t>    79,</a:t>
            </a:r>
          </a:p>
          <a:p>
            <a:r>
              <a:t>    506,</a:t>
            </a:r>
          </a:p>
          <a:p>
            <a:r>
              <a:t>    159</a:t>
            </a:r>
          </a:p>
          <a:p>
            <a:r>
              <a:t>  ],</a:t>
            </a:r>
          </a:p>
          <a:p>
            <a:r>
              <a:t>  "pdf_sha256": "e5898f828ecbebdfb1c400f14ea29df638adafc3ad3169d5b37376c4e639e63f",</a:t>
            </a:r>
          </a:p>
          <a:p>
            <a:r>
              <a:t>  "sha256": "560b1c091428f376f9905ec22af7023736c10a9c049c456cb9a7e8e6b02e96bb",</a:t>
            </a:r>
          </a:p>
          <a:p>
            <a:r>
              <a:t>  "pixels": [</a:t>
            </a:r>
          </a:p>
          <a:p>
            <a:r>
              <a:t>    2400,</a:t>
            </a:r>
          </a:p>
          <a:p>
            <a:r>
              <a:t>    480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"source_url": "https://arxiv.org/pdf/2610.06927v1",</a:t>
            </a:r>
          </a:p>
          <a:p>
            <a:r>
              <a:t>  "note": "Table 1: full KV memory table including model, context, GiB columns",</a:t>
            </a:r>
          </a:p>
          <a:p>
            <a:r>
              <a:t>  "operation": "single continuous source-PDF crop; no composition or text modification"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权重 × 量化</a:t>
            </a:r>
          </a:p>
          <a:p>
            <a:r>
              <a:t>StagQ｜原始测试条件与结果</a:t>
            </a:r>
          </a:p>
          <a:p>
            <a:r>
              <a:t>质量：Llama-3.1-8B；StagQ-XXS 2-bit / 2.35 bpw</a:t>
            </a:r>
          </a:p>
          <a:p>
            <a:r>
              <a:t>对照AnyBCQ 2.38 bpw与原始BF16；MMLU 5-shot / WT2</a:t>
            </a:r>
          </a:p>
          <a:p>
            <a:r>
              <a:t>执行实验：A100、B=1、合成权重，不能视作真实模型收益。</a:t>
            </a:r>
          </a:p>
          <a:p>
            <a:r>
              <a:t>← 返回第15页：技术与研究判断</a:t>
            </a:r>
          </a:p>
          <a:p>
            <a:r>
              <a:t>arXiv:2610.05977v1 · 原PDF第8页；连续裁剪、未改写原图 · 原图/原文可点击 · 指标复核 2026-10-15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"pdf_page": 8,</a:t>
            </a:r>
          </a:p>
          <a:p>
            <a:r>
              <a:t>  "pdf_rect": [</a:t>
            </a:r>
          </a:p>
          <a:p>
            <a:r>
              <a:t>    120.0,</a:t>
            </a:r>
          </a:p>
          <a:p>
            <a:r>
              <a:t>    124.0,</a:t>
            </a:r>
          </a:p>
          <a:p>
            <a:r>
              <a:t>    492.0,</a:t>
            </a:r>
          </a:p>
          <a:p>
            <a:r>
              <a:t>    211.0</a:t>
            </a:r>
          </a:p>
          <a:p>
            <a:r>
              <a:t>  ],</a:t>
            </a:r>
          </a:p>
          <a:p>
            <a:r>
              <a:t>  "pdf_sha256": "d7c8fa30c6fb6c9f8dfe5938e96c0d0760562e71e64ebc3f1722bd88388f1921",</a:t>
            </a:r>
          </a:p>
          <a:p>
            <a:r>
              <a:t>  "sha256": "5610f2846b9dc66b749279a8be392bef3207fd17cae6df040441632c16d75fe5",</a:t>
            </a:r>
          </a:p>
          <a:p>
            <a:r>
              <a:t>  "pixels": [</a:t>
            </a:r>
          </a:p>
          <a:p>
            <a:r>
              <a:t>    2401,</a:t>
            </a:r>
          </a:p>
          <a:p>
            <a:r>
              <a:t>    562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"selection": "Table 1 upper panel: headings, BF16 and complete 2-bit rows; 3-bit+ rows intentionally outside crop.",</a:t>
            </a:r>
          </a:p>
          <a:p>
            <a:r>
              <a:t>  "derivation": "Direct render from original PDF; contiguous crop; no relabeling, collage, highlight or synthesis."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权重 × 剪枝 / 量化 / 低秩分解</a:t>
            </a:r>
          </a:p>
          <a:p>
            <a:r>
              <a:t>DBW｜原始测试条件与结果</a:t>
            </a:r>
          </a:p>
          <a:p>
            <a:r>
              <a:t>如何读这张表</a:t>
            </a:r>
          </a:p>
          <a:p>
            <a:r>
              <a:t>LLaMA-2-7B｜1.61 bpw；group=128｜FP16对照</a:t>
            </a:r>
          </a:p>
          <a:p>
            <a:r>
              <a:t>校准RedPajama 4096×2048；测试WT2/C4＋8项零样本</a:t>
            </a:r>
          </a:p>
          <a:p>
            <a:r>
              <a:t>权重字节和质量为模型级；RTX3090内核测时是另一实验。</a:t>
            </a:r>
          </a:p>
          <a:p>
            <a:r>
              <a:t>图中 Table 5 的 PPL 6.22→10.54 为 WikiText-2/C4 均值；正文 Table 2 的 5.47→8.78 仅为 WikiText-2。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"pdf_page": 8,</a:t>
            </a:r>
          </a:p>
          <a:p>
            <a:r>
              <a:t>  "pdf_rect": [</a:t>
            </a:r>
          </a:p>
          <a:p>
            <a:r>
              <a:t>    106.0,</a:t>
            </a:r>
          </a:p>
          <a:p>
            <a:r>
              <a:t>    70.0,</a:t>
            </a:r>
          </a:p>
          <a:p>
            <a:r>
              <a:t>    506.0,</a:t>
            </a:r>
          </a:p>
          <a:p>
            <a:r>
              <a:t>    274.0</a:t>
            </a:r>
          </a:p>
          <a:p>
            <a:r>
              <a:t>  ],</a:t>
            </a:r>
          </a:p>
          <a:p>
            <a:r>
              <a:t>  "pdf_sha256": "0f57dbdd1ac55a1b4c7d5af058fcb8a5c907256518459d902a69ef912455e44c",</a:t>
            </a:r>
          </a:p>
          <a:p>
            <a:r>
              <a:t>  "sha256": "067b21e78180d58c6f463a2dc5110d2ad8ad85b8927651ff3ac16256f3fe6089",</a:t>
            </a:r>
          </a:p>
          <a:p>
            <a:r>
              <a:t>  "pixels": [</a:t>
            </a:r>
          </a:p>
          <a:p>
            <a:r>
              <a:t>    2400,</a:t>
            </a:r>
          </a:p>
          <a:p>
            <a:r>
              <a:t>    1224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"selection": "Table 5 including full caption with Mem definition/GB units and LLaMA2-7B column.",</a:t>
            </a:r>
          </a:p>
          <a:p>
            <a:r>
              <a:t>  "derivation": "Direct render from original PDF; contiguous crop; no relabeling, collage, highlight or synthesis."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权重 × 量化 / 低秩分解</a:t>
            </a:r>
          </a:p>
          <a:p>
            <a:r>
              <a:t>Align, Then Correct｜原始测试条件与结果</a:t>
            </a:r>
          </a:p>
          <a:p>
            <a:r>
              <a:t>如何读这张表</a:t>
            </a:r>
          </a:p>
          <a:p>
            <a:r>
              <a:t>Qwen3-8B｜A100 40GB｜QuIP# 3-bit + rank64</a:t>
            </a:r>
          </a:p>
          <a:p>
            <a:r>
              <a:t>对照原QuIP# 3-bit及FP16；WT2/C4、7项常识零样本</a:t>
            </a:r>
          </a:p>
          <a:p>
            <a:r>
              <a:t>校准：第一阶段128×2048，第二阶段16×512 tokens。</a:t>
            </a:r>
          </a:p>
          <a:p>
            <a:r>
              <a:t>2-bit常识均分64.51%，不能拿2-bit体积配3-bit精度；2-bit离线构建约63分钟。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"pdf_page": 6,</a:t>
            </a:r>
          </a:p>
          <a:p>
            <a:r>
              <a:t>  "pdf_rect": [</a:t>
            </a:r>
          </a:p>
          <a:p>
            <a:r>
              <a:t>    317.0,</a:t>
            </a:r>
          </a:p>
          <a:p>
            <a:r>
              <a:t>    50.0,</a:t>
            </a:r>
          </a:p>
          <a:p>
            <a:r>
              <a:t>    560.0,</a:t>
            </a:r>
          </a:p>
          <a:p>
            <a:r>
              <a:t>    232.0</a:t>
            </a:r>
          </a:p>
          <a:p>
            <a:r>
              <a:t>  ],</a:t>
            </a:r>
          </a:p>
          <a:p>
            <a:r>
              <a:t>  "pdf_sha256": "46584ebaa30076430998f71224401d713fec697a41d0d4c826bef9aea71315aa",</a:t>
            </a:r>
          </a:p>
          <a:p>
            <a:r>
              <a:t>  "sha256": "5cea75a922de3ff866e7d9ab60189d91bd76cc6480bcc0fccb77f468613d821a",</a:t>
            </a:r>
          </a:p>
          <a:p>
            <a:r>
              <a:t>  "pixels": [</a:t>
            </a:r>
          </a:p>
          <a:p>
            <a:r>
              <a:t>    2401,</a:t>
            </a:r>
          </a:p>
          <a:p>
            <a:r>
              <a:t>    1799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"selection": "Table 2 with Qwen3-8B/3-bit/4-bit identities, full metrics and caption.",</a:t>
            </a:r>
          </a:p>
          <a:p>
            <a:r>
              <a:t>  "derivation": "Direct render from original PDF; contiguous crop; no relabeling, collage, highlight or synthesis."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KV Cache × KV Cache 淘汰</a:t>
            </a:r>
          </a:p>
          <a:p>
            <a:r>
              <a:t>DeferKV｜原始测试条件与结果</a:t>
            </a:r>
          </a:p>
          <a:p>
            <a:r>
              <a:t>如何读这张表</a:t>
            </a:r>
          </a:p>
          <a:p>
            <a:r>
              <a:t>Qwen3-8B；A100 80GB；batch=1、贪心解码。</a:t>
            </a:r>
          </a:p>
          <a:p>
            <a:r>
              <a:t>效率：32k入/128出、1024 KV tokens/层，预热后五次均值。</a:t>
            </a:r>
          </a:p>
          <a:p>
            <a:r>
              <a:t>质量：LongBench16任务，512 KV tokens/层；与效率预算不同。</a:t>
            </a:r>
          </a:p>
          <a:p>
            <a:r>
              <a:t>64 tokens/层：DeferKV 43.97优于LAQ 42.45，但仍低于Full KV 49.77。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"paper": "2610.06286",</a:t>
            </a:r>
          </a:p>
          <a:p>
            <a:r>
              <a:t>  "pdf_page": 7,</a:t>
            </a:r>
          </a:p>
          <a:p>
            <a:r>
              <a:t>  "pdf_rect": [</a:t>
            </a:r>
          </a:p>
          <a:p>
            <a:r>
              <a:t>    68.5,</a:t>
            </a:r>
          </a:p>
          <a:p>
            <a:r>
              <a:t>    69.5,</a:t>
            </a:r>
          </a:p>
          <a:p>
            <a:r>
              <a:t>    526.5,</a:t>
            </a:r>
          </a:p>
          <a:p>
            <a:r>
              <a:t>    234</a:t>
            </a:r>
          </a:p>
          <a:p>
            <a:r>
              <a:t>  ],</a:t>
            </a:r>
          </a:p>
          <a:p>
            <a:r>
              <a:t>  "pdf_sha256": "0bdb967911cf4e4e83aade0c95d11406ddfc744f0378e0ac3cdb9ba87c946a05",</a:t>
            </a:r>
          </a:p>
          <a:p>
            <a:r>
              <a:t>  "sha256": "d0ddd878a4e1c727851d83200690441a207ada712856c4f2e07cf219bcd460d6",</a:t>
            </a:r>
          </a:p>
          <a:p>
            <a:r>
              <a:t>  "pixels": [</a:t>
            </a:r>
          </a:p>
          <a:p>
            <a:r>
              <a:t>    2748,</a:t>
            </a:r>
          </a:p>
          <a:p>
            <a:r>
              <a:t>    987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"source_url": "https://arxiv.org/pdf/2610.06286v1",</a:t>
            </a:r>
          </a:p>
          <a:p>
            <a:r>
              <a:t>  "note": "Table 1 excerpt: original headers, Qwen3-8B budgets64/512 and Full KV; continuous crop",</a:t>
            </a:r>
          </a:p>
          <a:p>
            <a:r>
              <a:t>  "operation": "single continuous source-PDF crop; no composition or text modification"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实验原表  /  KV Cache × GQA/MQA（Key头合并）</a:t>
            </a:r>
          </a:p>
          <a:p>
            <a:r>
              <a:t>SAGA｜原始测试条件与结果</a:t>
            </a:r>
          </a:p>
          <a:p>
            <a:r>
              <a:t>如何读这张表</a:t>
            </a:r>
          </a:p>
          <a:p>
            <a:r>
              <a:t>性能：Llama3.2-1B，H100；64k上下文、batch16；CUDA graphs。</a:t>
            </a:r>
          </a:p>
          <a:p>
            <a:r>
              <a:t>Key头8→4，Value保持8，Atop-N=1024；32步解码×10次。</a:t>
            </a:r>
          </a:p>
          <a:p>
            <a:r>
              <a:t>质量：同模型HellaSwag仅比较架构蒸馏，不含Atop-N联合效果。</a:t>
            </a:r>
          </a:p>
          <a:p>
            <a:r>
              <a:t>Qwen2.5-32B扩展仅未训练架构计时，没有质量结果；不可当作27B业务收益。</a:t>
            </a:r>
          </a:p>
          <a:p/>
          <a:p>
            <a:r>
              <a:t>来源与既有复核记录：</a:t>
            </a:r>
          </a:p>
          <a:p>
            <a:r>
              <a:t>{</a:t>
            </a:r>
          </a:p>
          <a:p>
            <a:r>
              <a:t>  "paper": "2610.04753",</a:t>
            </a:r>
          </a:p>
          <a:p>
            <a:r>
              <a:t>  "pdf_page": 20,</a:t>
            </a:r>
          </a:p>
          <a:p>
            <a:r>
              <a:t>  "pdf_rect": [</a:t>
            </a:r>
          </a:p>
          <a:p>
            <a:r>
              <a:t>    105.5,</a:t>
            </a:r>
          </a:p>
          <a:p>
            <a:r>
              <a:t>    69,</a:t>
            </a:r>
          </a:p>
          <a:p>
            <a:r>
              <a:t>    507.5,</a:t>
            </a:r>
          </a:p>
          <a:p>
            <a:r>
              <a:t>    235</a:t>
            </a:r>
          </a:p>
          <a:p>
            <a:r>
              <a:t>  ],</a:t>
            </a:r>
          </a:p>
          <a:p>
            <a:r>
              <a:t>  "pdf_sha256": "cc3f31c19d15bb0a782541d322831ac01eadff9d16ca282ecc3ec882a60ad883",</a:t>
            </a:r>
          </a:p>
          <a:p>
            <a:r>
              <a:t>  "sha256": "a0210eda2c2a511f9f7b11684dad72358d19229b6fc53e4adb419b928fabd350",</a:t>
            </a:r>
          </a:p>
          <a:p>
            <a:r>
              <a:t>  "pixels": [</a:t>
            </a:r>
          </a:p>
          <a:p>
            <a:r>
              <a:t>    2412,</a:t>
            </a:r>
          </a:p>
          <a:p>
            <a:r>
              <a:t>    996</a:t>
            </a:r>
          </a:p>
          <a:p>
            <a:r>
              <a:t>  ],</a:t>
            </a:r>
          </a:p>
          <a:p>
            <a:r>
              <a:t>  "kind": "results",</a:t>
            </a:r>
          </a:p>
          <a:p>
            <a:r>
              <a:t>  "source_url": "https://arxiv.org/pdf/2610.04753v1",</a:t>
            </a:r>
          </a:p>
          <a:p>
            <a:r>
              <a:t>  "note": "Table 5: full decode profile, Llama3.2-1B H100 64K batch16; includes units and end-to-end ms/token",</a:t>
            </a:r>
          </a:p>
          <a:p>
            <a:r>
              <a:t>  "operation": "single continuous source-PDF crop; no composition or text modification"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报告围绕一个问题：哪些压缩技术值得进入我们的业务实验。材料截止到10月9日，机制和指标在10月15日复核，并不是把资讯刷新到了今天。报告先梳理已观察到的事实，再分析它们与业务及昇腾执行条件的关系，最后给出投入建议。论文效果是研究依据，不能当作我们已经取得的收益。</a:t>
            </a:r>
          </a:p>
          <a:p/>
          <a:p>
            <a:r>
              <a:t>阅读衔接：下面先确认业务约束。</a:t>
            </a:r>
          </a:p>
          <a:p/>
          <a:p>
            <a:r>
              <a:t>来源与既有复核记录：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论文实际证明了什么。AlignQuant在A100上的3B模型实验中，逐词时延减少56.1%，驻留显存减少54.6%，但首词反而慢了12.6%。ATC在Qwen3-8B的3-bit加rank64配置上，把常识均分恢复到69.11%，原模型是69.38%，但是在线时延没有报告。AttSVD在Qwen3-8B的32k配置中让KV张量约减半，LongBench均分基本持平，同样没有时延证据。所以这是三种不同的价值：执行收益、质量恢复和缓存容量。它们不能按一个加速倍数排名，也不能直接外推到我们的27B模型或昇腾硬件。详细机制和实验原表都保留在后面的技术页。</a:t>
            </a:r>
          </a:p>
          <a:p/>
          <a:p>
            <a:r>
              <a:t>阅读衔接：下面按执行、质量和容量分别展开证据。</a:t>
            </a:r>
          </a:p>
          <a:p/>
          <a:p>
            <a:r>
              <a:t>来源与既有复核记录：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01 学术进展</a:t>
            </a:r>
          </a:p>
          <a:p>
            <a:r>
              <a:t>另外七篇保留研究价值，本轮不同时展开</a:t>
            </a:r>
          </a:p>
          <a:p>
            <a:r>
              <a:t>取舍依据是业务适用性、质量代价与系统证据。当前配置不优先，不等于技术方向没有价值。</a:t>
            </a:r>
          </a:p>
          <a:p>
            <a:r>
              <a:t>SpAx</a:t>
            </a:r>
          </a:p>
          <a:p>
            <a:r>
              <a:t>论文仅验证权重卸载场景，性能与质量预算未对齐</a:t>
            </a:r>
          </a:p>
          <a:p/>
          <a:p>
            <a:r>
              <a:t>阅读衔接：下面看外部变化是否改变这个取舍。</a:t>
            </a:r>
          </a:p>
          <a:p/>
          <a:p>
            <a:r>
              <a:t>来源与既有复核记录：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外部变化主要提供两点提醒。第一，截至10月9日的Mistral官方预览公告给出万亿总参数和520亿激活参数，权重仍是计划发布。激活参数少，不等于总权重不需要存储或搬运，所以权重容量和读取仍值得研究。第二，openTPU的作者实验把4-bit权重的尺度开销也算进去，实际是4.25比特每权重；其2B模型端到端解码约提升1.5倍，而不是按位宽减半推算两倍。这提醒我们必须算总字节和端到端收益。Strands的专用决策模型属于相邻方向，不能直接替代降噪、翻译或通用生成模型。因此热点用于修正研究边界，不作为本业务收益的证据。</a:t>
            </a:r>
          </a:p>
          <a:p/>
          <a:p>
            <a:r>
              <a:t>阅读衔接：接下来确认产业工具链能否承接这些路线。</a:t>
            </a:r>
          </a:p>
          <a:p/>
          <a:p>
            <a:r>
              <a:t>来源与既有复核记录：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资料回答的是论文如何进入可执行的系统。我们把它连成一条链：msModelSlim能否导出目标格式，ops-transformer有没有匹配的计算核和布局，vLLM-Ascend能否在真实服务中正确执行，最后再由业务质量和响应指标验收。例如高精KV尾块会增加容量，布局和状态复用错误也可能表现得像量化质量下降，所以不能只看到工具列了某种算法就认为已经落地。这些材料里有既有版本、候选版和主干提交，都是本月核对，不应一概说成十月正式发布。先确认模型、格式、算子、引擎和硬件的具体组合，才能知道论文真正需要改哪一层。</a:t>
            </a:r>
          </a:p>
          <a:p/>
          <a:p>
            <a:r>
              <a:t>阅读衔接：最后把候选变成能判定成败的实验。</a:t>
            </a:r>
          </a:p>
          <a:p/>
          <a:p>
            <a:r>
              <a:t>来源与既有复核记录：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本页供深入阅读。先明确与主线的关系，再说明具体机制和原始测试条件。结论仅限于本页原文支持的范围；缺少服务指标或业务实测时直接说明。</a:t>
            </a:r>
          </a:p>
          <a:p>
            <a:r>
              <a:t>阅读口径｜技术有效，不代表所有指标都改善</a:t>
            </a:r>
          </a:p>
          <a:p>
            <a:r>
              <a:t>本报告保留学术进展 → 热点资讯 → 产业动态 → 研究判断的主线。每项技术分别回答：省什么、快在哪里、质量损失多少，再判断是否值得迁移到业务。</a:t>
            </a:r>
          </a:p>
          <a:p>
            <a:r>
              <a:t>TTFT：首词时延</a:t>
            </a:r>
          </a:p>
          <a:p>
            <a:r>
              <a:t>固定模型、输入长度与batch，记录首个输出token耗时；预处理和在线量化造成的增加也必须展示。</a:t>
            </a:r>
          </a:p>
          <a:p>
            <a:r>
              <a:t>TPOT：逐词时延</a:t>
            </a:r>
          </a:p>
          <a:p/>
          <a:p>
            <a:r>
              <a:t>来源与既有复核记录：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000" dirty="0"/>
              <a:t/>
            </a:r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notesSlide" Target="../notesSlides/notesSlide3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0.png"/><Relationship Id="rId4" Type="http://schemas.openxmlformats.org/officeDocument/2006/relationships/hyperlink" Target="https://arxiv.org/pdf/2610.07457v1#page=4" TargetMode="External"/><Relationship Id="rId5" Type="http://schemas.openxmlformats.org/officeDocument/2006/relationships/image" Target="../media/image11.png"/><Relationship Id="rId6" Type="http://schemas.openxmlformats.org/officeDocument/2006/relationships/slide" Target="slide23.xml"/><Relationship Id="rId7" Type="http://schemas.openxmlformats.org/officeDocument/2006/relationships/hyperlink" Target="https://arxiv.org/pdf/2610.07457v1" TargetMode="External"/><Relationship Id="rId8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4.xml"/><Relationship Id="rId3" Type="http://schemas.openxmlformats.org/officeDocument/2006/relationships/image" Target="../media/image18.png"/><Relationship Id="rId4" Type="http://schemas.openxmlformats.org/officeDocument/2006/relationships/hyperlink" Target="https://arxiv.org/pdf/2610.02598v1#page=5" TargetMode="External"/><Relationship Id="rId5" Type="http://schemas.openxmlformats.org/officeDocument/2006/relationships/image" Target="../media/image19.png"/><Relationship Id="rId6" Type="http://schemas.openxmlformats.org/officeDocument/2006/relationships/slide" Target="slide24.xml"/><Relationship Id="rId7" Type="http://schemas.openxmlformats.org/officeDocument/2006/relationships/hyperlink" Target="https://arxiv.org/pdf/2610.02598v1" TargetMode="External"/><Relationship Id="rId8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4.xml"/><Relationship Id="rId3" Type="http://schemas.openxmlformats.org/officeDocument/2006/relationships/image" Target="../media/image20.png"/><Relationship Id="rId4" Type="http://schemas.openxmlformats.org/officeDocument/2006/relationships/hyperlink" Target="https://arxiv.org/pdf/2610.03027v1#page=4" TargetMode="External"/><Relationship Id="rId5" Type="http://schemas.openxmlformats.org/officeDocument/2006/relationships/image" Target="../media/image21.png"/><Relationship Id="rId6" Type="http://schemas.openxmlformats.org/officeDocument/2006/relationships/slide" Target="slide25.xml"/><Relationship Id="rId7" Type="http://schemas.openxmlformats.org/officeDocument/2006/relationships/hyperlink" Target="https://arxiv.org/pdf/2610.03027v1" TargetMode="External"/><Relationship Id="rId8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4.xml"/><Relationship Id="rId3" Type="http://schemas.openxmlformats.org/officeDocument/2006/relationships/image" Target="../media/image24.png"/><Relationship Id="rId4" Type="http://schemas.openxmlformats.org/officeDocument/2006/relationships/hyperlink" Target="https://arxiv.org/pdf/2610.03135v1#page=3" TargetMode="External"/><Relationship Id="rId5" Type="http://schemas.openxmlformats.org/officeDocument/2006/relationships/image" Target="../media/image25.png"/><Relationship Id="rId6" Type="http://schemas.openxmlformats.org/officeDocument/2006/relationships/slide" Target="slide26.xml"/><Relationship Id="rId7" Type="http://schemas.openxmlformats.org/officeDocument/2006/relationships/hyperlink" Target="https://arxiv.org/pdf/2610.03135v1" TargetMode="External"/><Relationship Id="rId8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26.png"/><Relationship Id="rId4" Type="http://schemas.openxmlformats.org/officeDocument/2006/relationships/hyperlink" Target="https://arxiv.org/pdf/2610.06927v1#page=3" TargetMode="External"/><Relationship Id="rId5" Type="http://schemas.openxmlformats.org/officeDocument/2006/relationships/image" Target="../media/image27.png"/><Relationship Id="rId6" Type="http://schemas.openxmlformats.org/officeDocument/2006/relationships/slide" Target="slide27.xml"/><Relationship Id="rId7" Type="http://schemas.openxmlformats.org/officeDocument/2006/relationships/hyperlink" Target="https://arxiv.org/pdf/2610.06927v1" TargetMode="External"/><Relationship Id="rId8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istral.ai/news/mistral-large-4/" TargetMode="External"/><Relationship Id="rId4" Type="http://schemas.openxmlformats.org/officeDocument/2006/relationships/hyperlink" Target="https://github.com/FeSens/openTPU" TargetMode="External"/><Relationship Id="rId5" Type="http://schemas.openxmlformats.org/officeDocument/2006/relationships/hyperlink" Target="https://strandsagents.com/blog/introducing-strands-decider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msmodelslim.readthedocs.io/zh-cn/latest/zh/knowledge_base/quantization_algorithms/" TargetMode="External"/><Relationship Id="rId3" Type="http://schemas.openxmlformats.org/officeDocument/2006/relationships/hyperlink" Target="https://gitcode.com/cann/ops-transformer" TargetMode="External"/><Relationship Id="rId4" Type="http://schemas.openxmlformats.org/officeDocument/2006/relationships/hyperlink" Target="https://github.com/vllm-project/vllm-ascend/releases/tag/v0.27.1rc1" TargetMode="External"/><Relationship Id="rId5" Type="http://schemas.openxmlformats.org/officeDocument/2006/relationships/hyperlink" Target="https://gitcode.com/cann/release-management/blob/master/9.1.1/release-notes.md" TargetMode="External"/><Relationship Id="rId6" Type="http://schemas.openxmlformats.org/officeDocument/2006/relationships/notesSlide" Target="../notesSlides/notesSlide13.xml"/><Relationship Id="rId7" Type="http://schemas.openxmlformats.org/officeDocument/2006/relationships/hyperlink" Target="https://github.com/FeSens/openTPU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randsagents.com/blog/introducing-strands-decider/" TargetMode="External"/><Relationship Id="rId3" Type="http://schemas.openxmlformats.org/officeDocument/2006/relationships/notesSlide" Target="../notesSlides/notes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msmodelslim.readthedocs.io/zh-cn/latest/zh/release_notes/release_notes/" TargetMode="External"/><Relationship Id="rId3" Type="http://schemas.openxmlformats.org/officeDocument/2006/relationships/hyperlink" Target="https://msmodelslim.readthedocs.io/zh-cn/latest/zh/knowledge_base/quantization_algorithms/" TargetMode="External"/><Relationship Id="rId4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code.com/cann/ops-transformer/tree/master/attention/quant_flash_attn" TargetMode="External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llm-project/vllm-ascend/releases/tag/v0.27.1rc1" TargetMode="External"/><Relationship Id="rId3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vllm-project/vllm-ascend/releases/tag/v0.23.0.post1" TargetMode="External"/><Relationship Id="rId3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3.xml"/><Relationship Id="rId3" Type="http://schemas.openxmlformats.org/officeDocument/2006/relationships/hyperlink" Target="https://arxiv.org/abs/2610.07457v1" TargetMode="External"/><Relationship Id="rId4" Type="http://schemas.openxmlformats.org/officeDocument/2006/relationships/slide" Target="slide30.xml"/><Relationship Id="rId5" Type="http://schemas.openxmlformats.org/officeDocument/2006/relationships/hyperlink" Target="https://arxiv.org/abs/2610.08164v1" TargetMode="External"/><Relationship Id="rId6" Type="http://schemas.openxmlformats.org/officeDocument/2006/relationships/slide" Target="slide27.xml"/><Relationship Id="rId7" Type="http://schemas.openxmlformats.org/officeDocument/2006/relationships/hyperlink" Target="https://arxiv.org/abs/2610.06927v1" TargetMode="External"/><Relationship Id="rId8" Type="http://schemas.openxmlformats.org/officeDocument/2006/relationships/notesSlide" Target="../notesSlides/notesSlide3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4.xml"/><Relationship Id="rId3" Type="http://schemas.openxmlformats.org/officeDocument/2006/relationships/image" Target="../media/image12.png"/><Relationship Id="rId4" Type="http://schemas.openxmlformats.org/officeDocument/2006/relationships/hyperlink" Target="https://arxiv.org/pdf/2610.05977v1#page=7" TargetMode="External"/><Relationship Id="rId5" Type="http://schemas.openxmlformats.org/officeDocument/2006/relationships/image" Target="../media/image13.png"/><Relationship Id="rId6" Type="http://schemas.openxmlformats.org/officeDocument/2006/relationships/slide" Target="slide28.xml"/><Relationship Id="rId7" Type="http://schemas.openxmlformats.org/officeDocument/2006/relationships/hyperlink" Target="https://arxiv.org/pdf/2610.05977v1" TargetMode="External"/><Relationship Id="rId8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4.xml"/><Relationship Id="rId3" Type="http://schemas.openxmlformats.org/officeDocument/2006/relationships/image" Target="../media/image14.png"/><Relationship Id="rId4" Type="http://schemas.openxmlformats.org/officeDocument/2006/relationships/hyperlink" Target="https://arxiv.org/pdf/2610.06026v1#page=2" TargetMode="External"/><Relationship Id="rId5" Type="http://schemas.openxmlformats.org/officeDocument/2006/relationships/image" Target="../media/image15.png"/><Relationship Id="rId6" Type="http://schemas.openxmlformats.org/officeDocument/2006/relationships/slide" Target="slide29.xml"/><Relationship Id="rId7" Type="http://schemas.openxmlformats.org/officeDocument/2006/relationships/hyperlink" Target="https://arxiv.org/pdf/2610.06026v1" TargetMode="External"/><Relationship Id="rId8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16.png"/><Relationship Id="rId4" Type="http://schemas.openxmlformats.org/officeDocument/2006/relationships/hyperlink" Target="https://arxiv.org/pdf/2610.08164v1#page=5" TargetMode="External"/><Relationship Id="rId5" Type="http://schemas.openxmlformats.org/officeDocument/2006/relationships/image" Target="../media/image17.png"/><Relationship Id="rId6" Type="http://schemas.openxmlformats.org/officeDocument/2006/relationships/slide" Target="slide30.xml"/><Relationship Id="rId7" Type="http://schemas.openxmlformats.org/officeDocument/2006/relationships/hyperlink" Target="https://arxiv.org/pdf/2610.08164v1" TargetMode="External"/><Relationship Id="rId8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4.xml"/><Relationship Id="rId3" Type="http://schemas.openxmlformats.org/officeDocument/2006/relationships/image" Target="../media/image22.png"/><Relationship Id="rId4" Type="http://schemas.openxmlformats.org/officeDocument/2006/relationships/hyperlink" Target="https://arxiv.org/pdf/2610.06286v1#page=5" TargetMode="External"/><Relationship Id="rId5" Type="http://schemas.openxmlformats.org/officeDocument/2006/relationships/image" Target="../media/image23.png"/><Relationship Id="rId6" Type="http://schemas.openxmlformats.org/officeDocument/2006/relationships/slide" Target="slide31.xml"/><Relationship Id="rId7" Type="http://schemas.openxmlformats.org/officeDocument/2006/relationships/hyperlink" Target="https://arxiv.org/pdf/2610.06286v1" TargetMode="External"/><Relationship Id="rId8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4.xml"/><Relationship Id="rId3" Type="http://schemas.openxmlformats.org/officeDocument/2006/relationships/image" Target="../media/image7.png"/><Relationship Id="rId4" Type="http://schemas.openxmlformats.org/officeDocument/2006/relationships/hyperlink" Target="https://arxiv.org/pdf/2610.04753v1#page=4" TargetMode="External"/><Relationship Id="rId5" Type="http://schemas.openxmlformats.org/officeDocument/2006/relationships/image" Target="../media/image8.png"/><Relationship Id="rId6" Type="http://schemas.openxmlformats.org/officeDocument/2006/relationships/slide" Target="slide32.xml"/><Relationship Id="rId7" Type="http://schemas.openxmlformats.org/officeDocument/2006/relationships/hyperlink" Target="https://arxiv.org/pdf/2610.04753v1" TargetMode="External"/><Relationship Id="rId8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hyperlink" Target="https://arxiv.org/pdf/2610.07457v1#page=7" TargetMode="External"/><Relationship Id="rId4" Type="http://schemas.openxmlformats.org/officeDocument/2006/relationships/slide" Target="slide4.xml"/><Relationship Id="rId5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hyperlink" Target="https://arxiv.org/pdf/2610.02598v1#page=17" TargetMode="External"/><Relationship Id="rId4" Type="http://schemas.openxmlformats.org/officeDocument/2006/relationships/slide" Target="slide5.xml"/><Relationship Id="rId5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hyperlink" Target="https://arxiv.org/pdf/2610.03027v1#page=7" TargetMode="External"/><Relationship Id="rId4" Type="http://schemas.openxmlformats.org/officeDocument/2006/relationships/slide" Target="slide6.xml"/><Relationship Id="rId5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hyperlink" Target="https://arxiv.org/pdf/2610.03135v1#page=15" TargetMode="External"/><Relationship Id="rId4" Type="http://schemas.openxmlformats.org/officeDocument/2006/relationships/slide" Target="slide7.xml"/><Relationship Id="rId5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hyperlink" Target="https://arxiv.org/pdf/2610.06927v1#page=7" TargetMode="External"/><Relationship Id="rId4" Type="http://schemas.openxmlformats.org/officeDocument/2006/relationships/slide" Target="slide8.xml"/><Relationship Id="rId5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hyperlink" Target="https://arxiv.org/pdf/2610.05977v1#page=8" TargetMode="External"/><Relationship Id="rId4" Type="http://schemas.openxmlformats.org/officeDocument/2006/relationships/slide" Target="slide18.xml"/><Relationship Id="rId5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hyperlink" Target="https://arxiv.org/pdf/2610.06026v1#page=8" TargetMode="External"/><Relationship Id="rId4" Type="http://schemas.openxmlformats.org/officeDocument/2006/relationships/slide" Target="slide19.xml"/><Relationship Id="rId5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hyperlink" Target="https://arxiv.org/pdf/2610.08164v1#page=6" TargetMode="External"/><Relationship Id="rId4" Type="http://schemas.openxmlformats.org/officeDocument/2006/relationships/slide" Target="slide20.xml"/><Relationship Id="rId5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hyperlink" Target="https://arxiv.org/pdf/2610.06286v1#page=7" TargetMode="External"/><Relationship Id="rId4" Type="http://schemas.openxmlformats.org/officeDocument/2006/relationships/slide" Target="slide21.xml"/><Relationship Id="rId5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hyperlink" Target="https://arxiv.org/pdf/2610.04753v1#page=20" TargetMode="External"/><Relationship Id="rId4" Type="http://schemas.openxmlformats.org/officeDocument/2006/relationships/slide" Target="slide22.xml"/><Relationship Id="rId5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5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9.xml"/><Relationship Id="rId3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2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云核  /  2026年10月推理压缩洞察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98448"/>
            <a:ext cx="10789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3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哪些压缩技术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3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值得进入昇腾业务验证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53512"/>
            <a:ext cx="107899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2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在质量损失小于1%的要求下，判断技术能否降低实际推理成本。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41063"/>
            <a:ext cx="107899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快速阅读 · 约8分钟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548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7页主线：1–3、8–11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业务问题、关键证据、外部变化与投入取舍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4251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深入阅读 · 约25分钟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7548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阅读1–11页，按需跳转原表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机制、消融对照、测试边界与停止条件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594360" y="5715000"/>
            <a:ext cx="4937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开始阅读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2823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材料截至2026-10-09；机制与指标复核2026-10-15。论文及厂商结果，不是本业务昇腾实测。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阅读口径｜技术有效，不代表所有指标都改善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本报告保留学术进展 → 热点资讯 → 产业动态 → 研究判断的主线。每项技术分别回答：省什么、快在哪里、质量损失多少，再判断是否值得迁移到业务。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56231"/>
            <a:ext cx="5513832" cy="12801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2020824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TTFT：首词时延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432303"/>
            <a:ext cx="518464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固定模型、输入长度与batch，记录首个输出token耗时；预处理和在线量化造成的增加也必须展示。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2784" y="1856231"/>
            <a:ext cx="5513832" cy="12801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2020824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TPOT：逐词时延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7376" y="2432303"/>
            <a:ext cx="518464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优先使用论文直接报告的TPOT。逐token解码微基准另行标注；吞吐量、总时延均不能替代。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92424"/>
            <a:ext cx="5513832" cy="12801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557016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内存：先明确范围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68496"/>
            <a:ext cx="518464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区分权重存储、KV张量、驻留GPU内存与峰值HBM。只给保留比例或位宽时，不能宣传为实测显存降幅。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2784" y="3392424"/>
            <a:ext cx="5513832" cy="128016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3557016"/>
            <a:ext cx="51846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精度：同时看两种基线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3968496"/>
            <a:ext cx="5184648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既比较压缩方法，也对照原模型。准确率百分点与相对百分比分开；PPL和LongBench分数不等于业务精度。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21224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业务目标：LLM（以Qwen3.8-27B为例）与降噪、翻译等领域模型；310P / 910B / 950（具体型号未确认）。质量损失须低于1%，同时追求高吞吐、低时延；本报告不把GPU论文结果当作昇腾实测。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3620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材料窗口截至2026-10-09；本次复核2026-10-15。全部数值保留原测试条件；缺失项明确写“未报告”。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37744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同一质量门槛下，压缩必须改善真实服务表现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62456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两类业务分别评估。LLM以Qwen3.8-27B为例，研究范围不限于该模型。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3969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LLM服务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139696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短输入与低并发：核查权重读取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长上下文与高并发：核查KV容量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9" y="2139696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关注首词、逐词、吞吐和峰值内存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瓶颈测量决定采用哪条路线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63824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领域模型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4290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降噪、翻译等既有模型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按实际网络结构判断可压缩对象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42900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关注音质/翻译质量与端到端时延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无自回归缓存时不套用KV方案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453128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18888"/>
            <a:ext cx="112471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共同约束：310P、910B及950分别建立基线；950型号待确认。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质量损失小于1%，须固定业务指标口径与关键子任务，不能用论文平均分代替。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843016"/>
            <a:ext cx="11247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本期问题：哪项技术值得先验证，什么结果足以支持继续投入？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225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01 学术进展  /  权重 × 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AlignQuant：用计算块对齐W4/W8分配与权重读取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混合精度若与硬件计算块错位，权重变小也未必变快。AlignQuant统一按64×64块分配位宽、打包和执行，并同时保护输入处理与逐词生成阶段的敏感块，让精度取舍与实际权重读取对应。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7457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939" y="2103120"/>
            <a:ext cx="3308593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双阶段敏感度：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权重按64×64分块，在A8激活下分别测输入处理和逐词生成的8→4-bit输出扰动，再用损失梯度加权。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块级混合精度：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把两阶段分数各自归一化后取较大值：任一阶段敏感的块优先留8-bit，其余按总预算用4-bit。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紧凑存储与解包：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每块仅存选中的一份权重；逐词生成时按4-bit紧凑读取、片上展开INT8，减少带宽占用但仍付解包成本。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Llama-3.2-3B-Instruct｜A100 40GB｜BF16对照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B=1；输入128 / 输出512 tokens；60% W4 + 40% W8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质量：WikiText-2及MMLU等6任务；系统负载未列文本集。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17.47 → 19.67 ms｜增加12.6%（更慢）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17.19 → 7.54 ms/token｜减少56.1%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驻留5.99→2.72 GiB（−54.6%）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峰值6.09→2.72 GiB（−55.3%）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MMLU 60.66→60.53%（−0.13个百分点）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WikiText-2 PPL 12.49→12.61（+0.96%）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吞吐58.18→132.28 tok/s；HellaSwag相对下降1.09%，不能宣称全部质量损失&lt;1%。</a:t>
            </a:r>
          </a:p>
        </p:txBody>
      </p:sp>
      <p:pic>
        <p:nvPicPr>
          <p:cNvPr id="30" name="Picture 29" descr="2610.07457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2521" y="5266944"/>
            <a:ext cx="2807629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arXiv:2610.07457v1 · Table 1–2；Appendix G.3/G.5/G.7 · 原图/原文可点击 · 机制重写 2026-10-15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优先核对紧凑权重能否直接执行。固定总字节比较选位方法，再固定选位比较加载路径；解包成本抵消读取收益时停止完整移植。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01 学术进展  /  激活 × 稀疏选择；关联权重 × 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SpAx：让中等贡献的权重列读近似值，减少卸载搬运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权重卸载时，逐词搬运可能成为瓶颈；继续增加跳过比例又会损伤质量。SpAx把“读或不读”改成原值、2-bit近似和跳过三档，让中等贡献的列少传字节但仍参与计算。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2598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33286"/>
            <a:ext cx="5184648" cy="13513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激活分档：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按每个token的激活大小重新分档：大激活列读原格式，中档读近似，小档跳过；各档数量由离线校准预算确定。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2-bit近似：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每列独立存2-bit近似码，选中后在GPU还原；误差再乘该列较小的输入激活，比直接删列保留更多输出贡献。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列聚合读取：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共享同一输入的投影矩阵，将对应权重列连续存放，再合并相邻读取请求；减少CPU或SSD卸载的碎片传输。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Qwen3.6-27B｜RTX4090 / PCIe4.0×8｜B=1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仅FFN从CPU卸载；Dense BF16 vs trellis近似（+10% PPL容忍）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4步预热＋8步解码；输入长度未报告。质量另见Table 10。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未报告首词时延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每token 2832→508 ms（−82.1%）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论文解码测时；未报告完整服务TPOT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驻留 / 峰值显存未报告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需传输权重34.23→3.78 GB/token（−89.0%）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WT2 PPL 7.40→8.16；ARC-C 60.3→57.6%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性能与质量的读取预算未对齐，不能视作同配置收益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SSD实搬34.23→4.62 GB/token（−86.5%）；减少搬运不能等同减少显存或模型总存储。</a:t>
            </a:r>
          </a:p>
        </p:txBody>
      </p:sp>
      <p:pic>
        <p:nvPicPr>
          <p:cNvPr id="30" name="Picture 29" descr="2610.02598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3690" y="5266944"/>
            <a:ext cx="1625290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只在业务确实需要权重卸载时研究三档读取。当前配置的质量代价超过业务目标，应先提高读取预算并测任务质量；达到&lt;1%损失后，再考虑把列聚合与近似解码迁移到昇腾。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arXiv:2610.02598v1 · Table 7/10；Appendix A · 原图/原文可点击 · 机制重写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7" name="TextBox 36">
            <a:hlinkClick action="ppaction://hlinksldjump" r:id="rId2"/>
          </p:cNvPr>
          <p:cNvSpPr txBox="1"/>
          <p:nvPr/>
        </p:nvSpPr>
        <p:spPr>
          <a:xfrm>
            <a:off x="9509760" y="237744"/>
            <a:ext cx="20116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返回本期筛选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01 学术进展  /  KV Cache × 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TaSQ：先重整Key分布，再用小码本压缩KV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极低比特码本很小，直接拟合Key容易把容量浪费在异常值和不重要的方向。TaSQ先按注意力敏感度重整Key分布，再把向量换成码本索引，以更少字节保存注意力真正依赖的信息。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3027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066" y="2103120"/>
            <a:ext cx="3120339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Query引导加权：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用校准Query估计各Key通道对注意力分数的影响，量化前据此缩放通道，让码本优先降低重要方向的误差。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归一化与分组：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同一token的各Key头共用尺度以抑制异常值，再按协方差把相关通道分组，使小码本更容易拟合。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向量码本解码：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把每组Key向量换成最近码字的索引，仅保存索引和尺度；Attention中查表还原，并融合位置旋转。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性能：Qwen3-4B-Thinking-2507，单卡RTX 6000 Ada，SGLang。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吞吐：2k入/32k出；TTFT：8k–32k输入、batch=1。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质量：同模型，AIME24/25、LCB-v6、SciBench三种子均分；性能分测。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比BF16增加10%–14%（8k–32k输入）；首token更慢。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未找到独立TPOT结果；不能由吞吐倍数换算。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总显存未报告；量化区约1.258 bit/元素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比BF16推算少92.1%，码本与精确窗口另计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Long-CoT均分：BF16 67.18→60.55，−6.63分；相对损失9.87%。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峰值吞吐220.8→412.6 tokens/s；各自最大batch从6→84，非同batch提速。</a:t>
            </a:r>
          </a:p>
        </p:txBody>
      </p:sp>
      <p:pic>
        <p:nvPicPr>
          <p:cNvPr id="30" name="Picture 29" descr="2610.03027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75" y="5266944"/>
            <a:ext cx="2788920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先在昇腾验证高于1-bit的KV向量量化与Attention查表融合，固定模型和并发后分别测TTFT、TPOT。当前质量损失明显，只有业务集损失小于1%且总时延达标，才推进更低位宽。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arXiv:2610.03027v1 · v1 §4；Table2（质量）；Fig4、§6.1（性能）；Appendix B/Table5（位宽） · 原图/原文可点击 · 机制重写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7" name="TextBox 36">
            <a:hlinkClick action="ppaction://hlinksldjump" r:id="rId2"/>
          </p:cNvPr>
          <p:cNvSpPr txBox="1"/>
          <p:nvPr/>
        </p:nvSpPr>
        <p:spPr>
          <a:xfrm>
            <a:off x="9509760" y="237744"/>
            <a:ext cx="20116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返回本期筛选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01 学术进展  /  KV Cache × KV Cache 淘汰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Page-EntroKV：先合并共享组评分，再按页淘汰KV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GQA各Query头单独选KV再取并集容易超预算，简单平均又会冲淡少数检索头的信号。Page-EntroKV先在共享组内按熵加权评分，再按页取舍，解决组内选择冲突。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3135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74" y="2103120"/>
            <a:ext cx="4570323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隔离sink干扰：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仅在计算熵时排除首部sink并重新归一化，避免“只盯开头”的低熵头被误判为检索头；不是删除这些token。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组内熵加权：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在共享同一份KV的Query组内，用负熵softmax加权汇总token分数；关注少数有效位置的头权重更高。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页级Top-k选择：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页分数取页内最高token分数，再按配额保留高分页；避免逐头各选再并集，但跨KV组物理页仍需取并集。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Qwen2.5-1.5B-Instruct；单卡T4；HF eager，逻辑分页16 tokens。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pilot上下文约0.9k–8.2k；检索测试≤2.5k，保留预算20%。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A100/vLLM/128k是后续计划，尚非已测配置。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作者明确尚无服务级TTFT实测。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作者明确尚无服务级逐token时延或吞吐实测。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20%是逻辑页保留预算；KV字节、整模型显存与峰值HBM均未实测。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20%预算：单次池化保留率100%；严格全层保留在25%–75%位置为0%。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LongBench仅4×20例，缺Full KV同口径基线；不能计算精度损失，也不能宣称无损。</a:t>
            </a:r>
          </a:p>
        </p:txBody>
      </p:sp>
      <p:pic>
        <p:nvPicPr>
          <p:cNvPr id="30" name="Picture 29" descr="2610.03135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162" y="5266944"/>
            <a:ext cx="760347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先在vLLM-Ascend接入“组内汇总后按页淘汰”，分开记录组内保留量、跨KV组页并集和实际释放的HBM；用全层检索与业务问答验证损失小于1%，再比较TTFT与TPOT。20%逻辑保留预算不能直接写成80%显存节省。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arXiv:2610.03135v1 · v1 §6.1（配置）；Table4（预算）；Table6–7（质量）；§6.5、§7（待验证项） · 原图/原文可点击 · 机制重写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7" name="TextBox 36">
            <a:hlinkClick action="ppaction://hlinksldjump" r:id="rId2"/>
          </p:cNvPr>
          <p:cNvSpPr txBox="1"/>
          <p:nvPr/>
        </p:nvSpPr>
        <p:spPr>
          <a:xfrm>
            <a:off x="9509760" y="237744"/>
            <a:ext cx="20116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返回本期筛选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01 学术进展  /  KV Cache × 低秩分解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AttSVD：保留全部token，用注意力加权选择低秩方向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删KV会丢失token，普通SVD又只追求KV数值接近，未必保住注意力输出。AttSVD先按注意力作用加权，再做低秩分解，保留全部token位置，但只存较少方向并在计算时重建。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6927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63" y="2103120"/>
            <a:ext cx="3239145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注意力加权：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用Query协方差加权Key，使误差贴近注意力分数；按每个token收到的注意力总量加权Value，强调输出贡献。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低秩因子存储：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对加权KV做截断SVD，只存“token×秩”和“秩×通道”两个因子；保留全部位置，用较少方向近似原矩阵。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精确尾部与重建：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解码时逐层重建KV，再拼上近期原值；Stream将离开窗口的老token分块压缩，窗口有界但压缩块仍累计。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Qwen3-8B，BF16、rank64；KV内存测试32k上下文。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质量：LongBench九任务、1750例，50%缓存；与内存分测。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全文未找到明确GPU型号、batch及分项时延结果。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未找到实测；在线SVD引入的预处理耗时尚不明确。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未找到实测；按层重建及Stream分块SVD成本须补测。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Qwen3-8B@32k：KV张量4.500→2.260 GiB，−49.8%；非整模型峰值。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同模型LongBench均分：Dense 51.8→Accum 51.8/Stream 51.9；非逐任务无损。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Phi-4同为50%缓存时36.7→36.0，相对损失1.91%；不能将小于1分写成小于1%。</a:t>
            </a:r>
          </a:p>
        </p:txBody>
      </p:sp>
      <p:pic>
        <p:nvPicPr>
          <p:cNvPr id="30" name="Picture 29" descr="2610.06927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875" y="5266944"/>
            <a:ext cx="2788920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arXiv:2610.06927v1 · v1 §3/Algorithm2（机制）；Table1（内存）；Table2（质量）；§4/Appendix D（配置） · 原图/原文可点击 · 机制重写 2026-10-15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仅在KV容量限制并发时启动。比较同预算raw SVD与加权SVD，把分解、重建、尾部和临时缓冲计入，验证同响应约束下能否多承载请求。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Mistral Large 4：万亿参数 MoE 把权重容量推到前台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2026-10-06 · Mistral 官方预览公告 · 关联技术地图：权重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模型规模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官方披露 1T 总参数、52B 激活参数；两者分别描述模型规模与稀疏激活规模。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开放状态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预览 API 已开放；权重计划月底发布。截止核对时，不把开放计划写成已交付。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研究窗口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权重和架构细节尚待发布；当前不能复核专家布局、可量化层或部署格式。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容量预算：总权重仍需有去处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52B 激活参数不能替代总参数容量账。需区分全量驻留、专家分层存储、每 token 搬运与通信成本。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技术选择：量化与驻留要共同设计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专家权重量化可减小存储与搬运字节，但收益取决于路由命中、解码开销和并行划分，不能只按名义位宽排名。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先列入权重 × 量化跟踪；等权重公开后，优先核对专家格式与驻留预算，再决定是否投入适配。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证据边界：厂商规格与发布计划；容量与路线取舍为分析判断。未证明压缩收益或昇腾支持。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3"/>
                <a:ea typeface="Microsoft YaHei"/>
                <a:cs typeface="Microsoft YaHei"/>
              </a:rPr>
              <a:t>[H1] Mistral 官方公告 · Preview / Frontier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openTPU：低比特要看总字节、质量与端到端收益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2026-10-01 作者实验 · build B · Kintex-7 PCIe 板卡 · 权重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编码成本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4-bit 权重采用两级块尺度；计入尺度后为 4.25 bit/weight，LM head 保留 INT8。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可比结果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Qwen3.5-2B：INT8 / 4-bit 的 wall 解码速度为 8.00 / 12.03 tok/s。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测量条件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512-token prompt、64 greedy tokens；device 与 wall 分开计，DRAM 流量由板卡计数器读取。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名义压缩率不能代替实际收益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12.03 / 8.00 约为 1.50 倍（计算值）；不能按位宽减半直接宣称两倍加速。尺度、保留层和反量化都要计费。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评测口径值得迁移，硬件倍数不能迁移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在昇腾报告总权重字节、端到端时延及质量变化。作者说明量化存在 PPL 代价，模拟器逐位一致不等于全精度质量无损。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把它作为量化评测口径参考；在同模型、同负载、同质量约束下比较昇腾基线，不照搬 FPGA 加速倍数。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证据边界：项目作者自测；10-01 为实验日。上述比值由原表计算，未进行昇腾复现。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7"/>
                <a:ea typeface="Microsoft YaHei"/>
                <a:cs typeface="Microsoft YaHei"/>
              </a:rPr>
              <a:t>[H2] openTPU README · Results / Method / 4-bit encoding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 热点资讯 · H3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Strands Decider 2B：先缩小任务职责，再压缩模型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2026-10-01 · Strands 官方开源介绍 · 相邻研究背景，非剪枝或蒸馏成果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模型改造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以 Qwen3.5-2B 为主干，替换 LM head 为 pointer head，用 rank-16 LoRA 微调。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任务边界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一次前向对给定选项打分；不能生成通用文本，不适合直接替代聊天、编码和摘要模型。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可研究性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官方开放代码、权重、训练数据与脚本；评测关注准确率、置信度校准与决策延迟。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压缩前先问：业务是否需要通用生成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分类、路由和选项决策可评估任务专用模型。改变任务职责与降低数值精度是两种取舍，收益不能混在一个压缩指标里。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研究顺序：先形成任务基线，再量化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若专用模型满足业务准确率，再评估低比特质量损失与服务成本。无法承担的复杂推理仍交给通用模型。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路由业务可单列试验：先测决策准确率、校准与 P95 延迟，再判断是否量化；不纳入剪枝／蒸馏已实现清单。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证据边界：官方架构与开源披露；昇腾适配和本地延迟未确认。不可用生成质量评测替代决策质量。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[H3] Strands · Model Architecture / Limitations /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I1 · 模型压缩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msModelSlim：模型 × 量化模式开始形成明确交付项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本月核对既有文档 · 26.0.0.alpha02 为内测版，发布日期未列 · 权重／激活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具体模型与模式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alpha02 列示 Qwen3-Coder-480B W4A8、Qwen3.5 MoE W8A8 与 GLM-5 W4A8。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接入与调优变化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版本说明新增自定义 practice 目录的 entry point，构建 model_adapter 插件化基础，并优化自动调优。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算法与版本分开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V1 算法文档列出 GPTQ、AWQ、FA3 Quant、KVCache Quant；不把目录收录当作全部模型已支持。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论文比较应站在可交付基线上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权重量化研究先确认目标模型能导出何种格式，再与 GPTQ／AWQ 等已支持路径比较；相同位宽仍可能因布局而不能互换。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低精度能力落地依赖三重匹配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模型实践、量化输出、推理引擎要一致。自动调优可形成质量基线，但“工具支持”不能代替算子可执行或真实加速证明。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先用目标模型已支持的配置建立质量与容量基线；新论文只有在同总字节、同负载下有增量价值时才投入适配。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证据边界：官方文档，2026-10-09 复核；alpha02 非正式版、非确认的十月新发布；部署依模型实践核对。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[I1a] msModelSlim · 版本说明 / alpha02</a:t>
            </a:r>
            <a:r>
              <a:rPr sz="910" b="0">
                <a:solidFill>
                  <a:srgbClr val="B01A22"/>
                </a:solidFill>
                <a:latin typeface="Microsoft YaHei"/>
                <a:hlinkClick r:id="rId3"/>
                <a:ea typeface="Microsoft YaHei"/>
                <a:cs typeface="Microsoft YaHei"/>
              </a:rPr>
              <a:t>    [I1b] V1 算法总览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I2 · 算子执行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 Attention：低精主体与高精尾块需要联合核算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ops-transformer 主干公开目录 · 2026-10-09 复核 · KV Cache × 量化；关联激活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高精窗口接口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主干说明将 quant_flash_attn 从 15 输入扩至 18 输入，新增 v_tail 尾块高精窗口及配套元数据。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布局正确性修复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提交 26716275 描述真实 stride 传入地址计算，修复非连续 v_tail 被按连续布局寻址导致的精度错误。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可用范围待核对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目录说明在 CANN 9.2 TensorV2 环境验证；CANN 9.1 有既有版本检查限制。正式发布标签尚待确认。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混合精度缓存：保质量也增加容量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高精尾块意味着不能把全部 KV 都按 MXFP8 计算。比较缓存总字节时，要纳入尾块、尺度与布局元数据。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论文方案与工程路径的连接点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量化论文若需要高精残差窗口，可优先核对已有尾块接口；窗口策略、布局检查和 Attention 合计时延仍需验证。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把高精尾块列为 KV 量化的工程候选；先核对合法布局、窗口字节与版本，再测质量—容量—时延的取舍。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证据边界：主干目录公开变更说明；未重跑项目测试，提交精确日期未确认；主干能力不等于安装包已发布。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[I2] quant_flash_attn · 主干目录与提交描述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I3 · 服务集成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vLLM-Ascend 候选版：低精度支持必须细到模型和层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v0.27.1rc1 · 说明日期 09-24 / GitHub 发布 09-29 · 权重／激活／KV Cache × 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模型和硬件限定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MiniMax-M3 覆盖 Atlas 800 A3、950DT；DeepSeek-V4-Flash 覆盖 950DT。A2 未充分验证。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量化路径不是全层同精度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MiniMax-M3 新增 W8A8 与 ModelOpt 兼容 MXFP8；fp8 缓存开关下，MSA／index 为 FP8，dense GQA 默认 BF16。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配套基线明确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发布镜像配套 vLLM 0.27.1、CANN 9.1.0、HDK 26.1.1、PyTorch／torch_npu 2.10.0 系列。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容量估计必须按层计算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全模型缓存不能统一按 C8估算。要读取实际缓存类型、BF16 回退与各层占比，再计算并发容量。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算子和调度改变收益兑现方式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发布说明含稀疏 Attention、索引与 TP 通信变化；研究比较要固定完整镜像，区分数值压缩收益与运行栈优化收益。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仅在声明支持的模型／硬件组合建立候选基线；先确认逐层 dtype 和回退，再测同质量与 SLA 下的容量及 TPOT。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证据边界：官方候选发布说明；不是正式版或十月新发布，不代表 A2 等范围外组合可用；未有昇腾本地实测。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[I3] vLLM-Ascend v0.27.1rc1 · Features / Scope / Dependencies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产业动态 · I4 · 运行正确性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vLLM-Ascend 正式补丁：压缩收益先过正确性门槛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17957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2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v0.23.0.post1 · 说明日期 09-21 / GitHub 发布 09-22 · 既有补丁，本月复核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282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01  发生了什么 · 原始事实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2219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21992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写入修复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78608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DP 对齐 dummy run 前使各 KV group 的 slot mapping 失效，修复陈旧 KV-cache 写入。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552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55264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量化缓冲区稳定性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修复 Atlas 300I DUO 的 MTP overlay 前缀缓存精度；ACL Graph 下 RL 重载时保持 W8A8 MXFP8 转换缓冲稳定。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28853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88536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Pool 依赖固定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45151"/>
            <a:ext cx="479145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锁定 memfabric_hybrid 与 memcache_hybrid 为 1.2.0；这些修复分属各自执行条件。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691640"/>
            <a:ext cx="5541264" cy="3584448"/>
          </a:xfrm>
          <a:prstGeom prst="roundRect">
            <a:avLst>
              <a:gd name="adj" fmla="val 7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874519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02  为什么重要 · 研究分析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8658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错误复用会伪装成量化质量损失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79806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KV 写入、前缀复用和权重重载的问题可能污染质量比较。应先排除状态错误，再归因于量化误差。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21024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基线要包含真实生命周期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4032504"/>
            <a:ext cx="4919472" cy="722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单次静态推理不足以覆盖复用、重载和分布式路径。仅对业务使用的路径补充回归，避免把相关补丁泛化为所有模型收益。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431536"/>
            <a:ext cx="11119104" cy="713232"/>
          </a:xfrm>
          <a:prstGeom prst="roundRect">
            <a:avLst>
              <a:gd name="adj" fmla="val 7000"/>
            </a:avLst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5541264"/>
            <a:ext cx="13898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B01A22"/>
                </a:solidFill>
                <a:latin typeface="Microsoft YaHei"/>
                <a:ea typeface="Microsoft YaHei"/>
                <a:cs typeface="Microsoft YaHei"/>
              </a:rPr>
              <a:t>03  观点与建议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522976"/>
            <a:ext cx="91714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400" b="1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>现网涉及上述路径时，先评估补丁基线并回归正确性；确认结果一致后，再比较论文方案的净性能收益。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62453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1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证据边界：官方 Bug Fixes 与依赖变更；精度修复不等于吞吐提升，正式补丁也不证明所有模型／硬件可用。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6547104"/>
            <a:ext cx="109728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910" b="0">
                <a:solidFill>
                  <a:srgbClr val="25364B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910" b="0">
                <a:solidFill>
                  <a:srgbClr val="B01A22"/>
                </a:solidFill>
                <a:latin typeface="Microsoft YaHei"/>
                <a:hlinkClick r:id="rId2"/>
                <a:ea typeface="Microsoft YaHei"/>
                <a:cs typeface="Microsoft YaHei"/>
              </a:rPr>
              <a:t>[I4] vLLM-Ascend v0.23.0.post1 · Bug Fixes / Other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验证方案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一次实验只回答一个因果问题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62456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先确认硬件型号、模型版本和可执行格式。下列是拟议实验，不是已完成的昇腾测试。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AlignQuant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少读权重是否真提速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10312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同总字节，比较固定与敏感度选位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固定选位，比较紧凑与展开执行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拆分搬运、解包、矩阵核耗时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9" y="210312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业务质量过线，TPOT/吞吐有净收益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TTFT满足既有响应约束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解包吞掉收益则停止该执行路径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27248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28415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ATC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补偿是否优于升位宽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28415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同底座：无补偿、单/双阶段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补偿组同rank，再比同字节升位宽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独立测试集，计入在线分支成本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328415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关键业务子集质量均过线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总成本优于可部署替代方案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仅校准集改善或被基线支配则停止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52544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53712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AttSVD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省KV能否增加服务容量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553712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同KV预算：普通vs加权SVD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按阶段核算分解、重建耗时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测完整生命周期峰值HBM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4553712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同质量、同响应下提高并发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不以放宽时延换取吞吐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检索失败或峰值未降则回退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77840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916168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6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每轮交付原值与变化：质量、P50/P95 TTFT与TPOT、稳态吞吐、峰值HBM；领域模型改测端到端时延。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01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三类论文证据，支持三种不同的研究选择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62456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下列数值来自不同实验，不能按降幅排名。先看证据能支持什么，再决定研究顺序。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7568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AlignQuant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执行优化候选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75688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Llama-3.2-3B / A100 / B1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TPOT −56.1%，驻留显存 −54.6%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TTFT增加12.6%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9" y="207568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有系统收益，也有首词代价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权重读取是瓶颈时优先验证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尚未满足全部任务损失&lt;1%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99816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00984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Align, Then Correct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质量恢复候选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00984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Qwen3-8B / 3-bit＋rank64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常识均分68.10→69.11%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FP16为69.38%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300984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低比特质量不达标时再研究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没有在线时延和净显存结果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必须与同总字节升位宽比较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25112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AttSVD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KV容量候选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5262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Qwen3-8B / 32k：KV减少49.8%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另一质量实验：51.8→51.8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时延未报告，容量与质量分测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452628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仅在长上下文容量受限时启动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重建开销和峰值内存仍待测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不能由KV减半推出吞吐翻倍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50408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2"/>
          </p:cNvPr>
          <p:cNvSpPr txBox="1"/>
          <p:nvPr/>
        </p:nvSpPr>
        <p:spPr>
          <a:xfrm>
            <a:off x="457200" y="5852160"/>
            <a:ext cx="34747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AlignQuant · 原表19页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72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3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arXiv:2610.07457v1</a:t>
            </a:r>
          </a:p>
        </p:txBody>
      </p:sp>
      <p:sp>
        <p:nvSpPr>
          <p:cNvPr id="19" name="TextBox 18">
            <a:hlinkClick action="ppaction://hlinksldjump" r:id="rId4"/>
          </p:cNvPr>
          <p:cNvSpPr txBox="1"/>
          <p:nvPr/>
        </p:nvSpPr>
        <p:spPr>
          <a:xfrm>
            <a:off x="4297680" y="5852160"/>
            <a:ext cx="34747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ATC · 原表26页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6272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3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5"/>
              </a:rPr>
              <a:t>arXiv:2610.08164v1</a:t>
            </a:r>
          </a:p>
        </p:txBody>
      </p:sp>
      <p:sp>
        <p:nvSpPr>
          <p:cNvPr id="21" name="TextBox 20">
            <a:hlinkClick action="ppaction://hlinksldjump" r:id="rId6"/>
          </p:cNvPr>
          <p:cNvSpPr txBox="1"/>
          <p:nvPr/>
        </p:nvSpPr>
        <p:spPr>
          <a:xfrm>
            <a:off x="8138160" y="5852160"/>
            <a:ext cx="34747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AttSVD · 原表23页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627278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3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arXiv:2610.06927v1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图文附录 · 学术进展  /  权重 × 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StagQ：共享2-bit底码，追加细化位形成多档权重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多精度部署常要为每个位宽另存一份权重。StagQ把2-bit底码与细化位写入共享码流：少读层数省字节，多读层数细化同一权重；另存极值，防止它们拉宽整个量化网格。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5977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94168"/>
            <a:ext cx="5184648" cy="12295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前缀细化编码：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先存2-bit底码，再按残差正负追加1-bit细化层；每层让量化间隔减半，截取不同前缀即可读取不同位宽。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共享仿射解码：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将底码和细化位拼成整数，由共享基准参数推导该档缩放与偏移；一次仿射解码还原权重，无需逐权重查表。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极值旁路保护：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拟合量化网格前先分离极值，固定网格后再保护高误差值，避免拉宽全组格子；旁路记录每档都要读取，增加码率。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质量：Llama-3.1-8B；StagQ-XXS 2-bit / 2.35 bpw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对照AnyBCQ 2.38 bpw与原始BF16；MMLU 5-shot / WT2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执行实验：A100、B=1、合成权重，不能视作真实模型收益。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未报告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真实模型TPOT未报告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合成权重速度含融合差异，不换算服务时延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逻辑2.35 bpw；实际读取2.47 bpw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完整驻留 / 峰值显存未报告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MMLU：AnyBCQ 35.33→StagQ 38.38%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原始BF16为65.23%，仍低26.85个百分点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逻辑码率相对16-bit少85.3%是格式核算；不能写成整模型显存减少85.3%。</a:t>
            </a:r>
          </a:p>
        </p:txBody>
      </p:sp>
      <p:pic>
        <p:nvPicPr>
          <p:cNvPr id="30" name="Picture 29" descr="2610.05977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841" y="5266944"/>
            <a:ext cx="2382988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只有存在多精度交付需求时才优先研究共享码流。先检验4-bit及更高档位的业务质量、实际总字节和切档开销；2-bit当前质量差距过大，合成权重速度也不足以支持昇腾上线判断。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arXiv:2610.05977v1 · Table 1；§4.1；Appendix A · 原图/原文可点击 · 机制重写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7" name="TextBox 36">
            <a:hlinkClick action="ppaction://hlinksldjump" r:id="rId2"/>
          </p:cNvPr>
          <p:cNvSpPr txBox="1"/>
          <p:nvPr/>
        </p:nvSpPr>
        <p:spPr>
          <a:xfrm>
            <a:off x="9509760" y="237744"/>
            <a:ext cx="20116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返回本期筛选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图文附录 · 学术进展  /  权重 × 剪枝 / 量化 / 低秩分解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DBW：在同一预算内，联合决定删哪些分量、各留几位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先剪枝再量化，会先锁死删哪些分量，再决定剩余位宽。DBW把二者合成一个预算问题：联合学习SVD分量及其位宽，0-bit即删除，在相同存储下权衡保留更多方向还是提高精度。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6026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31117"/>
            <a:ext cx="5184648" cy="13556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可学习分量位宽：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对权重做SVD，将每个分量的位宽设为可学习变量；0-bit直接删除该秩方向，其余分量按不同位宽量化。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联合预算优化：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固定总位预算，以原模型块输出为目标，联合学习分量、位宽和矩阵预算；熵约束集中奇异值能量，利于截断。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分组低秩执行：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删除0-bit分量后，将其余分量按位宽分组打包，分别执行低秩矩阵乘；少存权重，但须核算双矩阵乘与启动开销。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LLaMA-2-7B｜1.61 bpw；group=128｜FP16对照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校准RedPajama 4096×2048；测试WT2/C4＋8项零样本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权重字节和质量为模型级；RTX3090内核测时是另一实验。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未报告首词分项数值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未报告逐词分项数值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INT2单block GEMM加速不能替代模型TPOT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权重占用12.31→1.56 GB（−87.3%）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含量化参数；不是运行时峰值HBM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8任务准确率63.19→49.06%（−14.13pp）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WikiText-2 PPL 5.47→8.78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GB沿用论文单位；权重占用含embedding与量化元数据，不包含请求KV或激活。</a:t>
            </a:r>
          </a:p>
        </p:txBody>
      </p:sp>
      <p:pic>
        <p:nvPicPr>
          <p:cNvPr id="30" name="Picture 29" descr="2610.06026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9488" y="5266944"/>
            <a:ext cx="1093694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当前1.61-bit配置用于容量极限研究，不宜直接迁移生产。若容量确实无法满足，先提高预算找质量拐点，并与同总字节量化比较；达到质量要求后再核查低秩双GEMM在昇腾的执行收益。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arXiv:2610.06026v1 · Table 1/2/5；Appendix A.2；Table 12 · 原图/原文可点击 · 机制重写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7" name="TextBox 36">
            <a:hlinkClick action="ppaction://hlinksldjump" r:id="rId2"/>
          </p:cNvPr>
          <p:cNvSpPr txBox="1"/>
          <p:nvPr/>
        </p:nvSpPr>
        <p:spPr>
          <a:xfrm>
            <a:off x="9509760" y="237744"/>
            <a:ext cx="20116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返回本期筛选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01 学术进展  /  权重 × 量化 / 低秩分解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Align, Then Correct：先补累计误差，再校正损失方向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仅拟合本层权重误差会漏掉上游输入偏移，输出接近也未必恢复任务质量。该方法冻结低比特权重：先做Fisher加权的双输入输出对齐，再以自然梯度校正任务损失，最终保持同一低秩预算。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8164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219" y="2103120"/>
            <a:ext cx="3750033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非对称输出对齐：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原模型与量化模型各用自身前层产生的输入，拟合两者实际输出差；低秩分支同时补偿本层误差和上游累计偏移。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Fisher加权补偿：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用完整输出Fisher衡量误差对损失的影响，再以截断SVD求补偿分支，使有限rank64优先修复敏感方向。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自然梯度校正：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在已补偿模型上重采激活和梯度，沿受限自然梯度方向校正；对整个分支再截断到rank64，避免补偿秩翻倍。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Qwen3-8B｜A100 40GB｜QuIP# 3-bit + rank64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对照原QuIP# 3-bit及FP16；WT2/C4、7项常识零样本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校准：第一阶段128×2048，第二阶段16×512 tokens。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未报告在线首词时延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未报告在线逐词时延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未报告推理显存减少量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rank64额外264–349 MB（跨模型范围）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常识均分68.10→69.11%；FP16为69.38%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距FP16 −0.27pp；WT2 PPL 10.48→8.54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2-bit常识均分64.51%，不能拿2-bit体积配3-bit精度；2-bit离线构建约63分钟。</a:t>
            </a:r>
          </a:p>
        </p:txBody>
      </p:sp>
      <p:pic>
        <p:nvPicPr>
          <p:cNvPr id="30" name="Picture 29" descr="2610.08164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4118" y="5266944"/>
            <a:ext cx="744435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arXiv:2610.08164v1 · Table 1–2；Appendix G · 原图/原文可点击 · 机制重写 2026-10-15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仅在低比特质量不达标时启动。对比无补偿、单阶段、两阶段及同总字节升位宽，计入rank64分支的时延和内存后再决定。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图文附录 · 学术进展  /  KV Cache × KV Cache 淘汰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DeferKV：先看一次真实生成需求，再决定删哪些KV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模型读提示词与生成答案时需要的信息不同，只在prefill末尾选KV可能误删。DeferKV将首次淘汰推迟一个解码步骤，把真实生成Query加入评分，再沿用原淘汰器完成选择。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6286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119523"/>
            <a:ext cx="5184648" cy="19788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延后首次淘汰：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先保留完整提示词KV，等首个生成token回送模型后取得真实Query；用实际生成需求修正淘汰，避免过早误删。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时间加权评分：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把首个解码Query与最近提示词Query组成观察窗口，越早的Query按时间指数降权，让评分更靠近生成阶段需求。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复用原有淘汰器：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新分数交给现有淘汰器，保留其平滑、预算和Top-k逻辑；无需重训，但完整提示词KV须多保留一个解码步骤。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Qwen3-8B；A100 80GB；batch=1、贪心解码。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效率：32k入/128出、1024 KV tokens/层，预热后五次均值。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质量：LongBench16任务，512 KV tokens/层；与效率预算不同。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未找到独立结果；论文只报告端到端总时延。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TPOT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未找到独立结果；总时延11.562s不能除以128当作TPOT。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上述效率配置峰值22.84 GiB；缺Full KV同口径原值，无法算下降比例。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512 tokens/层：Full KV 49.77→48.37，−1.40分，相对损失2.81%。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64 tokens/层：DeferKV 43.97优于LAQ 42.45，但仍低于Full KV 49.77。</a:t>
            </a:r>
          </a:p>
        </p:txBody>
      </p:sp>
      <p:pic>
        <p:nvPicPr>
          <p:cNvPr id="30" name="Picture 29" descr="2610.06286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9846" y="5266944"/>
            <a:ext cx="1552979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将“首个decode反馈＋时间加权”接入现有KV淘汰器，固定业务集扫描每层保留预算，并分开记录首个decode开销与稳态TPOT。先达到小于1%质量损失，再比较实际显存和时延，避免用极小预算换取失真结果。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arXiv:2610.06286v1 · v1 §4（机制）；Table1（质量）；§5.4/Fig4/Table3（效率）；Appendix B（配置） · 原图/原文可点击 · 机制重写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7" name="TextBox 36">
            <a:hlinkClick action="ppaction://hlinksldjump" r:id="rId2"/>
          </p:cNvPr>
          <p:cNvSpPr txBox="1"/>
          <p:nvPr/>
        </p:nvSpPr>
        <p:spPr>
          <a:xfrm>
            <a:off x="9509760" y="237744"/>
            <a:ext cx="20116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返回本期筛选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图文附录 · 学术进展  /  KV Cache × GQA/MQA（Key头合并）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566928"/>
            <a:ext cx="11247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SAGA：少读Key、只算重要Value，分两段降低解码开销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051560"/>
            <a:ext cx="11247120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稀疏Attention减少Value计算后，Key读取成为剩余瓶颈，精确排序还会吞掉收益。SAGA合并Key头而保留Value头，再用周期阈值实现近似Top-N，分别减少Key读取与Value访问。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1618488"/>
            <a:ext cx="5184648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25312" y="1618488"/>
            <a:ext cx="5833872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737360"/>
            <a:ext cx="51846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关键技术｜核心思路与实现方法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737360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4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关键效果｜基线 → 论文方案</a:t>
            </a:r>
          </a:p>
        </p:txBody>
      </p:sp>
      <p:pic>
        <p:nvPicPr>
          <p:cNvPr id="9" name="Picture 8" descr="2610.04753-tech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916" y="2103120"/>
            <a:ext cx="3546639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" y="4233672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Key头合并：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用原模型的Query衡量Key头合并后的注意力分数误差，选择误差小的配对；合并Key投影，保持Value头数不变。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4754880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近似Top-N：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定期求一次第N大注意力概率作为阈值，后续用逐项比较筛选Value；省去每步精确排序，但选择的是近似Top-N。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276088"/>
            <a:ext cx="5184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蒸馏恢复质量：</a:t>
            </a:r>
            <a:r>
              <a:rPr sz="12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合并后用教师输出的KL损失和真实标签交叉熵微调，让模型适应较少Key头；它有训练成本，不能当作纯运行时开关。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103120"/>
            <a:ext cx="583387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性能：Llama3.2-1B，H100；64k上下文、batch16；CUDA graphs。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Key头8→4，Value保持8，Atop-N=1024；32步解码×10次。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7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质量：同模型HellaSwag仅比较架构蒸馏，不含Atop-N联合效果。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25496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898648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TTFT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2880360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未找到实测；论文聚焦decode阶段。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9272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392424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374136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逐token微基准40.57→18.99 ms（−53.2%）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服务TPOT未单列，不等同完整服务收益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813048"/>
            <a:ext cx="5833872" cy="4572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94576" y="3867911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未报告GiB；已合并层KV按头数推算少25%，排除豁免层和临时空间，非实测。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4306824"/>
            <a:ext cx="5833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379976"/>
            <a:ext cx="795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4576" y="4361688"/>
            <a:ext cx="47548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2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Llama3.2-1B HellaSwag：GQA 64.3%→SAGA 58.3%，−6.0个百分点。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4828032"/>
            <a:ext cx="583387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8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Qwen2.5-32B扩展仅未训练架构计时，没有质量结果；不可当作27B业务收益。</a:t>
            </a:r>
          </a:p>
        </p:txBody>
      </p:sp>
      <p:pic>
        <p:nvPicPr>
          <p:cNvPr id="30" name="Picture 29" descr="2610.04753-results.png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0946" y="5266944"/>
            <a:ext cx="1350778" cy="557784"/>
          </a:xfrm>
          <a:prstGeom prst="rect">
            <a:avLst/>
          </a:prstGeom>
        </p:spPr>
      </p:pic>
      <p:sp>
        <p:nvSpPr>
          <p:cNvPr id="31" name="TextBox 30">
            <a:hlinkClick action="ppaction://hlinksldjump" r:id="rId6"/>
          </p:cNvPr>
          <p:cNvSpPr txBox="1"/>
          <p:nvPr/>
        </p:nvSpPr>
        <p:spPr>
          <a:xfrm>
            <a:off x="5925312" y="5394960"/>
            <a:ext cx="1316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查看实验原表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" y="5952744"/>
            <a:ext cx="11320272" cy="4663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035040"/>
            <a:ext cx="914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45336" y="6007608"/>
            <a:ext cx="1007668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把无需训练的Atop-N与需要蒸馏的Key头合并分开试验，先扫描稀疏N，再决定是否改模型结构。长上下文业务质量损失必须小于1%，并以昇腾同并发下的TTFT、TPOT及实际显存确认收益。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7"/>
              </a:rPr>
              <a:t>arXiv:2610.04753v1 · v1 §3–4（机制）；§5.1/Table5（解码）；Table1（质量）；§D.5/Table6（32B边界） · 原图/原文可点击 · 机制重写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7" name="TextBox 36">
            <a:hlinkClick action="ppaction://hlinksldjump" r:id="rId2"/>
          </p:cNvPr>
          <p:cNvSpPr txBox="1"/>
          <p:nvPr/>
        </p:nvSpPr>
        <p:spPr>
          <a:xfrm>
            <a:off x="9509760" y="237744"/>
            <a:ext cx="20116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返回本期筛选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权重 × 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AlignQuant｜原始测试条件与结果</a:t>
            </a:r>
          </a:p>
        </p:txBody>
      </p:sp>
      <p:pic>
        <p:nvPicPr>
          <p:cNvPr id="4" name="Picture 3" descr="2610.07457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8318"/>
            <a:ext cx="11247120" cy="223443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056632"/>
            <a:ext cx="11247120" cy="89611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Llama-3.2-3B-Instruct｜A100 40GB｜BF16对照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B=1；输入128 / 输出512 tokens；60% W4 + 40% W8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质量：WikiText-2及MMLU等6任务；系统负载未列文本集。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返回第4页：技术与研究判断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arXiv:2610.07457v1 · 原PDF第7页；连续裁剪、未改写原图 · 原图/原文可点击 · 指标复核 2026-10-15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激活 × 稀疏选择；关联权重 × 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SpAx｜原始测试条件与结果</a:t>
            </a:r>
          </a:p>
        </p:txBody>
      </p:sp>
      <p:pic>
        <p:nvPicPr>
          <p:cNvPr id="4" name="Picture 3" descr="2610.02598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93825"/>
            <a:ext cx="7498079" cy="2573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7888" y="1536192"/>
            <a:ext cx="34472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如何读这张表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7888" y="2066543"/>
            <a:ext cx="344728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Qwen3.6-27B｜RTX4090 / PCIe4.0×8｜B=1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仅FFN从CPU卸载；Dense BF16 vs trellis近似（+10% PPL容忍）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4步预热＋8步解码；输入长度未报告。质量另见Table 10。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3886200"/>
            <a:ext cx="3447288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SSD实搬34.23→4.62 GB/token（−86.5%）；减少搬运不能等同减少显存或模型总存储。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返回第12页：技术与研究判断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arXiv:2610.02598v1 · 原PDF第17页；连续裁剪、未改写原图 · 原图/原文可点击 · 指标复核 2026-10-15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KV Cache × 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TaSQ｜原始测试条件与结果</a:t>
            </a:r>
          </a:p>
        </p:txBody>
      </p:sp>
      <p:pic>
        <p:nvPicPr>
          <p:cNvPr id="4" name="Picture 3" descr="2610.03027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0824"/>
            <a:ext cx="11247120" cy="2249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056632"/>
            <a:ext cx="11247120" cy="89611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性能：Qwen3-4B-Thinking-2507，单卡RTX 6000 Ada，SGLang。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吞吐：2k入/32k出；TTFT：8k–32k输入、batch=1。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质量：同模型，AIME24/25、LCB-v6、SciBench三种子均分；性能分测。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返回第13页：技术与研究判断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arXiv:2610.03027v1 · 原PDF第7页；连续裁剪、未改写原图 · 原图/原文可点击 · 指标复核 2026-10-15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KV Cache × KV Cache 淘汰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Page-EntroKV｜原始测试条件与结果</a:t>
            </a:r>
          </a:p>
        </p:txBody>
      </p:sp>
      <p:pic>
        <p:nvPicPr>
          <p:cNvPr id="4" name="Picture 3" descr="2610.03135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22" y="1417320"/>
            <a:ext cx="617003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7888" y="1536192"/>
            <a:ext cx="34472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如何读这张表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7888" y="2066543"/>
            <a:ext cx="344728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Qwen2.5-1.5B-Instruct；单卡T4；HF eager，逻辑分页16 tokens。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pilot上下文约0.9k–8.2k；检索测试≤2.5k，保留预算20%。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A100/vLLM/128k是后续计划，尚非已测配置。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3886200"/>
            <a:ext cx="3447288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LongBench仅4×20例，缺Full KV同口径基线；不能计算精度损失，也不能宣称无损。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返回第14页：技术与研究判断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arXiv:2610.03135v1 · 原PDF第15页；连续裁剪、未改写原图 · 原图/原文可点击 · 指标复核 2026-10-15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KV Cache × 低秩分解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AttSVD｜原始测试条件与结果</a:t>
            </a:r>
          </a:p>
        </p:txBody>
      </p:sp>
      <p:pic>
        <p:nvPicPr>
          <p:cNvPr id="4" name="Picture 3" descr="2610.06927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0824"/>
            <a:ext cx="11247120" cy="2249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056632"/>
            <a:ext cx="11247120" cy="89611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Qwen3-8B，BF16、rank64；KV内存测试32k上下文。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质量：LongBench九任务、1750例，50%缓存；与内存分测。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全文未找到明确GPU型号、batch及分项时延结果。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返回第6页：技术与研究判断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arXiv:2610.06927v1 · 原PDF第7页；连续裁剪、未改写原图 · 原图/原文可点击 · 指标复核 2026-10-15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权重 × 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StagQ｜原始测试条件与结果</a:t>
            </a:r>
          </a:p>
        </p:txBody>
      </p:sp>
      <p:pic>
        <p:nvPicPr>
          <p:cNvPr id="4" name="Picture 3" descr="2610.05977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9234"/>
            <a:ext cx="11247120" cy="26326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056632"/>
            <a:ext cx="11247120" cy="896112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质量：Llama-3.1-8B；StagQ-XXS 2-bit / 2.35 bpw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对照AnyBCQ 2.38 bpw与原始BF16；MMLU 5-shot / WT2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执行实验：A100、B=1、合成权重，不能视作真实模型收益。</a:t>
            </a:r>
          </a:p>
        </p:txBody>
      </p:sp>
      <p:sp>
        <p:nvSpPr>
          <p:cNvPr id="7" name="TextBox 6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返回第15页：技术与研究判断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arXiv:2610.05977v1 · 原PDF第8页；连续裁剪、未改写原图 · 原图/原文可点击 · 指标复核 2026-10-15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权重 × 剪枝 / 量化 / 低秩分解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DBW｜原始测试条件与结果</a:t>
            </a:r>
          </a:p>
        </p:txBody>
      </p:sp>
      <p:pic>
        <p:nvPicPr>
          <p:cNvPr id="4" name="Picture 3" descr="2610.06026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8449"/>
            <a:ext cx="7498079" cy="38240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7888" y="1536192"/>
            <a:ext cx="34472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如何读这张表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7888" y="2066543"/>
            <a:ext cx="344728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LLaMA-2-7B｜1.61 bpw；group=128｜FP16对照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校准RedPajama 4096×2048；测试WT2/C4＋8项零样本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权重字节和质量为模型级；RTX3090内核测时是另一实验。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3886200"/>
            <a:ext cx="3447288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图中 Table 5 的 PPL 6.22→10.54 为 WikiText-2/C4 均值；正文 Table 2 的 5.47→8.78 仅为 WikiText-2。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返回第16页：技术与研究判断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arXiv:2610.06026v1 · 原PDF第8页；连续裁剪、未改写原图 · 原图/原文可点击 · 指标复核 2026-10-15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权重 × 量化 / 低秩分解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Align, Then Correct｜原始测试条件与结果</a:t>
            </a:r>
          </a:p>
        </p:txBody>
      </p:sp>
      <p:pic>
        <p:nvPicPr>
          <p:cNvPr id="4" name="Picture 3" descr="2610.08164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784" y="1417320"/>
            <a:ext cx="604091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7888" y="1536192"/>
            <a:ext cx="34472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如何读这张表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7888" y="2066543"/>
            <a:ext cx="344728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Qwen3-8B｜A100 40GB｜QuIP# 3-bit + rank64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对照原QuIP# 3-bit及FP16；WT2/C4、7项常识零样本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校准：第一阶段128×2048，第二阶段16×512 tokens。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3886200"/>
            <a:ext cx="3447288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2-bit常识均分64.51%，不能拿2-bit体积配3-bit精度；2-bit离线构建约63分钟。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返回第5页：技术与研究判断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arXiv:2610.08164v1 · 原PDF第6页；连续裁剪、未改写原图 · 原图/原文可点击 · 指标复核 2026-10-15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KV Cache × KV Cache 淘汰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DeferKV｜原始测试条件与结果</a:t>
            </a:r>
          </a:p>
        </p:txBody>
      </p:sp>
      <p:pic>
        <p:nvPicPr>
          <p:cNvPr id="4" name="Picture 3" descr="2610.06286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3916"/>
            <a:ext cx="7498079" cy="26930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7888" y="1536192"/>
            <a:ext cx="34472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如何读这张表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7888" y="2066543"/>
            <a:ext cx="344728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Qwen3-8B；A100 80GB；batch=1、贪心解码。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效率：32k入/128出、1024 KV tokens/层，预热后五次均值。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质量：LongBench16任务，512 KV tokens/层；与效率预算不同。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3886200"/>
            <a:ext cx="3447288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64 tokens/层：DeferKV 43.97优于LAQ 42.45，但仍低于Full KV 49.77。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返回第17页：技术与研究判断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arXiv:2610.06286v1 · 原PDF第7页；连续裁剪、未改写原图 · 原图/原文可点击 · 指标复核 2026-10-15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实验原表  /  KV Cache × GQA/MQA（Key头合并）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6656"/>
            <a:ext cx="1124712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23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SAGA｜原始测试条件与结果</a:t>
            </a:r>
          </a:p>
        </p:txBody>
      </p:sp>
      <p:pic>
        <p:nvPicPr>
          <p:cNvPr id="4" name="Picture 3" descr="2610.04753-results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2348"/>
            <a:ext cx="7498079" cy="30962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47888" y="1536192"/>
            <a:ext cx="344728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如何读这张表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7888" y="2066543"/>
            <a:ext cx="3447288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性能：Llama3.2-1B，H100；64k上下文、batch16；CUDA graphs。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Key头8→4，Value保持8，Atop-N=1024；32步解码×10次。</a:t>
            </a:r>
          </a:p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质量：同模型HellaSwag仅比较架构蒸馏，不含Atop-N联合效果。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3886200"/>
            <a:ext cx="3447288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13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Qwen2.5-32B扩展仅未训练架构计时，没有质量结果；不可当作27B业务收益。</a:t>
            </a:r>
          </a:p>
        </p:txBody>
      </p:sp>
      <p:sp>
        <p:nvSpPr>
          <p:cNvPr id="8" name="TextBox 7">
            <a:hlinkClick action="ppaction://hlinksldjump" r:id="rId4"/>
          </p:cNvPr>
          <p:cNvSpPr txBox="1"/>
          <p:nvPr/>
        </p:nvSpPr>
        <p:spPr>
          <a:xfrm>
            <a:off x="457200" y="6172200"/>
            <a:ext cx="347472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t>← 返回第18页：技术与研究判断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6528816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300"/>
              </a:spcAft>
            </a:pPr>
            <a:r>
              <a:rPr sz="8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  <a:hlinkClick r:id="rId3"/>
              </a:rPr>
              <a:t>arXiv:2610.04753v1 · 原PDF第20页；连续裁剪、未改写原图 · 原图/原文可点击 · 指标复核 2026-10-15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37744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研究决策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建议先投入一条主线，两条支线按证据启动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62456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本期能做的是确定验证优先级。下一阶段用同配置实测决定继续、调整或停止。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优先验证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4992" y="2148840"/>
            <a:ext cx="820216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AlignQuant：权重读取确为瓶颈且格式可执行时，验证块级选位与紧凑读取。目标是质量过线后的decode净收益。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27248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按条件追加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3383280"/>
            <a:ext cx="8202168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低比特质量不过关：ATC与同总字节升位宽竞争。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长上下文容量不足：AttSVD验证同响应约束下并发。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416552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70916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本轮不铺开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4663440"/>
            <a:ext cx="820216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不把其余七篇同时转为适配项目。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9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领域模型先走权重量化与误差补偿，按真实结构筛选。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7044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5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需要确认的投入：目标栈与业务样本、可执行格式检查、单项对照实验；结果成立后再扩大适配。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01 学术进展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另外七篇保留研究价值，本轮不同时展开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62456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取舍依据是业务适用性、质量代价与系统证据。当前配置不优先，不等于技术方向没有价值。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SpAx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5184" y="2103120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论文仅验证权重卸载场景，性能与质量预算未对齐</a:t>
            </a:r>
          </a:p>
        </p:txBody>
      </p:sp>
      <p:sp>
        <p:nvSpPr>
          <p:cNvPr id="7" name="TextBox 6">
            <a:hlinkClick action="ppaction://hlinksldjump" r:id="rId2"/>
          </p:cNvPr>
          <p:cNvSpPr txBox="1"/>
          <p:nvPr/>
        </p:nvSpPr>
        <p:spPr>
          <a:xfrm>
            <a:off x="10661904" y="2139696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详见12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23744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15184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TaSQ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5184" y="2615184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1-bit长推理质量相对下降9.87%，先研究更保守位宽</a:t>
            </a:r>
          </a:p>
        </p:txBody>
      </p:sp>
      <p:sp>
        <p:nvSpPr>
          <p:cNvPr id="11" name="TextBox 10">
            <a:hlinkClick action="ppaction://hlinksldjump" r:id="rId3"/>
          </p:cNvPr>
          <p:cNvSpPr txBox="1"/>
          <p:nvPr/>
        </p:nvSpPr>
        <p:spPr>
          <a:xfrm>
            <a:off x="10661904" y="2651760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详见13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35808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Page-EntroKV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3127248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页预算未兑现为实测HBM，严格检索存在失败</a:t>
            </a:r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10661904" y="3163824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详见14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47872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39312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StagQ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3639312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共享码流适合多精度交付，2-bit质量仍有明显差距</a:t>
            </a:r>
          </a:p>
        </p:txBody>
      </p:sp>
      <p:sp>
        <p:nvSpPr>
          <p:cNvPr id="19" name="TextBox 18">
            <a:hlinkClick action="ppaction://hlinksldjump" r:id="rId5"/>
          </p:cNvPr>
          <p:cNvSpPr txBox="1"/>
          <p:nvPr/>
        </p:nvSpPr>
        <p:spPr>
          <a:xfrm>
            <a:off x="10661904" y="3675887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详见15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59936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51376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DBW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5184" y="4151376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1.61-bit八任务准确率下降14.13个百分点</a:t>
            </a:r>
          </a:p>
        </p:txBody>
      </p:sp>
      <p:sp>
        <p:nvSpPr>
          <p:cNvPr id="23" name="TextBox 22">
            <a:hlinkClick action="ppaction://hlinksldjump" r:id="rId6"/>
          </p:cNvPr>
          <p:cNvSpPr txBox="1"/>
          <p:nvPr/>
        </p:nvSpPr>
        <p:spPr>
          <a:xfrm>
            <a:off x="10661904" y="4187952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详见16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DeferKV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4663440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淘汰时机值得研究，首步和稳态时延仍需分测</a:t>
            </a:r>
          </a:p>
        </p:txBody>
      </p:sp>
      <p:sp>
        <p:nvSpPr>
          <p:cNvPr id="27" name="TextBox 26">
            <a:hlinkClick action="ppaction://hlinksldjump" r:id="rId7"/>
          </p:cNvPr>
          <p:cNvSpPr txBox="1"/>
          <p:nvPr/>
        </p:nvSpPr>
        <p:spPr>
          <a:xfrm>
            <a:off x="10661904" y="4700016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详见17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84064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75504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SAGA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15184" y="5175504"/>
            <a:ext cx="78181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头合并需蒸馏，Atop-N性能与质量配置须分别核验</a:t>
            </a:r>
          </a:p>
        </p:txBody>
      </p:sp>
      <p:sp>
        <p:nvSpPr>
          <p:cNvPr id="31" name="TextBox 30">
            <a:hlinkClick action="ppaction://hlinksldjump" r:id="rId8"/>
          </p:cNvPr>
          <p:cNvSpPr txBox="1"/>
          <p:nvPr/>
        </p:nvSpPr>
        <p:spPr>
          <a:xfrm>
            <a:off x="10661904" y="5212080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详见18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16168"/>
            <a:ext cx="112471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原机制、负向结果和实验原表完整保留在后续备查页。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02 热点资讯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外部变化支持权重研究，也提醒我们核算完整成本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62456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沿用截至10月9日已核验的三项材料。事件、影响与本轮动作分别陈述。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Mistral Large 4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10月6日预览公告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10312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披露1T总参数、52B激活参数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权重当时计划月底发布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规格与发布计划，非压缩成果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9" y="2103120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容量预算仍要覆盖全部权重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跟踪格式与专家驻留方案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不据此启动未公开模型适配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27248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46704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openTPU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10月1日作者实验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46704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Qwen3.5-2B，INT8对照4-bit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wall解码8.00→12.03 tok/s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计入尺度后4.25 bit/weight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346704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约1.50倍是原表计算值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借鉴总字节和端到端测量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FPGA倍数不能外推到昇腾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70832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9028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Strands Decider 2B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10月1日官方介绍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590288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2B主干改为选项打分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一次前向，不能通用生成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属于任务专用模型设计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4590288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只对路由/分类场景有直接启示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本轮降噪/翻译不据此转向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先确认任务再讨论模型压缩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614416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2"/>
          </p:cNvPr>
          <p:cNvSpPr txBox="1"/>
          <p:nvPr/>
        </p:nvSpPr>
        <p:spPr>
          <a:xfrm>
            <a:off x="457200" y="5916168"/>
            <a:ext cx="82296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三项原始事实与来源：29–31页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247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03 产业进展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270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昇腾落地取决于格式、算子与引擎能否贯通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62456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60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先在已确认的模型和实际硬件上建立合法基线。310P、910B、950不能共用未核验的支持结论。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9397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msModelSlim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量化输出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2093976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文档列出GPTQ、AWQ等路径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alpha02为内测版本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具体模型与模式按实践核对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59" y="2093976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先确认可导出格式、量化粒度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建立现有方案质量/字节基线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“收录算法”不等于目标模型支持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18104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2841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ops-transformer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合法执行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28416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主干量化Attention含高精尾块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版本和stride布局影响正确性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主干能力不等于安装包已发布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3328416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核对布局、scale与尾块接口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检查是否紧凑读取及中途展开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实际内核决定容量与时延代价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52544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6285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vLLM-Ascend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1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服务集成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562856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候选版支持范围细到模型和硬件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部分层缓存仍使用BF16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正式补丁修复特定KV生命周期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4562856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固定完整软件镜像和逐层dtype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先回归复用、重载与缓存正确性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57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再评估同业务SLO的净收益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586984"/>
            <a:ext cx="11247120" cy="16459"/>
          </a:xfrm>
          <a:prstGeom prst="rect">
            <a:avLst/>
          </a:prstGeom>
          <a:solidFill>
            <a:srgbClr val="DC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>
            <a:hlinkClick action="ppaction://hlinksldjump" r:id="rId2"/>
          </p:cNvPr>
          <p:cNvSpPr txBox="1"/>
          <p:nvPr/>
        </p:nvSpPr>
        <p:spPr>
          <a:xfrm>
            <a:off x="457200" y="5888736"/>
            <a:ext cx="91440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AD1D25"/>
                </a:solidFill>
                <a:latin typeface="Microsoft YaHei"/>
                <a:ea typeface="Microsoft YaHei"/>
                <a:cs typeface="Microsoft YaHei"/>
              </a:rPr>
              <a:t>版本范围、具体变更与官方来源：32–35页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56848" y="6519672"/>
            <a:ext cx="365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6677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15BE1C-957E-4706-A7F6-2B101CD944E6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172</TotalTime>
  <Words>575</Words>
  <Application>Microsoft Office PowerPoint</Application>
  <PresentationFormat>自定义</PresentationFormat>
  <Paragraphs>48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微软雅黑</vt:lpstr>
      <vt:lpstr>Arial</vt:lpstr>
      <vt:lpstr>Calibri</vt:lpstr>
      <vt:lpstr>1_Title Slide</vt:lpstr>
      <vt:lpstr>Chart page</vt:lpstr>
      <vt:lpstr>4_Chart page</vt:lpstr>
      <vt:lpstr>End page</vt:lpstr>
      <vt:lpstr>xxxx技术洞察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2026年10月推理压缩洞察：技术取舍与业务验证</dc:title>
  <dc:creator/>
  <cp:lastModifiedBy/>
  <cp:revision>47</cp:revision>
  <dcterms:created xsi:type="dcterms:W3CDTF">2018-12-05T07:23:25Z</dcterms:created>
  <dcterms:modified xsi:type="dcterms:W3CDTF">2026-05-09T08:14:52Z</dcterms:modified>
  <dc:subject>快速阅读与深入阅读；事实、机制、对照实验与条件决策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