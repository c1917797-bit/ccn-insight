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96" r:id="rId26"/>
    <p:sldId id="297" r:id="rId27"/>
    <p:sldId id="298" r:id="rId28"/>
    <p:sldId id="285" r:id="rId7"/>
    <p:sldId id="281" r:id="rId8"/>
    <p:sldId id="289" r:id="rId19"/>
    <p:sldId id="290" r:id="rId20"/>
    <p:sldId id="292" r:id="rId22"/>
    <p:sldId id="293" r:id="rId23"/>
    <p:sldId id="295" r:id="rId25"/>
    <p:sldId id="299" r:id="rId29"/>
    <p:sldId id="286" r:id="rId16"/>
    <p:sldId id="287" r:id="rId17"/>
    <p:sldId id="288" r:id="rId18"/>
    <p:sldId id="291" r:id="rId21"/>
    <p:sldId id="294" r:id="rId24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84"/>
            <p14:sldId id="285"/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5B5B5"/>
    <a:srgbClr val="C8102E"/>
    <a:srgbClr val="78000F"/>
    <a:srgbClr val="231815"/>
    <a:srgbClr val="595757"/>
    <a:srgbClr val="151515"/>
    <a:srgbClr val="C7000B"/>
    <a:srgbClr val="5757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75" d="100"/>
          <a:sy n="75" d="100"/>
        </p:scale>
        <p:origin x="978" y="507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15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https://arxiv.org/abs/2610.07457v1</a:t>
            </a:r>
          </a:p>
          <a:p>
            <a:r>
              <a:t>Cross-check: https://github.com/HanzhiZhang-Ulrica/AlignQuant</a:t>
            </a:r>
          </a:p>
          <a:p>
            <a:r>
              <a:t>https://gitcode.com/Ascend/msmodelslim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https://arxiv.org/abs/2610.05977v1</a:t>
            </a:r>
          </a:p>
          <a:p>
            <a:r>
              <a:t>Cross-check: https://github.com/Ascend/msmodelslim</a:t>
            </a:r>
          </a:p>
          <a:p>
            <a:r>
              <a:t>https://github.com/Cornell-RelaxML/quip-sharp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https://arxiv.org/abs/2610.06026v1</a:t>
            </a:r>
          </a:p>
          <a:p>
            <a:r>
              <a:t>Cross-check: https://github.com/MMAI-Laboratory/DBW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https://arxiv.org/abs/2610.08164v1</a:t>
            </a:r>
          </a:p>
          <a:p>
            <a:r>
              <a:t>Cross-check: https://github.com/Cornell-RelaxML/quip-sharp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https://arxiv.org/abs/2610.02598v1</a:t>
            </a:r>
          </a:p>
          <a:p>
            <a:r>
              <a:t>Cross-check: https://github.com/ggml-org/llama.cpp</a:t>
            </a:r>
          </a:p>
          <a:p>
            <a:r>
              <a:t>https://github.com/Ascend/msmodelslim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https://arxiv.org/abs/2610.03027v1</a:t>
            </a:r>
          </a:p>
          <a:p>
            <a:r>
              <a:t>Cross-check: https://github.com/mscheong01/TaSQ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https://arxiv.org/abs/2610.06286v1</a:t>
            </a:r>
          </a:p>
          <a:p>
            <a:r>
              <a:t>Cross-check: https://github.com/FasterDecoding/SnapKV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https://arxiv.org/abs/2610.03135v1</a:t>
            </a:r>
          </a:p>
          <a:p>
            <a:r>
              <a:t>Cross-check: https://github.com/bruce12-glitch/PageEntro-KV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https://arxiv.org/abs/2610.06927v1</a:t>
            </a:r>
          </a:p>
          <a:p>
            <a:r>
              <a:t>Cross-check: https://docs.vllm.ai/en/latest/design/paged_attention/</a:t>
            </a:r>
          </a:p>
          <a:p>
            <a:r>
              <a:t>https://github.com/FasterDecoding/SnapKV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Evidence: https://arxiv.org/abs/2610.04753v1</a:t>
            </a:r>
          </a:p>
          <a:p>
            <a:r>
              <a:t>Cross-check: https://github.com/noamelata/SAGA</a:t>
            </a:r>
          </a:p>
          <a:p>
            <a:r>
              <a:t>https://docs.vllm.ai/en/latest/design/paged_attention/</a:t>
            </a:r>
          </a:p>
          <a:p>
            <a:r>
              <a:t>Analyst recommendations; no Ascend measurements. Figure crops include original captions, extracted from version-bound PDFs.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https://strandsagents.com/blog/introducing-strands-decider</a:t>
            </a:r>
          </a:p>
          <a:p>
            <a:r>
              <a:t>https://github.com/FeSens/openTPU</a:t>
            </a:r>
          </a:p>
          <a:p>
            <a:r>
              <a:t>https://mistral.ai/news/mistral-large-4/</a:t>
            </a:r>
          </a:p>
          <a:p>
            <a:r>
              <a:t>Facts verified against the original announcement/project. Analyst implications are separate.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https://gitcode.com/cann/ops-transformer</a:t>
            </a:r>
          </a:p>
          <a:p>
            <a:r>
              <a:t>https://gitcode.com/cann/ops-transformer/tree/master/attention/quant_flash_attn</a:t>
            </a:r>
          </a:p>
          <a:p>
            <a:r>
              <a:t>https://gitcode.com/cann/release-management/blob/master/9.1.1/release-notes.md</a:t>
            </a:r>
          </a:p>
          <a:p>
            <a:r>
              <a:t>https://github.com/vllm-project/vllm-ascend/releases/tag/v0.23.0.post1</a:t>
            </a:r>
          </a:p>
          <a:p>
            <a:r>
              <a:t>https://github.com/vllm-project/vllm-ascend/releases/tag/v0.27.1rc1</a:t>
            </a:r>
          </a:p>
          <a:p>
            <a:r>
              <a:t>https://msmodelslim.readthedocs.io/zh-cn/latest/zh/knowledge_base/quantization_algorithms/</a:t>
            </a:r>
          </a:p>
          <a:p>
            <a:r>
              <a:t>https://msmodelslim.readthedocs.io/zh-cn/latest/zh/release_notes/release_notes/</a:t>
            </a:r>
          </a:p>
          <a:p>
            <a:r>
              <a:t>Review dates are distinct from release dates. Official support is not local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000" dirty="0"/>
              <a:t>å…¬å¼€èµ„æ–™ Â· æˆªè‡³ 2026-10-08</a:t>
            </a:r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å…¬å¼€è®ºæ–‡ Â· ç ”ç©¶å»ºè®®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arxiv.org/abs/2610.07457v1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5977v1" TargetMode="External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026v1" TargetMode="External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8164v1" TargetMode="External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2598v1" TargetMode="Externa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027v1" TargetMode="External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286v1" TargetMode="Externa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3135v1" TargetMode="External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6927v1" TargetMode="Externa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hyperlink" Target="https://arxiv.org/abs/2610.04753v1" TargetMode="External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mistral.ai/news/mistral-large-4/" TargetMode="External"/><Relationship Id="rId4" Type="http://schemas.openxmlformats.org/officeDocument/2006/relationships/hyperlink" Target="https://github.com/FeSens/openTPU" TargetMode="External"/><Relationship Id="rId5" Type="http://schemas.openxmlformats.org/officeDocument/2006/relationships/hyperlink" Target="https://strandsagents.com/blog/introducing-strands-decider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msmodelslim.readthedocs.io/zh-cn/latest/zh/knowledge_base/quantization_algorithms/" TargetMode="External"/><Relationship Id="rId3" Type="http://schemas.openxmlformats.org/officeDocument/2006/relationships/hyperlink" Target="https://gitcode.com/cann/ops-transformer" TargetMode="External"/><Relationship Id="rId4" Type="http://schemas.openxmlformats.org/officeDocument/2006/relationships/hyperlink" Target="https://github.com/vllm-project/vllm-ascend/releases/tag/v0.27.1rc1" TargetMode="External"/><Relationship Id="rId5" Type="http://schemas.openxmlformats.org/officeDocument/2006/relationships/hyperlink" Target="https://gitcode.com/cann/release-management/blob/master/9.1.1/release-notes.md" TargetMode="External"/><Relationship Id="rId6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 err="1" b="1"/>
              <a:t>2026年10月推理压缩洞察</a:t>
            </a:r>
          </a:p>
          <a:p>
            <a:pPr>
              <a:lnSpc>
                <a:spcPct val="120000"/>
              </a:lnSpc>
            </a:pPr>
            <a:r>
              <a:rPr lang="en-US" altLang="zh-CN" dirty="0" err="1" b="1"/>
              <a:t>从需求、实现到昇腾研究决策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部门：云核 · 推理压缩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日期：2026-10-08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kumimoji="1" lang="en-US" altLang="zh-CN" sz="1000" dirty="0"/>
              <a:t>å…¬å¼€èµ„æ–™ Â· æˆªè‡³ 2026-10-08</a:t>
            </a:r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C3B3DA8-4985-E7A1-1693-E82509A94961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9329023"/>
              </p:ext>
            </p:extLst>
          </p:nvPr>
        </p:nvGraphicFramePr>
        <p:xfrm>
          <a:off x="776287" y="1078992"/>
          <a:ext cx="10733088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313">
                  <a:extLst>
                    <a:ext uri="{9D8B030D-6E8A-4147-A177-3AD203B41FA5}">
                      <a16:colId xmlns:a16="http://schemas.microsoft.com/office/drawing/2014/main" val="3677048082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441736071"/>
                    </a:ext>
                  </a:extLst>
                </a:gridCol>
                <a:gridCol w="6080125">
                  <a:extLst>
                    <a:ext uri="{9D8B030D-6E8A-4147-A177-3AD203B41FA5}">
                      <a16:colId xmlns:a16="http://schemas.microsoft.com/office/drawing/2014/main" val="1153356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49137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AlignQuant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权重 × 量化：二维tile统一混合精度、紧凑存储与prefill/decode执行。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64038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SpAx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激活 × 剪枝；关联权重 × 量化：小激活读取压缩权重，大激活读取原权重，近零激活跳过。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55352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TaSQ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量化：在RoPE前对Key加权、跨头归一化和相关通道分组，再向量量化。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Page-EntroKV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KV Cache 淘汰：按GQA共享组聚合重要性，映射页后淘汰，严格控制实际保留预算。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100"/>
                        <a:t>KV Cache</a:t>
                      </a:r>
                    </a:p>
                  </a:txBody>
                  <a:tcPr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AttSVD</a:t>
                      </a:r>
                    </a:p>
                  </a:txBody>
                  <a:tcPr anchor="ctr"/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Cache × 低秩分解：提供累积与流式两种解码缓存策略。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5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AlignQuant: Tile-Aligned Mixed-Precision Quantization for Efficient LLM Generation（权重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北德克萨斯大学与圣路易斯大学团队针对混合精度边界和GPU执行单元错位，采用二维权重tile统一校准、打包与计算。研究价值是把模型变小与生成变快接起来，降低异构位宽的执行开销。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昇腾先核对算子支持、合法shape与数据布局，再比较同质量、同总字节预算的统一位宽和混合tile。穿刺验证需计入重排、解码与临时缓冲；只有端到端TTFT/TPOT净改善才推进。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参考： arXiv:2610.07457 v1 · Fig.2 / Table 1 · 2026-10-05</a:t>
            </a:r>
          </a:p>
        </p:txBody>
      </p:sp>
      <p:pic>
        <p:nvPicPr>
          <p:cNvPr id="27" name="Picture 26" descr="tmpn59_hfw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x38g53v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共同粒度：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64×64 tile选择W4/W8，使用A8输入。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联合校准：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综合prefill/decode敏感性，在全模型预算内分配位宽。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直接执行：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W4紧凑加载后展开为INT8，阶段专用核复用同一模型。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A100-SXM4 40GB；扩展至H100 NVL、RTX 4090。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主结果Llama-3.2-3B，64×64 tile、60% W4。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BF16及GPTQ/AWQ等；单次完整生成的TTFT、TPOT与容量。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主表吞吐132.28 vs 58.18 tok/s（BF16），约2.27×。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常驻内存2.72 vs 5.99 GiB；均为GPU条件，非昇腾结果。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StagQ: Constraint-Driven Multi-Precision Weight Quantization for LLMs（权重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华为团队针对同一模型多精度部署需要存多份权重，采用共享前缀流与稀疏旁路补偿。研究价值是用一份编码提供多个精度档位，同时把异常值和元数据纳入实际码率；规则解码仍需专用内核。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条件研究：适合确有多档部署需求的模型。昇腾先比较总驻留字节与档位切换成本，再对旁路布局和GEMV做穿刺；单一位宽业务不应为共享流承担额外复杂度。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arXiv:2610.05977 v1 · Fig.3 / Table 1 · Table 1 (2-bit rows) excerpt</a:t>
            </a:r>
          </a:p>
        </p:txBody>
      </p:sp>
      <p:pic>
        <p:nvPicPr>
          <p:cNvPr id="27" name="Picture 26" descr="tmp7pzxko9_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bxjj90l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共享前缀：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2-bit基础流叠加1-bit细化平面。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共享元数据：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各精度用同一仿射映射解码。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异常值旁路：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编码前后保留难量化权重，计入总码率。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Llama-3.1-8B、Phi-4、OLMo-2-7B。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MMLU、常识任务及WikiText-2。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执行：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A100、batch-1、合成权重GEMV；不是服务吞吐。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2-bit较最强多精度基线提高MMLU 3.1–7.0个百分点。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4-bit质量持平但码率更高，不能只比较名义位宽。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DBW：联合优化分量剪枝与量化（权重 × 量化 / 剪枝 /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亚洲大学团队针对先截断SVD、再量化的两阶段误差，联合学习分量位宽。0-bit表示删除分量，其余分量分配不同位宽。该方案争取极低存储预算下的质量，但校准训练与混合位宽执行需要额外成本。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条件研究：业务需要亚2-bit权重时再评估。固定总字节预算比较质量，并计入低秩因子、尺度、重训和多个GEMM成本；先核对昇腾可执行的位宽集合，再做算法适配。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arXiv:2610.06026 v1 · Fig.1 / Table 1 · Table 1 (LLaMA-7B) excerpt</a:t>
            </a:r>
          </a:p>
        </p:txBody>
      </p:sp>
      <p:pic>
        <p:nvPicPr>
          <p:cNvPr id="27" name="Picture 26" descr="tmprxyfiq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rnp3pvv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联合目标：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同时决定截断秩和保留分量位宽。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可微位宽：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0-bit分量删除，预算在分量之间重新分配。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规则打包：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按位宽分组执行，避免逐分量不规则访存。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LLaMA系列7B–70B及非LLaMA对照。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平均1.61-bit、group size 128。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基线：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PTQ、BiLLM及两阶段SVD压缩；8项常识任务。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LLaMA-7B常识均分48.98%，两阶段PTQ为41.14%。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该1.61-bit质量结果不能替代昇腾端到端执行测试。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20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Align, Then Correct：免训练的两阶段低秩补偿（权重 × 量化 /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汉阳大学与Qualcomm团队针对低秩补偿目标难以低秩拟合、只优化二阶误差的问题，先做Fisher加权非对称对齐，再校正剩余一阶误差。权重保持冻结，闭式求适配器；免训练不等于免校准。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条件研究：对极低比特质量不足的模型，先比较同总容量下更高位宽与低秩补偿。昇腾穿刺需计入适配器GEMM、统计校准和并行通信；质量恢复成立之后再判断时延净收益。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arXiv:2610.08164 v1 · Fig.3 / Table 1</a:t>
            </a:r>
          </a:p>
        </p:txBody>
      </p:sp>
      <p:pic>
        <p:nvPicPr>
          <p:cNvPr id="27" name="Picture 26" descr="tmpyx2y__9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sf318bm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输出对齐：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用全精度与量化模型的不同输入构造目标。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统计重测：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第一阶段补偿后重新采集梯度与曲率。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低秩校正：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限秩自然梯度方向由截断SVD求解。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Qwen3-8B/4B，主实验QuIP# 2-bit。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校准：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128×2048 WikiText-2，rank 64等设置。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WikiText-2/C4 PPL，7项零样本任务。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 WikiText-2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12.43→10.26。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Qwen3-4B PPL：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21.11→13.22；还需计入适配器字节。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Activation Sparsity with Weight Approximation for Faster LLM Decoding on Offloaded Weights（激活 × 剪枝；关联权重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LG与多伦多大学团队针对权重卸载时每个解码token都要搬运大量数据，把读取决策分成原权重、压缩近似和跳过三档。小激活降低近似误差，大激活保留质量；研究价值主要在外部传输受限负载。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条件研究：只有权重卸载且传输主导时优先。昇腾先测链路字节与搬运时间，再验证三档访问；常驻HBM场景需单独评估索引、解码与不规则算子开销，不能直接套用论文倍数。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arXiv:2610.02598 v1 · Fig.2 / Fig.6 · Fig.6 (CPU panels) excerpt</a:t>
            </a:r>
          </a:p>
        </p:txBody>
      </p:sp>
      <p:pic>
        <p:nvPicPr>
          <p:cNvPr id="27" name="Picture 26" descr="tmp57nmpno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fhtbcsd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三档读取：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按激活大小读取完整、近似或零权重。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离线编码：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标量量化或trellis编码保存中间档。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传输协同：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根据CPU或闪存布局取码并重建投影。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Llama、Gemma、Qwen，多种卸载配置。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权重卸载CPU内存或闪存，逐token解码。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质量门槛：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WikiText-2 PPL增幅≤10%；对比稠密与TEAL。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CPU卸载16-bit/4-bit权重，平均加速3.86×/2.06×。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闪存卸载平均3.31×/1.54×；不是常驻HBM加速。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7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Tailoring the Quantization Space for 1-Bit KV Cache Compression（KV Cache × 量化）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首尔大学与斯坦福大学团队针对1-bit KV向量量化的质量下降，在RoPE前按查询敏感性与通道相关性改造Key空间。技术目标是扩大长生成可容纳的batch，同时控制注意力误差和推理失稳。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昇腾先建立受支持KV量化基线，再用8K/16K/32K输入与短、长输出做对照。穿刺分开看同batch延迟和同HBM容量吞吐，计入码本、查表与编码成本；短输出不宜套用峰值收益。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arXiv:2610.03027 v1 · Fig.2 / Fig.4 · 2026-10-02</a:t>
            </a:r>
          </a:p>
        </p:txBody>
      </p:sp>
      <p:pic>
        <p:nvPicPr>
          <p:cNvPr id="27" name="Picture 26" descr="tmpfn8_bme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uehrzh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查询加权：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Key误差按QK敏感性优化，保护重要通道。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跨头归一化：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同token共用尺度，降低尺度存储开销。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相关分组：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保持RoPE对，拟合码本；Value采用常规VQ。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单RTX 6000 Ada，SGLang服务栈。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Qwen3-4B-Thinking-2507，2048输入/32768输出。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对照：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BF16与CQ；另测8K/16K/32K的batch-1 prefill。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最大batch 6→84，峰值吞吐220.8→412.6 tok/s（1.87×）。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8K–32K输入TTFT增加10%–14%；需与长输出收益一起看。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DeferKV: Rethinking Eviction Timing for One-Shot KV Cache Compression（KV Cache × KV Cache 淘汰）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电子科技大学团队针对prefill末尾查询不能代表后续生成，把不可逆淘汰推迟到首个真实decode查询。结合提示与生成侧注意力再选KV，不增加草稿模型或训练；其价值是改善淘汰时机而非改变压缩格式。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条件研究：长提示、短输出业务先比较同保留预算的质量和TTFT。昇腾核对首步延迟淘汰是否增加峰值HBM，并计入注意力取样、评分与页搬移；它可与页预算策略组合，但组合收益要另测。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arXiv:2610.06286 v1 · Fig.3 / Table 1 · Table 1 (Qwen3-8B) excerpt</a:t>
            </a:r>
          </a:p>
        </p:txBody>
      </p:sp>
      <p:pic>
        <p:nvPicPr>
          <p:cNvPr id="27" name="Picture 26" descr="tmp08id4m5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b4mkb_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真实查询：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首次decode时获取真实生成需求。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时间加权：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近期prompt查询和decode查询联合打分。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一次淘汰：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保留原方法预算结构，更换重要性估计。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Qwen3-8B、Llama-3.1-8B、Mistral-7B。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16项LongBench、RULER和针检索。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SnapKV、LAQ、SpecKV、LookaheadKV及Full KV。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Qwen3-8B、KV预算512：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LongBench均分44.96，SnapKV 38.46。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RULER跨4K–128K均分81.36，Full KV 93.46；并非无损。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3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Page-EntroKV: Hardware-Aligned, Entropy-Weighted KV-Cache Eviction under Grouped-Query Attention（KV Cache × KV Cache 淘汰）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SRM团队针对GQA逐头保留集合取并集后超预算，用去除sink影响的熵给组内头加权，再映射到物理页淘汰。该方案把保留决策与真实分配单元对应，避免只统计逻辑token而低估缓存占用。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昇腾先验证现有分页管理中的逻辑token、物理页与HBM字节是否一致。对照完整KV和简单预算策略，计入评分、搬移与索引开销。长上下文质量和服务时延需独立实测后再决定工程化。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arXiv:2610.03135 v1 · Fig.1 / Fig.4 · 2026-10-02</a:t>
            </a:r>
          </a:p>
        </p:txBody>
      </p:sp>
      <p:pic>
        <p:nvPicPr>
          <p:cNvPr id="27" name="Picture 26" descr="tmpzb7megr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6e9yytr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物理组预算：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在共享KV组决策，避免逐头集合并集膨胀。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熵加权聚合：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分离sink，突出尖锐检索头的重要信号。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页粒度淘汰：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先映射分配页，再严格按预算选择保留页。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Qwen2.5-1.5B-Instruct，GQA ratio=6。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证据：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真实文本回放，非完整生产服务吞吐试验。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图4：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逐头选择的实测UOR，理论包络与组级预算保证。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作者逐头回放：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2%预算时UOR最高4.75；40%时2.33。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组/页选择UOR=1；192个算子/页大小单元精确兑现配额。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AttSVD: Prompt-Adaptive Low-Rank KV Cache Compression via Attention-Guided SVD（KV Cache × 低秩分解）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微软ASG团队针对删token后无法恢复上下文，沿特征轴而非序列轴压缩KV。每个提示按注意力几何生成低秩基，保留所有位置；短输出采用累积缓存，长输出用流式窗口控制增长，但分解和重构成本需独立核对。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持续跟踪：优先检查真实业务提示的注意力有效秩。昇腾穿刺分解、重构和窗口刷新成本，再与同字节预算KV量化或淘汰对比；只有长上下文收益摊薄分解开销才值得接入。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arXiv:2610.06927 v1 · Fig.1 / Table 1 excerpt</a:t>
            </a:r>
          </a:p>
        </p:txBody>
      </p:sp>
      <p:pic>
        <p:nvPicPr>
          <p:cNvPr id="27" name="Picture 26" descr="tmpcf9c06j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xug994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注意力感知：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分别保留logit与输出空间中的有效方向。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逐提示SVD：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按能量阈值选择K/V秩，而非固定离线基。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双解码策略：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累积精确token或按窗口重分解。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Phi-4-14B、Qwen3-8B等。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任务：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1750项LongBench与184项agent提示。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Dense、H2O、KVzip、KeyDiff，匹配缓存预算。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Phi-4-14B 32K：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KV 6.250→3.131 GB（c=0.50）。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50%缓存LongBench接近稠密表现；未证明统一服务加速。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4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More Value per Key: Asymmetric Sparse Attention for Faster LLM Decoding（KV Cache × GQA / MQA）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Technion等团队针对稀疏注意力后QK计算仍是瓶颈，减少Key头而保留更多Value头，再用近似top-N选择。技术价值是改变K/V结构以匹配瓶颈，但需训练或微调转换，不能作为普通模型的无损缓存插件。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持续跟踪：适合有模型结构改造权限的研究线。昇腾先验证非对称头布局与算子支持，再比较同训练预算质量、同栈解码与转换成本；现有生产模型优先选择保持模型结构的KV压缩。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参考： arXiv:2610.04753 v1 · Fig.1 / Fig.2 · v1</a:t>
            </a:r>
          </a:p>
        </p:txBody>
      </p:sp>
      <p:pic>
        <p:nvPicPr>
          <p:cNvPr id="27" name="Picture 26" descr="tmpitd1hakv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076" y="2000387"/>
            <a:ext cx="5312689" cy="1973527"/>
          </a:xfrm>
          <a:prstGeom prst="rect">
            <a:avLst/>
          </a:prstGeom>
        </p:spPr>
      </p:pic>
      <p:pic>
        <p:nvPicPr>
          <p:cNvPr id="28" name="Picture 27" descr="tmpv5ie3ea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非对称K/V：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少量Key头减少QK访存与计算。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近似top-N：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控制参与PV的候选，保留Value表达能力。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 b="1">
                <a:latin typeface="微软雅黑" panose="020B0503020204020204" pitchFamily="34" charset="-122"/>
                <a:ea typeface="微软雅黑" panose="020B0503020204020204" pitchFamily="34" charset="-122"/>
              </a:rPr>
              <a:t>模型转换：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蒸馏或微调适配新头结构，需要质量重验。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Llama-3.2-1B、Qwen2.5-1.5B。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H200/B200；batch 1/4/16、上下文8K–128K。</a:t>
            </a:r>
          </a:p>
          <a:p>
            <a:pPr>
              <a:lnSpc>
                <a:spcPct val="120000"/>
              </a:lnSpc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比较：</a:t>
            </a:r>
            <a:r>
              <a:rPr lang="zh-CN" altLang="en-US" sz="110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作者同栈完整注意力GQA，CUDA Graph解码。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作者长上下文端到端解码加速超过2×，模型最大1.5B。</a:t>
            </a:r>
          </a:p>
          <a:p>
            <a:pPr>
              <a:lnSpc>
                <a:spcPct val="120000"/>
              </a:lnSpc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从头训练质量接近GQA；不能外推现有大模型免训练收益。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昇腾研究判断：按技术地图确定投入顺序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/>
              <a:t>权重 × 量化：优先穿刺规则精度布局与合法算子粒度；StagQ、DBW及补偿方案只在极低总字节或多档部署约束下推进。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激活 × 剪枝：SpAx优先针对卸载搬运；HBM常驻模型必须另测动态选择、索引和不规则执行成本。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量化：TaSQ先核对质量、TTFT和容量收益，区分同batch时延与同HBM下吞吐。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淘汰：Page-EntroKV先核对物理页释放；DeferKV补充淘汰时机，组合收益尚无证据。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低秩 / GQA-MQA：AttSVD与SAGA持续跟踪，分解刷新或训练改造成本须进入预算。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穿刺建议：固定模型、质量门槛与SLA；分别测驻留字节、TTFT、TPOT、同容量吞吐及准备成本。GPU论文结果不是昇腾预期收益。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报告范围：三类事实如何形成同一研究判断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/>
              <a:t>热点资讯 → 需求背景：3条已核对原始信号，关注总参数/激活参数、真实总位宽、任务专用小模型。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产业进展 → 实现边界：9条本月核对的昇腾记录；当前已审阅范围没有确认10月新发布，不把旧版本当新版本。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学术进展 → 技术路线：复核13篇当月候选，按权重、激活、KV Cache及其方法关联组织。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报告正文 → 5篇代表工作：覆盖权重量化、激活剪枝、KV量化、淘汰和低秩；代表性不等于均为最高优先级。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补充资料 → 5篇图文附录＋3篇网页文字：同一对象内的补偿、编码、时机与结构变体按需阅读。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范围截至2026-10-08，10月尚未结束；不是全年/全月穷尽覆盖。逐条事实在本期动态，本报告只选形成研究判断的证据。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热点资讯：部署需求在变化，先识别预算对象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>
                <a:hlinkClick r:id="rId3"/>
              </a:rPr>
              <a:t>Mistral Large 4（10月6日官方公告）：1T总参数、52B激活参数；API预览已开放，权重计划月底发布。权重驻留与每token计算不能按同一个参数数目规划。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>
                <a:hlinkClick r:id="rId4"/>
              </a:rPr>
              <a:t>openTPU（10月1日作者实验记录）：4-bit加两级尺度实际为4.25 bit/weight，LM head为int8；分别报告device和wall速度。应比较总字节和端到端成本。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>
                <a:hlinkClick r:id="rId5"/>
              </a:rPr>
              <a:t>Strands Decider 2B（10月1日官方介绍）：Qwen3.5-2B改pointer head并用rank-16 LoRA，面向选项决策、不能通用生成。先判断任务专用小模型是否适合业务。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研究边界：这些是需求与度量信号，不是量化效果、剪枝/蒸馏实现或昇腾性能证据。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产业进展：昇腾能力已落到哪些格式、算子与运行栈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>
                <a:hlinkClick r:id="rId2"/>
              </a:rPr>
              <a:t>msModelSlim（10月8日核对、发布日未确认）：V1资料覆盖GPTQ/AWQ、SmoothQuant/FA3 Quant、KVCache Quant及组合；alpha02为内测版。导出格式仍须匹配模型与推理引擎。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>
                <a:hlinkClick r:id="rId3"/>
              </a:rPr>
              <a:t>ops-transformer（10月7日核对5—7月进展）：A5 MXFP8融合Attention、DSV4稀疏MLA/量化索引及量化Dense Attention；master尾块高精窗口仍需核对发布标签。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>
                <a:hlinkClick r:id="rId4"/>
              </a:rPr>
              <a:t>vLLM-Ascend（9月发布，10月7日核对）：v0.23.0.post1修复KV写入/量化缓冲；v0.27.1rc1接入MiniMax-M3低精度和DeepSeek-V4-Flash稀疏Attention，模型/硬件有明确限制。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>
                <a:hlinkClick r:id="rId5"/>
              </a:rPr>
              <a:t>CANN 9.1.1（10月7日核对、发布日未确认）：ops-transformer配套与旧量化/Attention API迁移须按表匹配；源码主干、文档能力与安装包支持不能混为一谈。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落地边界：本页为本月核对的既有实现，非10月新发布清单；官方支持、候选版本与主干变更均不等于昇腾本地实测。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1" dirty="0"/>
              <a:t>附录：同路线补充工作，按需展开而非堆入正文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500" dirty="0"/>
              <a:t>权重 × 量化：StagQ补充多档共享码流；有多精度部署需求再评估。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权重 × 剪枝 / 量化 / 低秩：DBW补充分量预算联合优化，适合亚2-bit容量压力。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权重 × 量化 / 低秩：Align, Then Correct补充质量恢复，但需计入统计和适配器成本。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淘汰：DeferKV补充首步真实查询决定淘汰时机。</a:t>
            </a:r>
          </a:p>
          <a:p>
            <a:pPr>
              <a:lnSpc>
                <a:spcPct val="120000"/>
              </a:lnSpc>
            </a:pPr>
            <a:r>
              <a:rPr lang="zh-CN" altLang="en-US" sz="1500" dirty="0"/>
              <a:t>KV Cache × GQA-MQA：SAGA补充头结构改变，需训练/微调与算子改造。</a:t>
            </a: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1300" dirty="0"/>
              <a:t>TopK-Guided、OSFP4、Behavior-Preserving仍保留在网页分析；原PDF无适合该模板的系统设计总览图，不用装饰图补位。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15BE1C-957E-4706-A7F6-2B101CD944E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172</TotalTime>
  <Words>575</Words>
  <Application>Microsoft Office PowerPoint</Application>
  <PresentationFormat>自定义</PresentationFormat>
  <Paragraphs>48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Arial</vt:lpstr>
      <vt:lpstr>Calibri</vt:lpstr>
      <vt:lpstr>1_Title Slide</vt:lpstr>
      <vt:lpstr>Chart page</vt:lpstr>
      <vt:lpstr>4_Chart page</vt:lpstr>
      <vt:lpstr>End page</vt:lpstr>
      <vt:lpstr>xxxx技术洞察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/>
  <cp:revision>47</cp:revision>
  <dcterms:created xsi:type="dcterms:W3CDTF">2018-12-05T07:23:25Z</dcterms:created>
  <dcterms:modified xsi:type="dcterms:W3CDTF">2026-05-09T08:14:52Z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