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4" r:id="rId6"/>
    <p:sldId id="285" r:id="rId7"/>
    <p:sldId id="281" r:id="rId8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1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https://arxiv.org/abs/2610.07457v1</a:t>
            </a:r>
          </a:p>
          <a:p>
            <a:r>
              <a:t>Cross-check: https://github.com/HanzhiZhang-Ulrica/AlignQuant</a:t>
            </a:r>
          </a:p>
          <a:p>
            <a:r>
              <a:t>https://gitcode.com/Ascend/msmodelslim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https://arxiv.org/abs/2610.05977v1</a:t>
            </a:r>
          </a:p>
          <a:p>
            <a:r>
              <a:t>Cross-check: https://github.com/Ascend/msmodelslim</a:t>
            </a:r>
          </a:p>
          <a:p>
            <a:r>
              <a:t>https://github.com/Cornell-RelaxML/quip-sharp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https://arxiv.org/abs/2610.06026v1</a:t>
            </a:r>
          </a:p>
          <a:p>
            <a:r>
              <a:t>Cross-check: https://github.com/MMAI-Laboratory/DBW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https://arxiv.org/abs/2610.08164v1</a:t>
            </a:r>
          </a:p>
          <a:p>
            <a:r>
              <a:t>Cross-check: https://github.com/Cornell-RelaxML/quip-sharp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https://arxiv.org/abs/2610.02598v1</a:t>
            </a:r>
          </a:p>
          <a:p>
            <a:r>
              <a:t>Cross-check: https://github.com/ggml-org/llama.cpp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https://arxiv.org/abs/2610.03027v1</a:t>
            </a:r>
          </a:p>
          <a:p>
            <a:r>
              <a:t>Cross-check: https://github.com/mscheong01/TaSQ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https://arxiv.org/abs/2610.06286v1</a:t>
            </a:r>
          </a:p>
          <a:p>
            <a:r>
              <a:t>Cross-check: https://github.com/FasterDecoding/SnapKV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https://arxiv.org/abs/2610.03135v1</a:t>
            </a:r>
          </a:p>
          <a:p>
            <a:r>
              <a:t>Cross-check: https://github.com/bruce12-glitch/PageEntro-KV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https://arxiv.org/abs/2610.06927v1</a:t>
            </a:r>
          </a:p>
          <a:p>
            <a:r>
              <a:t>Cross-check: https://docs.vllm.ai/en/latest/design/paged_attention/</a:t>
            </a:r>
          </a:p>
          <a:p>
            <a:r>
              <a:t>https://github.com/FasterDecoding/SnapKV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https://arxiv.org/abs/2610.04753v1</a:t>
            </a:r>
          </a:p>
          <a:p>
            <a:r>
              <a:t>Cross-check: https://github.com/noamelata/SAGA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>å…¬å¼€èµ„æ–™ Â· æˆªè‡³ 2026-10-08</a:t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å…¬å¼€è®ºæ–‡ Â· ç ”ç©¶å»ºè®®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abs/2610.07457v1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5977v1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026v1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8164v1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2598v1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027v1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286v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135v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927v1" TargetMode="Externa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4753v1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err="1" b="1"/>
              <a:t>推理压缩论文洞察 按技术地图理解进展与昇腾价值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部门：云核 · 推理压缩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作者：yinxiaoshuai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日期：2026-10-08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1000" dirty="0"/>
              <a:t>å…¬å¼€èµ„æ–™ Â· æˆªè‡³ 2026-10-08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本次洞察主要围绕 压缩对象 → 技术方法 → 论文证据 → 昇腾研究决策，针对如下几个方向展开洞察：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权重压缩：</a:t>
            </a:r>
            <a:r>
              <a:rPr lang="zh-CN" altLang="en-US" sz="1400" dirty="0"/>
              <a:t>核心问题是权重驻留容量与读取带宽。量化降低表示位宽，剪枝与低秩分解改变保留结构；本期4篇直接证据集中于量化及其补偿。先核对同总字节预算的质量，再判断执行布局能否兑现收益。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激活压缩：</a:t>
            </a:r>
            <a:r>
              <a:rPr lang="zh-CN" altLang="en-US" sz="1400" dirty="0"/>
              <a:t>核心问题是中间计算及由激活触发的权重搬运。本期图文证据SpAx映射激活×剪枝并关联权重×量化，针对卸载负载；TopK-Guided在网页保留文字分析。先辨别计算瓶颈和链路瓶颈，再比较动态选择的净收益。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KV Cache压缩：</a:t>
            </a:r>
            <a:r>
              <a:rPr lang="zh-CN" altLang="en-US" sz="1400" dirty="0"/>
              <a:t>核心问题是随上下文增长的缓存容量和注意力执行成本。先看量化表示，再看淘汰预算，最后看低秩分解与头共享；后两类改变重构或模型结构成本。本期5篇证据按相同对象、不同方法展开。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总结：</a:t>
            </a:r>
            <a:r>
              <a:rPr lang="zh-CN" altLang="en-US" sz="1400" dirty="0"/>
              <a:t>与技术地图同构：权重、激活、KV Cache三类对象，各自展开压缩方法与论文事实，最后比较适用条件并形成昇腾建议。复核13篇，10篇图文、3篇文字；没有当月直接证据的格子不强行补满。</a:t>
            </a:r>
          </a:p>
        </p:txBody>
      </p:sp>
    </p:spTree>
    <p:extLst>
      <p:ext uri="{BB962C8B-B14F-4D97-AF65-F5344CB8AC3E}">
        <p14:creationId xmlns:p14="http://schemas.microsoft.com/office/powerpoint/2010/main" val="180042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078992"/>
          <a:ext cx="10733088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AlignQuant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量化：二维tile统一混合精度、紧凑存储与prefill/decode执行。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权重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StagQ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量化：共享仿射元数据，加稀疏旁路保存难量化权重。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417868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DBW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 / 剪枝 / 低秩分解：用统一目标学习各分量位宽，0-bit对应剪除，同时分配剩余量化预算。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57239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权重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Align, Then Correct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 / 低秩分解：重测统计后做限秩自然梯度校正，每个适配器由截断SVD求得。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071052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SpAx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 × 剪枝；关联权重 × 量化：小激活读取压缩权重，大激活读取原权重，近零激活跳过。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量化：在RoPE前对Key加权、跨头归一化和相关通道分组，再向量量化。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DeferKV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KV Cache 淘汰：无需训练、草稿模型或未来查询预测。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Page-EntroKV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KV Cache 淘汰：按GQA共享组聚合重要性，映射页后淘汰，严格控制实际保留预算。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AttSVD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低秩分解：提供累积与流式两种解码缓存策略。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SAGA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GQA / MQA：可用微调将既有模型转成SAGA结构。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AlignQuant: Tile-Aligned Mixed-Precision Quantization for Efficient LLM Generation（权重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北德克萨斯大学与圣路易斯大学团队针对混合精度边界和GPU执行单元错位，采用二维权重tile统一校准、打包与计算。研究价值是把模型变小与生成变快接起来，降低异构位宽的执行开销。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昇腾先核对算子支持、合法shape与数据布局，再比较同质量、同总字节预算的统一位宽和混合tile。穿刺验证需计入重排、解码与临时缓冲；只有端到端TTFT/TPOT净改善才推进。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参考： arXiv:2610.07457 v1 · Fig.2 / Table 1 · 2026-10-05</a:t>
            </a:r>
          </a:p>
        </p:txBody>
      </p:sp>
      <p:pic>
        <p:nvPicPr>
          <p:cNvPr id="27" name="Picture 26" descr="tmpn59_hfw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x38g53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共同粒度：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64×64 tile选择W4/W8，使用A8输入。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联合校准：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综合prefill/decode敏感性，在全模型预算内分配位宽。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W4紧凑加载后展开为INT8，阶段专用核复用同一模型。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A100-SXM4 40GB；扩展至H100 NVL、RTX 4090。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主结果Llama-3.2-3B，64×64 tile、60% W4。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BF16及GPTQ/AWQ等；单次完整生成的TTFT、TPOT与容量。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主表吞吐132.28 vs 58.18 tok/s（BF16），约2.27×。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常驻内存2.72 vs 5.99 GiB；均为GPU条件，非昇腾结果。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StagQ: Constraint-Driven Multi-Precision Weight Quantization for LLMs（权重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华为团队针对同一模型多精度部署需要存多份权重，采用共享前缀流与稀疏旁路补偿。研究价值是用一份编码提供多个精度档位，同时把异常值和元数据纳入实际码率；规则解码仍需专用内核。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条件研究：适合确有多档部署需求的模型。昇腾先比较总驻留字节与档位切换成本，再对旁路布局和GEMV做穿刺；单一位宽业务不应为共享流承担额外复杂度。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arXiv:2610.05977 v1 · Fig.3 / Table 1 · Table 1 (2-bit rows) excerpt</a:t>
            </a:r>
          </a:p>
        </p:txBody>
      </p:sp>
      <p:pic>
        <p:nvPicPr>
          <p:cNvPr id="27" name="Picture 26" descr="tmp7pzxko9_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xjj90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共享前缀：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2-bit基础流叠加1-bit细化平面。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共享元数据：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各精度用同一仿射映射解码。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异常值旁路：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编码前后保留难量化权重，计入总码率。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Llama-3.1-8B、Phi-4、OLMo-2-7B。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MMLU、常识任务及WikiText-2。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A100、batch-1、合成权重GEMV；不是服务吞吐。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2-bit较最强多精度基线提高MMLU 3.1–7.0个百分点。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4-bit质量持平但码率更高，不能只比较名义位宽。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DBW：联合优化分量剪枝与量化（权重 × 量化 / 剪枝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亚洲大学团队针对先截断SVD、再量化的两阶段误差，联合学习分量位宽。0-bit表示删除分量，其余分量分配不同位宽。该方案争取极低存储预算下的质量，但校准训练与混合位宽执行需要额外成本。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条件研究：业务需要亚2-bit权重时再评估。固定总字节预算比较质量，并计入低秩因子、尺度、重训和多个GEMM成本；先核对昇腾可执行的位宽集合，再做算法适配。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arXiv:2610.06026 v1 · Fig.1 / Table 1 · Table 1 (LLaMA-7B) excerpt</a:t>
            </a:r>
          </a:p>
        </p:txBody>
      </p:sp>
      <p:pic>
        <p:nvPicPr>
          <p:cNvPr id="27" name="Picture 26" descr="tmprxyfiq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rnp3pvv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联合目标：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同时决定截断秩和保留分量位宽。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可微位宽：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0-bit分量删除，预算在分量之间重新分配。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规则打包：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按位宽分组执行，避免逐分量不规则访存。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LLaMA系列7B–70B及非LLaMA对照。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平均1.61-bit、group size 128。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PTQ、BiLLM及两阶段SVD压缩；8项常识任务。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LLaMA-7B常识均分48.98%，两阶段PTQ为41.14%。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该1.61-bit质量结果不能替代昇腾端到端执行测试。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Align, Then Correct：免训练的两阶段低秩补偿（权重 × 量化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汉阳大学与Qualcomm团队针对低秩补偿目标难以低秩拟合、只优化二阶误差的问题，先做Fisher加权非对称对齐，再校正剩余一阶误差。权重保持冻结，闭式求适配器；免训练不等于免校准。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条件研究：对极低比特质量不足的模型，先比较同总容量下更高位宽与低秩补偿。昇腾穿刺需计入适配器GEMM、统计校准和并行通信；质量恢复成立之后再判断时延净收益。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arXiv:2610.08164 v1 · Fig.3 / Table 1</a:t>
            </a:r>
          </a:p>
        </p:txBody>
      </p:sp>
      <p:pic>
        <p:nvPicPr>
          <p:cNvPr id="27" name="Picture 26" descr="tmpyx2y__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sf318b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输出对齐：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用全精度与量化模型的不同输入构造目标。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统计重测：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第一阶段补偿后重新采集梯度与曲率。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低秩校正：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限秩自然梯度方向由截断SVD求解。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Qwen3-8B/4B，主实验QuIP# 2-bit。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校准：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128×2048 WikiText-2，rank 64等设置。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WikiText-2/C4 PPL，7项零样本任务。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 WikiText-2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12.43→10.26。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Qwen3-4B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21.11→13.22；还需计入适配器字节。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 Sparsity with Weight Approximation for Faster LLM Decoding on Offloaded Weights（激活 × 剪枝；关联权重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LG与多伦多大学团队针对权重卸载时每个解码token都要搬运大量数据，把读取决策分成原权重、压缩近似和跳过三档。小激活降低近似误差，大激活保留质量；研究价值主要在外部传输受限负载。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条件研究：只有权重卸载且传输主导时优先。昇腾先测链路字节与搬运时间，再验证三档访问；常驻HBM场景需单独评估索引、解码与不规则算子开销，不能直接套用论文倍数。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arXiv:2610.02598 v1 · Fig.2 / Fig.6 · Fig.6 (CPU panels) excerpt</a:t>
            </a:r>
          </a:p>
        </p:txBody>
      </p:sp>
      <p:pic>
        <p:nvPicPr>
          <p:cNvPr id="27" name="Picture 26" descr="tmp57nmpn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fhtbcsd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三档读取：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按激活大小读取完整、近似或零权重。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离线编码：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标量量化或trellis编码保存中间档。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传输协同：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根据CPU或闪存布局取码并重建投影。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Llama、Gemma、Qwen，多种卸载配置。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权重卸载CPU内存或闪存，逐token解码。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质量门槛：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 PPL增幅≤10%；对比稠密与TEAL。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CPU卸载16-bit/4-bit权重，平均加速3.86×/2.06×。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闪存卸载平均3.31×/1.54×；不是常驻HBM加速。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7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Tailoring the Quantization Space for 1-Bit KV Cache Compression（KV Cache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首尔大学与斯坦福大学团队针对1-bit KV向量量化的质量下降，在RoPE前按查询敏感性与通道相关性改造Key空间。技术目标是扩大长生成可容纳的batch，同时控制注意力误差和推理失稳。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昇腾先建立受支持KV量化基线，再用8K/16K/32K输入与短、长输出做对照。穿刺分开看同batch延迟和同HBM容量吞吐，计入码本、查表与编码成本；短输出不宜套用峰值收益。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arXiv:2610.03027 v1 · Fig.2 / Fig.4 · 2026-10-02</a:t>
            </a:r>
          </a:p>
        </p:txBody>
      </p:sp>
      <p:pic>
        <p:nvPicPr>
          <p:cNvPr id="27" name="Picture 26" descr="tmpfn8_bm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uehrzh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查询加权：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Key误差按QK敏感性优化，保护重要通道。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跨头归一化：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同token共用尺度，降低尺度存储开销。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相关分组：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保持RoPE对，拟合码本；Value采用常规VQ。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单RTX 6000 Ada，SGLang服务栈。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Qwen3-4B-Thinking-2507，2048输入/32768输出。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对照：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BF16与CQ；另测8K/16K/32K的batch-1 prefill。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最大batch 6→84，峰值吞吐220.8→412.6 tok/s（1.87×）。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8K–32K输入TTFT增加10%–14%；需与长输出收益一起看。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DeferKV: Rethinking Eviction Timing for One-Shot KV Cache Compression（KV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电子科技大学团队针对prefill末尾查询不能代表后续生成，把不可逆淘汰推迟到首个真实decode查询。结合提示与生成侧注意力再选KV，不增加草稿模型或训练；其价值是改善淘汰时机而非改变压缩格式。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条件研究：长提示、短输出业务先比较同保留预算的质量和TTFT。昇腾核对首步延迟淘汰是否增加峰值HBM，并计入注意力取样、评分与页搬移；它可与页预算策略组合，但组合收益要另测。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arXiv:2610.06286 v1 · Fig.3 / Table 1 · Table 1 (Qwen3-8B) excerpt</a:t>
            </a:r>
          </a:p>
        </p:txBody>
      </p:sp>
      <p:pic>
        <p:nvPicPr>
          <p:cNvPr id="27" name="Picture 26" descr="tmp08id4m5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4mkb_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真实查询：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首次decode时获取真实生成需求。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近期prompt查询和decode查询联合打分。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一次淘汰：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保留原方法预算结构，更换重要性估计。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Qwen3-8B、Llama-3.1-8B、Mistral-7B。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16项LongBench、RULER和针检索。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SnapKV、LAQ、SpecKV、LookaheadKV及Full KV。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Qwen3-8B、KV预算512：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LongBench均分44.96，SnapKV 38.46。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RULER跨4K–128K均分81.36，Full KV 93.46；并非无损。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Page-EntroKV: Hardware-Aligned, Entropy-Weighted KV-Cache Eviction under Grouped-Query Attention（KV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SRM团队针对GQA逐头保留集合取并集后超预算，用去除sink影响的熵给组内头加权，再映射到物理页淘汰。该方案把保留决策与真实分配单元对应，避免只统计逻辑token而低估缓存占用。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昇腾先验证现有分页管理中的逻辑token、物理页与HBM字节是否一致。对照完整KV和简单预算策略，计入评分、搬移与索引开销。长上下文质量和服务时延需独立实测后再决定工程化。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arXiv:2610.03135 v1 · Fig.1 / Fig.4 · 2026-10-02</a:t>
            </a:r>
          </a:p>
        </p:txBody>
      </p:sp>
      <p:pic>
        <p:nvPicPr>
          <p:cNvPr id="27" name="Picture 26" descr="tmpzb7megr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6e9yytr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物理组预算：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在共享KV组决策，避免逐头集合并集膨胀。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熵加权聚合：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分离sink，突出尖锐检索头的重要信号。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页粒度淘汰：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先映射分配页，再严格按预算选择保留页。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Qwen2.5-1.5B-Instruct，GQA ratio=6。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证据：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真实文本回放，非完整生产服务吞吐试验。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图4：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逐头选择的实测UOR，理论包络与组级预算保证。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作者逐头回放：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2%预算时UOR最高4.75；40%时2.33。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组/页选择UOR=1；192个算子/页大小单元精确兑现配额。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AttSVD: Prompt-Adaptive Low-Rank KV Cache Compression via Attention-Guided SVD（KV Cache ×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微软ASG团队针对删token后无法恢复上下文，沿特征轴而非序列轴压缩KV。每个提示按注意力几何生成低秩基，保留所有位置；短输出采用累积缓存，长输出用流式窗口控制增长，但分解和重构成本需独立核对。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持续跟踪：优先检查真实业务提示的注意力有效秩。昇腾穿刺分解、重构和窗口刷新成本，再与同字节预算KV量化或淘汰对比；只有长上下文收益摊薄分解开销才值得接入。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arXiv:2610.06927 v1 · Fig.1 / Table 1 excerpt</a:t>
            </a:r>
          </a:p>
        </p:txBody>
      </p:sp>
      <p:pic>
        <p:nvPicPr>
          <p:cNvPr id="27" name="Picture 26" descr="tmpcf9c06j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xug994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注意力感知：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分别保留logit与输出空间中的有效方向。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逐提示SVD：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按能量阈值选择K/V秩，而非固定离线基。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双解码策略：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累积精确token或按窗口重分解。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Phi-4-14B、Qwen3-8B等。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1750项LongBench与184项agent提示。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Dense、H2O、KVzip、KeyDiff，匹配缓存预算。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Phi-4-14B 32K：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6.250→3.131 GB（c=0.50）。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50%缓存LongBench接近稠密表现；未证明统一服务加速。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Value per Key: Asymmetric Sparse Attention for Faster LLM Decoding（KV Cache × GQA / MQA）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Technion等团队针对稀疏注意力后QK计算仍是瓶颈，减少Key头而保留更多Value头，再用近似top-N选择。技术价值是改变K/V结构以匹配瓶颈，但需训练或微调转换，不能作为普通模型的无损缓存插件。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持续跟踪：适合有模型结构改造权限的研究线。昇腾先验证非对称头布局与算子支持，再比较同训练预算质量、同栈解码与转换成本；现有生产模型优先选择保持模型结构的KV压缩。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arXiv:2610.04753 v1 · Fig.1 / Fig.2 · v1</a:t>
            </a:r>
          </a:p>
        </p:txBody>
      </p:sp>
      <p:pic>
        <p:nvPicPr>
          <p:cNvPr id="27" name="Picture 26" descr="tmpitd1hak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5ie3e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非对称K/V：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少量Key头减少QK访存与计算。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近似top-N：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控制参与PV的候选，保留Value表达能力。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模型转换：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蒸馏或微调适配新头结构，需要质量重验。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Llama-3.2-1B、Qwen2.5-1.5B。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H200/B200；batch 1/4/16、上下文8K–128K。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作者同栈完整注意力GQA，CUDA Graph解码。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作者长上下文端到端解码加速超过2×，模型最大1.5B。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从头训练质量接近GQA；不能外推现有大模型免训练收益。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1" dirty="0"/>
              <a:t>从技术地图归纳昇腾研究优先级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问题1：</a:t>
            </a:r>
            <a:r>
              <a:rPr lang="zh-CN" altLang="en-US" sz="1400" dirty="0"/>
              <a:t>权重 × 量化：优先穿刺AlignQuant式布局协同；StagQ、DBW及低秩补偿按容量预算进入条件研究。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问题2：</a:t>
            </a:r>
            <a:r>
              <a:rPr lang="zh-CN" altLang="en-US" sz="1400" dirty="0"/>
              <a:t>激活 × 剪枝：SpAx只优先用于权重卸载；常驻HBM必须重新核对动态选择和执行开销。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问题3：</a:t>
            </a:r>
            <a:r>
              <a:rPr lang="zh-CN" altLang="en-US" sz="1400" dirty="0"/>
              <a:t>KV Cache × 量化 / 淘汰：优先TaSQ和Page-EntroKV；DeferKV补充时机比较，不能直接拼接收益。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问题4：</a:t>
            </a:r>
            <a:r>
              <a:rPr lang="zh-CN" altLang="en-US" sz="1400" dirty="0"/>
              <a:t>KV Cache × 低秩 / GQA-MQA：AttSVD与SAGA持续跟踪，先核对分解刷新或训练改造成本。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展望1：</a:t>
            </a:r>
            <a:r>
              <a:rPr lang="zh-CN" altLang="en-US" sz="1400" dirty="0"/>
              <a:t>证据→比较：每个对象内先固定总字节、质量门槛和负载，再比较方法，避免跨论文加速倍率排名。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展望2：</a:t>
            </a:r>
            <a:r>
              <a:rPr lang="zh-CN" altLang="en-US" sz="1400" dirty="0"/>
              <a:t>比较→建议：相同对象的研究问题归入同组；跨对象方法保留多标签，主分类按主要压缩对象。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展望3：</a:t>
            </a:r>
            <a:r>
              <a:rPr lang="zh-CN" altLang="en-US" sz="1400" dirty="0"/>
              <a:t>建议→验证：优先级只是有条件的研究判断，原GPU实验不是昇腾预期收益；3篇文字分析保留网页依据。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/>
              <a:t>判断：技术地图给出关注范围，13篇当月事实形成证据，按对象比较后得出3项优先机制穿刺；其余按明确场景条件推进。未覆盖的技术格子不代表技术无价值。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Johnny Yu</cp:lastModifiedBy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