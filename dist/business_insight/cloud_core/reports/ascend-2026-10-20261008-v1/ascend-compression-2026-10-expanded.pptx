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  <p:sldMasterId id="2147483797" r:id="rId2"/>
    <p:sldMasterId id="2147483816" r:id="rId3"/>
    <p:sldMasterId id="2147483683" r:id="rId4"/>
  </p:sldMasterIdLst>
  <p:notesMasterIdLst>
    <p:notesMasterId r:id="rId10"/>
  </p:notesMasterIdLst>
  <p:handoutMasterIdLst>
    <p:handoutMasterId r:id="rId11"/>
  </p:handoutMasterIdLst>
  <p:sldIdLst>
    <p:sldId id="283" r:id="rId5"/>
    <p:sldId id="284" r:id="rId6"/>
    <p:sldId id="285" r:id="rId7"/>
    <p:sldId id="281" r:id="rId8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80" r:id="rId9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283"/>
          </p14:sldIdLst>
        </p14:section>
        <p14:section name="目录页" id="{9D221634-295C-7843-AF5C-A0CB4F229241}">
          <p14:sldIdLst/>
        </p14:section>
        <p14:section name="章节页" id="{FD05EE94-C931-8C4B-83A2-004B32AA1207}">
          <p14:sldIdLst>
            <p14:sldId id="284"/>
            <p14:sldId id="285"/>
            <p14:sldId id="281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5" pos="3701" userDrawn="1">
          <p15:clr>
            <a:srgbClr val="A4A3A4"/>
          </p15:clr>
        </p15:guide>
        <p15:guide id="6" orient="horz" pos="2159" userDrawn="1">
          <p15:clr>
            <a:srgbClr val="A4A3A4"/>
          </p15:clr>
        </p15:guide>
        <p15:guide id="7" pos="35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B5B5B5"/>
    <a:srgbClr val="C8102E"/>
    <a:srgbClr val="78000F"/>
    <a:srgbClr val="231815"/>
    <a:srgbClr val="595757"/>
    <a:srgbClr val="151515"/>
    <a:srgbClr val="C7000B"/>
    <a:srgbClr val="57575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91"/>
  </p:normalViewPr>
  <p:slideViewPr>
    <p:cSldViewPr snapToGrid="0" snapToObjects="1">
      <p:cViewPr>
        <p:scale>
          <a:sx n="75" d="100"/>
          <a:sy n="75" d="100"/>
        </p:scale>
        <p:origin x="978" y="507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15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456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https://arxiv.org/abs/2610.07457v1</a:t>
            </a:r>
          </a:p>
          <a:p>
            <a:r>
              <a:t>Cross-check: https://github.com/HanzhiZhang-Ulrica/AlignQuant</a:t>
            </a:r>
          </a:p>
          <a:p>
            <a:r>
              <a:t>https://gitcode.com/Ascend/msmodelslim</a:t>
            </a:r>
          </a:p>
          <a:p>
            <a:r>
              <a:t>Analyst recommendations; no Ascend measurements. Figure crops include original captions, extracted from version-bound PDFs.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https://arxiv.org/abs/2610.05977v1</a:t>
            </a:r>
          </a:p>
          <a:p>
            <a:r>
              <a:t>Cross-check: https://github.com/Ascend/msmodelslim</a:t>
            </a:r>
          </a:p>
          <a:p>
            <a:r>
              <a:t>https://github.com/Cornell-RelaxML/quip-sharp</a:t>
            </a:r>
          </a:p>
          <a:p>
            <a:r>
              <a:t>Analyst recommendations; no Ascend measurements. Figure crops include original captions, extracted from version-bound PDFs.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https://arxiv.org/abs/2610.06026v1</a:t>
            </a:r>
          </a:p>
          <a:p>
            <a:r>
              <a:t>Cross-check: https://github.com/MMAI-Laboratory/DBW</a:t>
            </a:r>
          </a:p>
          <a:p>
            <a:r>
              <a:t>https://github.com/Ascend/msmodelslim</a:t>
            </a:r>
          </a:p>
          <a:p>
            <a:r>
              <a:t>Analyst recommendations; no Ascend measurements. Figure crops include original captions, extracted from version-bound PDFs.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https://arxiv.org/abs/2610.08164v1</a:t>
            </a:r>
          </a:p>
          <a:p>
            <a:r>
              <a:t>Cross-check: https://github.com/Cornell-RelaxML/quip-sharp</a:t>
            </a:r>
          </a:p>
          <a:p>
            <a:r>
              <a:t>https://github.com/Ascend/msmodelslim</a:t>
            </a:r>
          </a:p>
          <a:p>
            <a:r>
              <a:t>Analyst recommendations; no Ascend measurements. Figure crops include original captions, extracted from version-bound PDFs.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https://arxiv.org/abs/2610.02598v1</a:t>
            </a:r>
          </a:p>
          <a:p>
            <a:r>
              <a:t>Cross-check: https://github.com/ggml-org/llama.cpp</a:t>
            </a:r>
          </a:p>
          <a:p>
            <a:r>
              <a:t>https://github.com/Ascend/msmodelslim</a:t>
            </a:r>
          </a:p>
          <a:p>
            <a:r>
              <a:t>Analyst recommendations; no Ascend measurements. Figure crops include original captions, extracted from version-bound PDFs.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https://arxiv.org/abs/2610.06286v1</a:t>
            </a:r>
          </a:p>
          <a:p>
            <a:r>
              <a:t>Cross-check: https://github.com/FasterDecoding/SnapKV</a:t>
            </a:r>
          </a:p>
          <a:p>
            <a:r>
              <a:t>https://docs.vllm.ai/en/latest/design/paged_attention/</a:t>
            </a:r>
          </a:p>
          <a:p>
            <a:r>
              <a:t>Analyst recommendations; no Ascend measurements. Figure crops include original captions, extracted from version-bound PDFs.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https://arxiv.org/abs/2610.03135v1</a:t>
            </a:r>
          </a:p>
          <a:p>
            <a:r>
              <a:t>Cross-check: https://github.com/bruce12-glitch/PageEntro-KV</a:t>
            </a:r>
          </a:p>
          <a:p>
            <a:r>
              <a:t>https://docs.vllm.ai/en/latest/design/paged_attention/</a:t>
            </a:r>
          </a:p>
          <a:p>
            <a:r>
              <a:t>Analyst recommendations; no Ascend measurements. Figure crops include original captions, extracted from version-bound PDFs.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https://arxiv.org/abs/2610.03027v1</a:t>
            </a:r>
          </a:p>
          <a:p>
            <a:r>
              <a:t>Cross-check: https://github.com/mscheong01/TaSQ</a:t>
            </a:r>
          </a:p>
          <a:p>
            <a:r>
              <a:t>https://docs.vllm.ai/en/latest/design/paged_attention/</a:t>
            </a:r>
          </a:p>
          <a:p>
            <a:r>
              <a:t>Analyst recommendations; no Ascend measurements. Figure crops include original captions, extracted from version-bound PDFs.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https://arxiv.org/abs/2610.06927v1</a:t>
            </a:r>
          </a:p>
          <a:p>
            <a:r>
              <a:t>Cross-check: https://docs.vllm.ai/en/latest/design/paged_attention/</a:t>
            </a:r>
          </a:p>
          <a:p>
            <a:r>
              <a:t>https://github.com/FasterDecoding/SnapKV</a:t>
            </a:r>
          </a:p>
          <a:p>
            <a:r>
              <a:t>Analyst recommendations; no Ascend measurements. Figure crops include original captions, extracted from version-bound PDFs.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https://arxiv.org/abs/2610.04753v1</a:t>
            </a:r>
          </a:p>
          <a:p>
            <a:r>
              <a:t>Cross-check: https://github.com/noamelata/SAGA</a:t>
            </a:r>
          </a:p>
          <a:p>
            <a:r>
              <a:t>https://docs.vllm.ai/en/latest/design/paged_attention/</a:t>
            </a:r>
          </a:p>
          <a:p>
            <a:r>
              <a:t>Analyst recommendations; no Ascend measurements. Figure crops include original captions, extracted from version-bound PDFs.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03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2AA4863-E1EF-3342-A8CB-ECD4FD06CE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95303EA-8491-464F-99A0-67F948701C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847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/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BB7B2F8-0AF7-D04F-81DD-52FDB6B732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44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灯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2C11B17-3CC6-445B-AC71-74F18E4B41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" t="7030" b="11599"/>
          <a:stretch/>
        </p:blipFill>
        <p:spPr>
          <a:xfrm>
            <a:off x="0" y="0"/>
            <a:ext cx="12196763" cy="5602265"/>
          </a:xfrm>
          <a:prstGeom prst="rect">
            <a:avLst/>
          </a:prstGeom>
        </p:spPr>
      </p:pic>
      <p:sp>
        <p:nvSpPr>
          <p:cNvPr id="13" name="L 形 12">
            <a:extLst>
              <a:ext uri="{FF2B5EF4-FFF2-40B4-BE49-F238E27FC236}">
                <a16:creationId xmlns:a16="http://schemas.microsoft.com/office/drawing/2014/main" id="{D9C13A00-1073-4DDB-80E9-154875087B13}"/>
              </a:ext>
            </a:extLst>
          </p:cNvPr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897A368-8F39-4049-9BB0-AEB315EB7E0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2621051-E1A4-A049-BF21-61B18B3483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3997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73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20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2pPr>
            <a:lvl3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7913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AF307D-40F4-EC4C-9108-79E948007529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66478601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3.xml"/><Relationship Id="rId3" Type="http://schemas.openxmlformats.org/officeDocument/2006/relationships/image" Target="../media/image6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4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F72FAD7-C8C3-754A-A498-D3A7EC29A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1000" dirty="0"/>
              <a:t>公开资料 · 截至 2026-10-08</a:t>
            </a:r>
          </a:p>
        </p:txBody>
      </p:sp>
      <p:pic>
        <p:nvPicPr>
          <p:cNvPr id="38" name="图片 3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6168"/>
            <a:ext cx="2258389" cy="48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0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7" r:id="rId3"/>
    <p:sldLayoutId id="2147483822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59" userDrawn="1">
          <p15:clr>
            <a:srgbClr val="F26B43"/>
          </p15:clr>
        </p15:guide>
        <p15:guide id="2" pos="3841" userDrawn="1">
          <p15:clr>
            <a:srgbClr val="F26B43"/>
          </p15:clr>
        </p15:guide>
        <p15:guide id="3" pos="565" userDrawn="1">
          <p15:clr>
            <a:srgbClr val="F26B43"/>
          </p15:clr>
        </p15:guide>
        <p15:guide id="4" orient="horz" pos="4007" userDrawn="1">
          <p15:clr>
            <a:srgbClr val="F26B43"/>
          </p15:clr>
        </p15:guide>
        <p15:guide id="5" orient="horz" pos="1235" userDrawn="1">
          <p15:clr>
            <a:srgbClr val="F26B43"/>
          </p15:clr>
        </p15:guide>
        <p15:guide id="6" orient="horz" pos="553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239436"/>
      </p:ext>
    </p:extLst>
  </p:cSld>
  <p:clrMap bg1="lt1" tx1="dk1" bg2="lt2" tx2="dk2" accent1="accent1" accent2="accent2" accent3="accent3" accent4="accent4" accent5="accent5" accent6="accent6" hlink="hlink" folHlink="folHlink"/>
  <p:sldLayoutIdLst/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25" userDrawn="1">
          <p15:clr>
            <a:srgbClr val="F26B43"/>
          </p15:clr>
        </p15:guide>
        <p15:guide id="5" orient="horz" pos="410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974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公开论文 · 研究建议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:a16="http://schemas.microsoft.com/office/drawing/2014/main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:a16="http://schemas.microsoft.com/office/drawing/2014/main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:a16="http://schemas.microsoft.com/office/drawing/2014/main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>
                <a:extLst>
                  <a:ext uri="{FF2B5EF4-FFF2-40B4-BE49-F238E27FC236}">
                    <a16:creationId xmlns:a16="http://schemas.microsoft.com/office/drawing/2014/main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234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:a16="http://schemas.microsoft.com/office/drawing/2014/main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120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:a16="http://schemas.microsoft.com/office/drawing/2014/main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:a16="http://schemas.microsoft.com/office/drawing/2014/main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248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:a16="http://schemas.microsoft.com/office/drawing/2014/main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235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:a16="http://schemas.microsoft.com/office/drawing/2014/main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137/137/137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:a16="http://schemas.microsoft.com/office/drawing/2014/main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35/24/21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:a16="http://schemas.microsoft.com/office/drawing/2014/main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221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:a16="http://schemas.microsoft.com/office/drawing/2014/main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233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:a16="http://schemas.microsoft.com/office/drawing/2014/main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159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:a16="http://schemas.microsoft.com/office/drawing/2014/main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245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:a16="http://schemas.microsoft.com/office/drawing/2014/main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240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:a16="http://schemas.microsoft.com/office/drawing/2014/main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181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:a16="http://schemas.microsoft.com/office/drawing/2014/main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89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:a16="http://schemas.microsoft.com/office/drawing/2014/main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255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905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25" userDrawn="1">
          <p15:clr>
            <a:srgbClr val="F26B43"/>
          </p15:clr>
        </p15:guide>
        <p15:guide id="5" orient="horz" pos="410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Copyright©2021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>
            <a:extLst>
              <a:ext uri="{FF2B5EF4-FFF2-40B4-BE49-F238E27FC236}">
                <a16:creationId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99" name="图片 9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40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1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arxiv.org/abs/2610.07457v1" TargetMode="Externa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s://arxiv.org/abs/2610.05977v1" TargetMode="External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s://arxiv.org/abs/2610.06026v1" TargetMode="External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s://arxiv.org/abs/2610.08164v1" TargetMode="External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s://arxiv.org/abs/2610.02598v1" TargetMode="External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s://arxiv.org/abs/2610.06286v1" TargetMode="External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s://arxiv.org/abs/2610.03135v1" TargetMode="External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s://arxiv.org/abs/2610.03027v1" TargetMode="External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s://arxiv.org/abs/2610.06927v1" TargetMode="External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s://arxiv.org/abs/2610.04753v1" TargetMode="External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dirty="0" err="1" b="1"/>
              <a:t>推理压缩论文洞察 从技术地图到昇腾研究决策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F3DB8AC-5DE9-5548-8697-C9055F7FFC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dirty="0"/>
              <a:t>部门：云核 · 推理压缩</a:t>
            </a:r>
          </a:p>
          <a:p>
            <a:pPr>
              <a:lnSpc>
                <a:spcPct val="100000"/>
              </a:lnSpc>
            </a:pPr>
            <a:r>
              <a:rPr lang="zh-CN" altLang="en-US" dirty="0"/>
              <a:t>作者：yinxiaoshuai</a:t>
            </a:r>
          </a:p>
          <a:p>
            <a:pPr>
              <a:lnSpc>
                <a:spcPct val="100000"/>
              </a:lnSpc>
            </a:pPr>
            <a:r>
              <a:rPr lang="zh-CN" altLang="en-US" dirty="0"/>
              <a:t>日期：2026-10-08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19B9EA-773D-FD4C-8380-847E27C61BE5}"/>
              </a:ext>
            </a:extLst>
          </p:cNvPr>
          <p:cNvSpPr txBox="1">
            <a:spLocks/>
          </p:cNvSpPr>
          <p:nvPr/>
        </p:nvSpPr>
        <p:spPr>
          <a:xfrm>
            <a:off x="948808" y="6264112"/>
            <a:ext cx="2606870" cy="13669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kumimoji="1" lang="en-US" altLang="zh-CN" sz="1000" dirty="0"/>
              <a:t>公开资料 · 截至 2026-10-08</a:t>
            </a:r>
          </a:p>
        </p:txBody>
      </p:sp>
    </p:spTree>
    <p:extLst>
      <p:ext uri="{BB962C8B-B14F-4D97-AF65-F5344CB8AC3E}">
        <p14:creationId xmlns:p14="http://schemas.microsoft.com/office/powerpoint/2010/main" val="363295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6F2FFA79-6F97-B577-0081-F82AE3EC5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1561" y="1307034"/>
            <a:ext cx="10740640" cy="502716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800" b="1" dirty="0"/>
              <a:t>本次洞察主要围绕 10篇图文洞察与13篇候选复核，针对如下几个方向展开洞察：</a:t>
            </a:r>
          </a:p>
        </p:txBody>
      </p:sp>
      <p:sp>
        <p:nvSpPr>
          <p:cNvPr id="4" name="副标题 1">
            <a:extLst>
              <a:ext uri="{FF2B5EF4-FFF2-40B4-BE49-F238E27FC236}">
                <a16:creationId xmlns:a16="http://schemas.microsoft.com/office/drawing/2014/main" id="{D42E36AF-E4EE-9BB8-684C-A8870ED83100}"/>
              </a:ext>
            </a:extLst>
          </p:cNvPr>
          <p:cNvSpPr txBox="1">
            <a:spLocks/>
          </p:cNvSpPr>
          <p:nvPr/>
        </p:nvSpPr>
        <p:spPr>
          <a:xfrm>
            <a:off x="2158999" y="2418284"/>
            <a:ext cx="7988301" cy="233151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7798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900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7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699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4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396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2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195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400" dirty="0" b="1"/>
              <a:t>方向1：</a:t>
            </a:r>
            <a:r>
              <a:rPr lang="zh-CN" altLang="en-US" sz="1400" dirty="0"/>
              <a:t>Meta Llama与阿里Qwen成为主要测评对象，华为StagQ、亚洲大学DBW和Qualcomm合作研究探索共享编码与误差补偿。优先穿刺AlignQuant的执行布局；极低比特其余三篇应按总字节预算先验质量，不能把GPU结果套到昇腾。</a:t>
            </a:r>
          </a:p>
          <a:p>
            <a:pPr>
              <a:lnSpc>
                <a:spcPct val="120000"/>
              </a:lnSpc>
            </a:pPr>
            <a:r>
              <a:rPr lang="zh-CN" altLang="en-US" sz="1400" dirty="0" b="1"/>
              <a:t>方向2：</a:t>
            </a:r>
            <a:r>
              <a:rPr lang="zh-CN" altLang="en-US" sz="1400" dirty="0"/>
              <a:t>LG/多伦多大学SpAx面对卸载链路，电子科大DeferKV改变淘汰时机，Page-EntroKV对齐GQA物理页。先验证页预算是否真正兑现，按负载再研究时机和访问选择；Google、字节、腾讯等未由本批样本建立可比较结果。</a:t>
            </a:r>
          </a:p>
          <a:p>
            <a:pPr>
              <a:lnSpc>
                <a:spcPct val="120000"/>
              </a:lnSpc>
            </a:pPr>
            <a:r>
              <a:rPr lang="zh-CN" altLang="en-US" sz="1400" dirty="0" b="1"/>
              <a:t>方向3：</a:t>
            </a:r>
            <a:r>
              <a:rPr lang="zh-CN" altLang="en-US" sz="1400" dirty="0"/>
              <a:t>TaSQ、微软AttSVD与Technion SAGA分别压缩数值表示、特征秩和K/V头结构。昇腾先穿刺容量受限长生成的TaSQ，低秩刷新与结构转换留作研究。NVIDIA GPU是论文主要实验平台，AMD、苹果、三星不在本批实测覆盖中。</a:t>
            </a:r>
          </a:p>
        </p:txBody>
      </p:sp>
      <p:sp>
        <p:nvSpPr>
          <p:cNvPr id="5" name="副标题 1">
            <a:extLst>
              <a:ext uri="{FF2B5EF4-FFF2-40B4-BE49-F238E27FC236}">
                <a16:creationId xmlns:a16="http://schemas.microsoft.com/office/drawing/2014/main" id="{D4952729-1FE8-5DB9-86DC-72E784F70822}"/>
              </a:ext>
            </a:extLst>
          </p:cNvPr>
          <p:cNvSpPr txBox="1">
            <a:spLocks/>
          </p:cNvSpPr>
          <p:nvPr/>
        </p:nvSpPr>
        <p:spPr>
          <a:xfrm>
            <a:off x="1864711" y="4743450"/>
            <a:ext cx="8034939" cy="50271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7798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900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7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699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4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396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2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195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400" dirty="0" b="1"/>
              <a:t>总结：</a:t>
            </a:r>
            <a:r>
              <a:rPr lang="zh-CN" altLang="en-US" sz="1400" dirty="0"/>
              <a:t>13篇候选不是13个工程优先项：10篇进入原图洞察，3篇保留文字分析。优先验证布局、KV容量与页预算，其余按场景推进。</a:t>
            </a:r>
          </a:p>
        </p:txBody>
      </p:sp>
    </p:spTree>
    <p:extLst>
      <p:ext uri="{BB962C8B-B14F-4D97-AF65-F5344CB8AC3E}">
        <p14:creationId xmlns:p14="http://schemas.microsoft.com/office/powerpoint/2010/main" val="1800421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2C3B3DA8-4985-E7A1-1693-E82509A94961}"/>
              </a:ext>
            </a:extLst>
          </p:cNvPr>
          <p:cNvGraphicFramePr>
            <a:graphicFrameLocks noGrp="1"/>
          </p:cNvGraphicFramePr>
          <p:nvPr>
            <p:ph idx="10"/>
            <p:extLst>
              <p:ext uri="{D42A27DB-BD31-4B8C-83A1-F6EECF244321}">
                <p14:modId xmlns:p14="http://schemas.microsoft.com/office/powerpoint/2010/main" val="289329023"/>
              </p:ext>
            </p:extLst>
          </p:nvPr>
        </p:nvGraphicFramePr>
        <p:xfrm>
          <a:off x="776287" y="1078992"/>
          <a:ext cx="10733088" cy="4526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84313">
                  <a:extLst>
                    <a:ext uri="{9D8B030D-6E8A-4147-A177-3AD203B41FA5}">
                      <a16:colId xmlns:a16="http://schemas.microsoft.com/office/drawing/2014/main" val="3677048082"/>
                    </a:ext>
                  </a:extLst>
                </a:gridCol>
                <a:gridCol w="3168650">
                  <a:extLst>
                    <a:ext uri="{9D8B030D-6E8A-4147-A177-3AD203B41FA5}">
                      <a16:colId xmlns:a16="http://schemas.microsoft.com/office/drawing/2014/main" val="2441736071"/>
                    </a:ext>
                  </a:extLst>
                </a:gridCol>
                <a:gridCol w="6080125">
                  <a:extLst>
                    <a:ext uri="{9D8B030D-6E8A-4147-A177-3AD203B41FA5}">
                      <a16:colId xmlns:a16="http://schemas.microsoft.com/office/drawing/2014/main" val="1153356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大类</a:t>
                      </a:r>
                    </a:p>
                  </a:txBody>
                  <a:tcPr anchor="ctr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技术名称</a:t>
                      </a:r>
                    </a:p>
                  </a:txBody>
                  <a:tcPr anchor="ctr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技术简介</a:t>
                      </a:r>
                    </a:p>
                  </a:txBody>
                  <a:tcPr anchor="ctr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8349137"/>
                  </a:ext>
                </a:extLst>
              </a:tr>
              <a:tr h="411480"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权重表示与执行</a:t>
                      </a:r>
                    </a:p>
                  </a:txBody>
                  <a:tcPr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AlignQuant</a:t>
                      </a:r>
                    </a:p>
                  </a:txBody>
                  <a:tcPr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二维tile统一混合精度、紧凑存储与prefill/decode执行。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3864038"/>
                  </a:ext>
                </a:extLst>
              </a:tr>
              <a:tr h="411480"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/>
                        <a:t>权重表示与执行</a:t>
                      </a: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StagQ</a:t>
                      </a:r>
                    </a:p>
                  </a:txBody>
                  <a:tcPr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权重 × 量化；同一编码前缀支持不同精度；共享仿射元数据，加稀疏旁路保存难量化权重。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2417868"/>
                  </a:ext>
                </a:extLst>
              </a:tr>
              <a:tr h="411480"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权重表示与执行</a:t>
                      </a:r>
                    </a:p>
                  </a:txBody>
                  <a:tcPr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DBW</a:t>
                      </a:r>
                    </a:p>
                  </a:txBody>
                  <a:tcPr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权重 × 量化 / 剪枝 / 低秩分解；用统一目标学习各分量位宽，0-bit对应剪除，同时分配剩余量化预算。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8657239"/>
                  </a:ext>
                </a:extLst>
              </a:tr>
              <a:tr h="411480"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/>
                        <a:t>权重表示与执行</a:t>
                      </a: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Align, Then Correct</a:t>
                      </a:r>
                    </a:p>
                  </a:txBody>
                  <a:tcPr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权重 × 量化 / 低秩分解；Fisher加权非对称对齐；重测统计后做限秩自然梯度校正，每个适配器由截断SVD求得。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0071052"/>
                  </a:ext>
                </a:extLst>
              </a:tr>
              <a:tr h="411480"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预算选择与兑现</a:t>
                      </a:r>
                    </a:p>
                  </a:txBody>
                  <a:tcPr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SpAx</a:t>
                      </a:r>
                    </a:p>
                  </a:txBody>
                  <a:tcPr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激活值 × 剪枝 / 权重近似；把二元读/不读改为三档；小激活读取压缩权重，大激活读取原权重，近零激活跳过。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1255352"/>
                  </a:ext>
                </a:extLst>
              </a:tr>
              <a:tr h="411480"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/>
                        <a:t>预算选择与兑现</a:t>
                      </a: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DeferKV</a:t>
                      </a:r>
                    </a:p>
                  </a:txBody>
                  <a:tcPr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KV Cache × 淘汰；结合提示与首步真实decode注意力，重估重要KV；无需训练、草稿模型或未来查询预测。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1879185"/>
                  </a:ext>
                </a:extLst>
              </a:tr>
              <a:tr h="411480"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/>
                        <a:t>预算选择与兑现</a:t>
                      </a: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Page-EntroKV</a:t>
                      </a:r>
                    </a:p>
                  </a:txBody>
                  <a:tcPr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按GQA共享组聚合重要性，映射页后淘汰，严格控制实际保留预算。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1879185"/>
                  </a:ext>
                </a:extLst>
              </a:tr>
              <a:tr h="411480"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/>
                        <a:t>KV表示与结构</a:t>
                      </a: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TaSQ</a:t>
                      </a:r>
                    </a:p>
                  </a:txBody>
                  <a:tcPr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在RoPE前对Key加权、跨头归一化和相关通道分组，再向量量化。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1879185"/>
                  </a:ext>
                </a:extLst>
              </a:tr>
              <a:tr h="411480"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/>
                        <a:t>KV表示与结构</a:t>
                      </a: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AttSVD</a:t>
                      </a:r>
                    </a:p>
                  </a:txBody>
                  <a:tcPr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KV Cache × 低秩分解；逐提示截断SVD，分别控制logit和输出空间；提供累积与流式两种解码缓存策略。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1879185"/>
                  </a:ext>
                </a:extLst>
              </a:tr>
              <a:tr h="411480"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/>
                        <a:t>KV表示与结构</a:t>
                      </a: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SAGA</a:t>
                      </a:r>
                    </a:p>
                  </a:txBody>
                  <a:tcPr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KV Cache × 结构压缩 / 稀疏注意力；将K/V头数量解耦；近似top-N选择；可用微调将既有模型转成SAGA结构。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1879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2504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820D3DE-64C9-BB37-17AF-5E77CBCF44F4}"/>
              </a:ext>
            </a:extLst>
          </p:cNvPr>
          <p:cNvSpPr/>
          <p:nvPr/>
        </p:nvSpPr>
        <p:spPr>
          <a:xfrm>
            <a:off x="497523" y="1801686"/>
            <a:ext cx="564642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C7DB71-ADA0-BFD3-A58A-572743DCFECC}"/>
              </a:ext>
            </a:extLst>
          </p:cNvPr>
          <p:cNvSpPr txBox="1"/>
          <p:nvPr/>
        </p:nvSpPr>
        <p:spPr>
          <a:xfrm>
            <a:off x="314741" y="143319"/>
            <a:ext cx="11940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7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AlignQuant: Tile-Aligned Mixed-Precision Quantization for Efficient LLM Generation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1BCF5FA-2E05-F696-7955-3D5DD8350294}"/>
              </a:ext>
            </a:extLst>
          </p:cNvPr>
          <p:cNvSpPr/>
          <p:nvPr/>
        </p:nvSpPr>
        <p:spPr>
          <a:xfrm>
            <a:off x="6350000" y="1801686"/>
            <a:ext cx="546100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1900F2-58CF-3CEC-8940-9F22C2A2CFBC}"/>
              </a:ext>
            </a:extLst>
          </p:cNvPr>
          <p:cNvSpPr txBox="1"/>
          <p:nvPr/>
        </p:nvSpPr>
        <p:spPr>
          <a:xfrm>
            <a:off x="2787174" y="1654147"/>
            <a:ext cx="106711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技术细节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B06C3E-0B89-CF09-5D59-2E9C865F39BB}"/>
              </a:ext>
            </a:extLst>
          </p:cNvPr>
          <p:cNvSpPr txBox="1"/>
          <p:nvPr/>
        </p:nvSpPr>
        <p:spPr>
          <a:xfrm>
            <a:off x="8450263" y="1660928"/>
            <a:ext cx="111156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DC63CE2-F933-0603-11BF-E9C364691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924527"/>
              </p:ext>
            </p:extLst>
          </p:nvPr>
        </p:nvGraphicFramePr>
        <p:xfrm>
          <a:off x="497523" y="863419"/>
          <a:ext cx="11313477" cy="70076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292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750550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7007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en-US" altLang="zh-CN" sz="1400" dirty="0">
                        <a:solidFill>
                          <a:srgbClr val="2318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北德克萨斯大学与圣路易斯大学团队针对混合精度边界和GPU执行单元错位，采用二维权重tile统一校准、打包与计算。研究价值是把模型变小与生成变快接起来，降低异构位宽的执行开销。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6C947C9-A797-4402-58F1-20246C304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88552"/>
              </p:ext>
            </p:extLst>
          </p:nvPr>
        </p:nvGraphicFramePr>
        <p:xfrm>
          <a:off x="484823" y="5906558"/>
          <a:ext cx="11386725" cy="58314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1356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673158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5831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洞察</a:t>
                      </a:r>
                      <a:endParaRPr lang="en-US" altLang="zh-CN" sz="1400" dirty="0">
                        <a:solidFill>
                          <a:srgbClr val="C8102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启示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昇腾先核对算子支持、合法shape与数据布局，再比较同质量、同总字节预算的统一位宽和混合tile。穿刺验证需计入重排、解码与临时缓冲；只有端到端TTFT/TPOT净改善才推进。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E9873BFF-5BDE-35A4-3F27-80AFA216F16E}"/>
              </a:ext>
            </a:extLst>
          </p:cNvPr>
          <p:cNvSpPr txBox="1"/>
          <p:nvPr/>
        </p:nvSpPr>
        <p:spPr>
          <a:xfrm>
            <a:off x="314741" y="544345"/>
            <a:ext cx="71024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000" i="1" u="sng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参考： arXiv:2610.07457 v1 · Fig.2 / Table 1 · 2026-10-05</a:t>
            </a:r>
          </a:p>
        </p:txBody>
      </p:sp>
      <p:pic>
        <p:nvPicPr>
          <p:cNvPr id="27" name="Picture 26" descr="tmpr8_msad_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76" y="2000387"/>
            <a:ext cx="5312689" cy="1973527"/>
          </a:xfrm>
          <a:prstGeom prst="rect">
            <a:avLst/>
          </a:prstGeom>
        </p:spPr>
      </p:pic>
      <p:pic>
        <p:nvPicPr>
          <p:cNvPr id="28" name="Picture 27" descr="tmpx9a8hhw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347330"/>
            <a:ext cx="4692650" cy="160558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F4C16CF-0A1C-F0EB-829D-8F06740E413D}"/>
              </a:ext>
            </a:extLst>
          </p:cNvPr>
          <p:cNvSpPr txBox="1"/>
          <p:nvPr/>
        </p:nvSpPr>
        <p:spPr>
          <a:xfrm>
            <a:off x="673803" y="4211412"/>
            <a:ext cx="5287962" cy="14465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共同粒度：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64×64 tile选择W4/W8，使用A8输入。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联合校准：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综合prefill/decode敏感性，在全模型预算内分配位宽。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直接执行：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W4紧凑加载后展开为INT8，阶段专用核复用同一模型。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9FE96DC-5BFE-BD72-AD63-E6CFC96CF1FF}"/>
              </a:ext>
            </a:extLst>
          </p:cNvPr>
          <p:cNvSpPr txBox="1"/>
          <p:nvPr/>
        </p:nvSpPr>
        <p:spPr>
          <a:xfrm>
            <a:off x="6477002" y="1941239"/>
            <a:ext cx="5168898" cy="1406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平台：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A100-SXM4 40GB；扩展至H100 NVL、RTX 4090。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模型：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主结果Llama-3.2-3B，64×64 tile、60% W4。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基线：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BF16及GPTQ/AWQ等；单次完整生成的TTFT、TPOT与容量。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1F4CB36-7FAE-44AA-2B55-0112FAD771AC}"/>
              </a:ext>
            </a:extLst>
          </p:cNvPr>
          <p:cNvSpPr txBox="1"/>
          <p:nvPr/>
        </p:nvSpPr>
        <p:spPr>
          <a:xfrm>
            <a:off x="6434455" y="5093671"/>
            <a:ext cx="5292090" cy="6001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主表吞吐132.28 vs 58.18 tok/s（BF16），约2.27×。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常驻内存2.72 vs 5.99 GiB；均为GPU条件，非昇腾结果。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TextBox 7">
            <a:extLst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820D3DE-64C9-BB37-17AF-5E77CBCF44F4}"/>
              </a:ext>
            </a:extLst>
          </p:cNvPr>
          <p:cNvSpPr/>
          <p:nvPr/>
        </p:nvSpPr>
        <p:spPr>
          <a:xfrm>
            <a:off x="497523" y="1801686"/>
            <a:ext cx="564642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C7DB71-ADA0-BFD3-A58A-572743DCFECC}"/>
              </a:ext>
            </a:extLst>
          </p:cNvPr>
          <p:cNvSpPr txBox="1"/>
          <p:nvPr/>
        </p:nvSpPr>
        <p:spPr>
          <a:xfrm>
            <a:off x="314741" y="143319"/>
            <a:ext cx="11940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0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StagQ: Constraint-Driven Multi-Precision Weight Quantization for LLMs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1BCF5FA-2E05-F696-7955-3D5DD8350294}"/>
              </a:ext>
            </a:extLst>
          </p:cNvPr>
          <p:cNvSpPr/>
          <p:nvPr/>
        </p:nvSpPr>
        <p:spPr>
          <a:xfrm>
            <a:off x="6350000" y="1801686"/>
            <a:ext cx="546100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1900F2-58CF-3CEC-8940-9F22C2A2CFBC}"/>
              </a:ext>
            </a:extLst>
          </p:cNvPr>
          <p:cNvSpPr txBox="1"/>
          <p:nvPr/>
        </p:nvSpPr>
        <p:spPr>
          <a:xfrm>
            <a:off x="2787174" y="1654147"/>
            <a:ext cx="106711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技术细节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B06C3E-0B89-CF09-5D59-2E9C865F39BB}"/>
              </a:ext>
            </a:extLst>
          </p:cNvPr>
          <p:cNvSpPr txBox="1"/>
          <p:nvPr/>
        </p:nvSpPr>
        <p:spPr>
          <a:xfrm>
            <a:off x="8450263" y="1660928"/>
            <a:ext cx="111156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DC63CE2-F933-0603-11BF-E9C364691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924527"/>
              </p:ext>
            </p:extLst>
          </p:nvPr>
        </p:nvGraphicFramePr>
        <p:xfrm>
          <a:off x="497523" y="863419"/>
          <a:ext cx="11313477" cy="70076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292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750550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7007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en-US" altLang="zh-CN" sz="1400" dirty="0">
                        <a:solidFill>
                          <a:srgbClr val="2318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华为团队针对同一模型多精度部署需要存多份权重，采用共享前缀流与稀疏旁路补偿。研究价值是用一份编码提供多个精度档位，同时把异常值和元数据纳入实际码率；规则解码仍需专用内核。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6C947C9-A797-4402-58F1-20246C304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88552"/>
              </p:ext>
            </p:extLst>
          </p:nvPr>
        </p:nvGraphicFramePr>
        <p:xfrm>
          <a:off x="484823" y="5906558"/>
          <a:ext cx="11386725" cy="58314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1356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673158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5831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洞察</a:t>
                      </a:r>
                      <a:endParaRPr lang="en-US" altLang="zh-CN" sz="1400" dirty="0">
                        <a:solidFill>
                          <a:srgbClr val="C8102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启示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条件研究：适合确有多档部署需求的模型。昇腾先比较总驻留字节与档位切换成本，再对旁路布局和GEMV做穿刺；单一位宽业务不应为共享流承担额外复杂度。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E9873BFF-5BDE-35A4-3F27-80AFA216F16E}"/>
              </a:ext>
            </a:extLst>
          </p:cNvPr>
          <p:cNvSpPr txBox="1"/>
          <p:nvPr/>
        </p:nvSpPr>
        <p:spPr>
          <a:xfrm>
            <a:off x="314741" y="544345"/>
            <a:ext cx="71024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000" i="1" u="sng" dirty="0"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参考： arXiv:2610.05977 v1 · Fig.3 / Table 1 · Table 1 (2-bit rows) excerpt</a:t>
            </a:r>
          </a:p>
        </p:txBody>
      </p:sp>
      <p:pic>
        <p:nvPicPr>
          <p:cNvPr id="27" name="Picture 26" descr="tmp4166mv7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76" y="2000387"/>
            <a:ext cx="5312689" cy="1973527"/>
          </a:xfrm>
          <a:prstGeom prst="rect">
            <a:avLst/>
          </a:prstGeom>
        </p:spPr>
      </p:pic>
      <p:pic>
        <p:nvPicPr>
          <p:cNvPr id="28" name="Picture 27" descr="tmpw1nn1mi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347330"/>
            <a:ext cx="4692650" cy="160558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F4C16CF-0A1C-F0EB-829D-8F06740E413D}"/>
              </a:ext>
            </a:extLst>
          </p:cNvPr>
          <p:cNvSpPr txBox="1"/>
          <p:nvPr/>
        </p:nvSpPr>
        <p:spPr>
          <a:xfrm>
            <a:off x="673803" y="4211412"/>
            <a:ext cx="5287962" cy="14465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共享前缀：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2-bit基础流叠加1-bit细化平面。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共享元数据：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各精度用同一仿射映射解码。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异常值旁路：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编码前后保留难量化权重，计入总码率。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9FE96DC-5BFE-BD72-AD63-E6CFC96CF1FF}"/>
              </a:ext>
            </a:extLst>
          </p:cNvPr>
          <p:cNvSpPr txBox="1"/>
          <p:nvPr/>
        </p:nvSpPr>
        <p:spPr>
          <a:xfrm>
            <a:off x="6477002" y="1941239"/>
            <a:ext cx="5168898" cy="1406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模型：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Llama-3.1-8B、Phi-4、OLMo-2-7B。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质量：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MMLU、常识任务及WikiText-2。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执行：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A100、batch-1、合成权重GEMV；不是服务吞吐。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1F4CB36-7FAE-44AA-2B55-0112FAD771AC}"/>
              </a:ext>
            </a:extLst>
          </p:cNvPr>
          <p:cNvSpPr txBox="1"/>
          <p:nvPr/>
        </p:nvSpPr>
        <p:spPr>
          <a:xfrm>
            <a:off x="6434455" y="5093671"/>
            <a:ext cx="5292090" cy="6001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2-bit较最强多精度基线提高MMLU 3.1–7.0个百分点。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4-bit质量持平但码率更高，不能只比较名义位宽。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TextBox 7">
            <a:extLst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820D3DE-64C9-BB37-17AF-5E77CBCF44F4}"/>
              </a:ext>
            </a:extLst>
          </p:cNvPr>
          <p:cNvSpPr/>
          <p:nvPr/>
        </p:nvSpPr>
        <p:spPr>
          <a:xfrm>
            <a:off x="497523" y="1801686"/>
            <a:ext cx="564642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C7DB71-ADA0-BFD3-A58A-572743DCFECC}"/>
              </a:ext>
            </a:extLst>
          </p:cNvPr>
          <p:cNvSpPr txBox="1"/>
          <p:nvPr/>
        </p:nvSpPr>
        <p:spPr>
          <a:xfrm>
            <a:off x="314741" y="143319"/>
            <a:ext cx="11940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3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Differentiable Bit-Widths: Co-optimizing Pruning and Quantization via SVD for Ultra-Efficient LLM Compression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1BCF5FA-2E05-F696-7955-3D5DD8350294}"/>
              </a:ext>
            </a:extLst>
          </p:cNvPr>
          <p:cNvSpPr/>
          <p:nvPr/>
        </p:nvSpPr>
        <p:spPr>
          <a:xfrm>
            <a:off x="6350000" y="1801686"/>
            <a:ext cx="546100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1900F2-58CF-3CEC-8940-9F22C2A2CFBC}"/>
              </a:ext>
            </a:extLst>
          </p:cNvPr>
          <p:cNvSpPr txBox="1"/>
          <p:nvPr/>
        </p:nvSpPr>
        <p:spPr>
          <a:xfrm>
            <a:off x="2787174" y="1654147"/>
            <a:ext cx="106711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技术细节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B06C3E-0B89-CF09-5D59-2E9C865F39BB}"/>
              </a:ext>
            </a:extLst>
          </p:cNvPr>
          <p:cNvSpPr txBox="1"/>
          <p:nvPr/>
        </p:nvSpPr>
        <p:spPr>
          <a:xfrm>
            <a:off x="8450263" y="1660928"/>
            <a:ext cx="111156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DC63CE2-F933-0603-11BF-E9C364691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924527"/>
              </p:ext>
            </p:extLst>
          </p:nvPr>
        </p:nvGraphicFramePr>
        <p:xfrm>
          <a:off x="497523" y="863419"/>
          <a:ext cx="11313477" cy="70076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292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750550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7007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en-US" altLang="zh-CN" sz="1400" dirty="0">
                        <a:solidFill>
                          <a:srgbClr val="2318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亚洲大学团队针对先截断SVD、再量化的两阶段误差，联合学习分量位宽。0-bit表示删除分量，其余分量分配不同位宽。该方案争取极低存储预算下的质量，但校准训练与混合位宽执行需要额外成本。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6C947C9-A797-4402-58F1-20246C304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88552"/>
              </p:ext>
            </p:extLst>
          </p:nvPr>
        </p:nvGraphicFramePr>
        <p:xfrm>
          <a:off x="484823" y="5906558"/>
          <a:ext cx="11386725" cy="58314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1356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673158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5831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洞察</a:t>
                      </a:r>
                      <a:endParaRPr lang="en-US" altLang="zh-CN" sz="1400" dirty="0">
                        <a:solidFill>
                          <a:srgbClr val="C8102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启示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条件研究：业务需要亚2-bit权重时再评估。固定总字节预算比较质量，并计入低秩因子、尺度、重训和多个GEMM成本；先核对昇腾可执行的位宽集合，再做算法适配。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E9873BFF-5BDE-35A4-3F27-80AFA216F16E}"/>
              </a:ext>
            </a:extLst>
          </p:cNvPr>
          <p:cNvSpPr txBox="1"/>
          <p:nvPr/>
        </p:nvSpPr>
        <p:spPr>
          <a:xfrm>
            <a:off x="314741" y="544345"/>
            <a:ext cx="71024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000" i="1" u="sng" dirty="0"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参考： arXiv:2610.06026 v1 · Fig.1 / Table 1 · Table 1 (LLaMA-7B) excerpt</a:t>
            </a:r>
          </a:p>
        </p:txBody>
      </p:sp>
      <p:pic>
        <p:nvPicPr>
          <p:cNvPr id="27" name="Picture 26" descr="tmpiqxmp7m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76" y="2000387"/>
            <a:ext cx="5312689" cy="1973527"/>
          </a:xfrm>
          <a:prstGeom prst="rect">
            <a:avLst/>
          </a:prstGeom>
        </p:spPr>
      </p:pic>
      <p:pic>
        <p:nvPicPr>
          <p:cNvPr id="28" name="Picture 27" descr="tmpq5bjzj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347330"/>
            <a:ext cx="4692650" cy="160558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F4C16CF-0A1C-F0EB-829D-8F06740E413D}"/>
              </a:ext>
            </a:extLst>
          </p:cNvPr>
          <p:cNvSpPr txBox="1"/>
          <p:nvPr/>
        </p:nvSpPr>
        <p:spPr>
          <a:xfrm>
            <a:off x="673803" y="4211412"/>
            <a:ext cx="5287962" cy="14465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联合目标：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同时决定截断秩和保留分量位宽。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可微位宽：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0-bit分量删除，预算在分量之间重新分配。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规则打包：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按位宽分组执行，避免逐分量不规则访存。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9FE96DC-5BFE-BD72-AD63-E6CFC96CF1FF}"/>
              </a:ext>
            </a:extLst>
          </p:cNvPr>
          <p:cNvSpPr txBox="1"/>
          <p:nvPr/>
        </p:nvSpPr>
        <p:spPr>
          <a:xfrm>
            <a:off x="6477002" y="1941239"/>
            <a:ext cx="5168898" cy="1406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模型：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LLaMA系列7B–70B及非LLaMA对照。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设置：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平均1.61-bit、group size 128。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基线：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PTQ、BiLLM及两阶段SVD压缩；8项常识任务。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1F4CB36-7FAE-44AA-2B55-0112FAD771AC}"/>
              </a:ext>
            </a:extLst>
          </p:cNvPr>
          <p:cNvSpPr txBox="1"/>
          <p:nvPr/>
        </p:nvSpPr>
        <p:spPr>
          <a:xfrm>
            <a:off x="6434455" y="5093671"/>
            <a:ext cx="5292090" cy="6001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LLaMA-7B常识均分48.98%，两阶段PTQ为41.14%。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该1.61-bit质量结果不能替代昇腾端到端执行测试。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TextBox 7">
            <a:extLst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820D3DE-64C9-BB37-17AF-5E77CBCF44F4}"/>
              </a:ext>
            </a:extLst>
          </p:cNvPr>
          <p:cNvSpPr/>
          <p:nvPr/>
        </p:nvSpPr>
        <p:spPr>
          <a:xfrm>
            <a:off x="497523" y="1801686"/>
            <a:ext cx="564642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C7DB71-ADA0-BFD3-A58A-572743DCFECC}"/>
              </a:ext>
            </a:extLst>
          </p:cNvPr>
          <p:cNvSpPr txBox="1"/>
          <p:nvPr/>
        </p:nvSpPr>
        <p:spPr>
          <a:xfrm>
            <a:off x="314741" y="143319"/>
            <a:ext cx="11940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3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Align, Then Correct: Training-Free Two-Stage Low-Rank Compensation for Extremely Quantized Large Language Models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1BCF5FA-2E05-F696-7955-3D5DD8350294}"/>
              </a:ext>
            </a:extLst>
          </p:cNvPr>
          <p:cNvSpPr/>
          <p:nvPr/>
        </p:nvSpPr>
        <p:spPr>
          <a:xfrm>
            <a:off x="6350000" y="1801686"/>
            <a:ext cx="546100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1900F2-58CF-3CEC-8940-9F22C2A2CFBC}"/>
              </a:ext>
            </a:extLst>
          </p:cNvPr>
          <p:cNvSpPr txBox="1"/>
          <p:nvPr/>
        </p:nvSpPr>
        <p:spPr>
          <a:xfrm>
            <a:off x="2787174" y="1654147"/>
            <a:ext cx="106711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技术细节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B06C3E-0B89-CF09-5D59-2E9C865F39BB}"/>
              </a:ext>
            </a:extLst>
          </p:cNvPr>
          <p:cNvSpPr txBox="1"/>
          <p:nvPr/>
        </p:nvSpPr>
        <p:spPr>
          <a:xfrm>
            <a:off x="8450263" y="1660928"/>
            <a:ext cx="111156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DC63CE2-F933-0603-11BF-E9C364691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924527"/>
              </p:ext>
            </p:extLst>
          </p:nvPr>
        </p:nvGraphicFramePr>
        <p:xfrm>
          <a:off x="497523" y="863419"/>
          <a:ext cx="11313477" cy="70076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292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750550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7007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en-US" altLang="zh-CN" sz="1400" dirty="0">
                        <a:solidFill>
                          <a:srgbClr val="2318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汉阳大学与Qualcomm团队针对低秩补偿目标难以低秩拟合、只优化二阶误差的问题，先做Fisher加权非对称对齐，再校正剩余一阶误差。权重保持冻结，闭式求适配器；免训练不等于免校准。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6C947C9-A797-4402-58F1-20246C304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88552"/>
              </p:ext>
            </p:extLst>
          </p:nvPr>
        </p:nvGraphicFramePr>
        <p:xfrm>
          <a:off x="484823" y="5906558"/>
          <a:ext cx="11386725" cy="58314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1356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673158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5831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洞察</a:t>
                      </a:r>
                      <a:endParaRPr lang="en-US" altLang="zh-CN" sz="1400" dirty="0">
                        <a:solidFill>
                          <a:srgbClr val="C8102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启示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条件研究：对极低比特质量不足的模型，先比较同总容量下更高位宽与低秩补偿。昇腾穿刺需计入适配器GEMM、统计校准和并行通信；质量恢复成立之后再判断时延净收益。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E9873BFF-5BDE-35A4-3F27-80AFA216F16E}"/>
              </a:ext>
            </a:extLst>
          </p:cNvPr>
          <p:cNvSpPr txBox="1"/>
          <p:nvPr/>
        </p:nvSpPr>
        <p:spPr>
          <a:xfrm>
            <a:off x="314741" y="544345"/>
            <a:ext cx="71024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000" i="1" u="sng" dirty="0"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参考： arXiv:2610.08164 v1 · Fig.3 / Table 1</a:t>
            </a:r>
          </a:p>
        </p:txBody>
      </p:sp>
      <p:pic>
        <p:nvPicPr>
          <p:cNvPr id="27" name="Picture 26" descr="tmpcr6r2so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76" y="2000387"/>
            <a:ext cx="5312689" cy="1973527"/>
          </a:xfrm>
          <a:prstGeom prst="rect">
            <a:avLst/>
          </a:prstGeom>
        </p:spPr>
      </p:pic>
      <p:pic>
        <p:nvPicPr>
          <p:cNvPr id="28" name="Picture 27" descr="tmpxpnetac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347330"/>
            <a:ext cx="4692650" cy="160558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F4C16CF-0A1C-F0EB-829D-8F06740E413D}"/>
              </a:ext>
            </a:extLst>
          </p:cNvPr>
          <p:cNvSpPr txBox="1"/>
          <p:nvPr/>
        </p:nvSpPr>
        <p:spPr>
          <a:xfrm>
            <a:off x="673803" y="4211412"/>
            <a:ext cx="5287962" cy="14465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输出对齐：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用全精度与量化模型的不同输入构造目标。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统计重测：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第一阶段补偿后重新采集梯度与曲率。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低秩校正：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限秩自然梯度方向由截断SVD求解。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9FE96DC-5BFE-BD72-AD63-E6CFC96CF1FF}"/>
              </a:ext>
            </a:extLst>
          </p:cNvPr>
          <p:cNvSpPr txBox="1"/>
          <p:nvPr/>
        </p:nvSpPr>
        <p:spPr>
          <a:xfrm>
            <a:off x="6477002" y="1941239"/>
            <a:ext cx="5168898" cy="1406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模型：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Qwen3-8B/4B，主实验QuIP# 2-bit。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校准：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128×2048 WikiText-2，rank 64等设置。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质量：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WikiText-2/C4 PPL，7项零样本任务。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1F4CB36-7FAE-44AA-2B55-0112FAD771AC}"/>
              </a:ext>
            </a:extLst>
          </p:cNvPr>
          <p:cNvSpPr txBox="1"/>
          <p:nvPr/>
        </p:nvSpPr>
        <p:spPr>
          <a:xfrm>
            <a:off x="6434455" y="5093671"/>
            <a:ext cx="5292090" cy="6001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Qwen3-8B WikiText-2 PPL：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12.43→10.26。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Qwen3-4B PPL：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21.11→13.22；还需计入适配器字节。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TextBox 7">
            <a:extLst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820D3DE-64C9-BB37-17AF-5E77CBCF44F4}"/>
              </a:ext>
            </a:extLst>
          </p:cNvPr>
          <p:cNvSpPr/>
          <p:nvPr/>
        </p:nvSpPr>
        <p:spPr>
          <a:xfrm>
            <a:off x="497523" y="1801686"/>
            <a:ext cx="564642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C7DB71-ADA0-BFD3-A58A-572743DCFECC}"/>
              </a:ext>
            </a:extLst>
          </p:cNvPr>
          <p:cNvSpPr txBox="1"/>
          <p:nvPr/>
        </p:nvSpPr>
        <p:spPr>
          <a:xfrm>
            <a:off x="314741" y="143319"/>
            <a:ext cx="11940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5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Activation Sparsity with Weight Approximation for Faster LLM Decoding on Offloaded Weights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1BCF5FA-2E05-F696-7955-3D5DD8350294}"/>
              </a:ext>
            </a:extLst>
          </p:cNvPr>
          <p:cNvSpPr/>
          <p:nvPr/>
        </p:nvSpPr>
        <p:spPr>
          <a:xfrm>
            <a:off x="6350000" y="1801686"/>
            <a:ext cx="546100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1900F2-58CF-3CEC-8940-9F22C2A2CFBC}"/>
              </a:ext>
            </a:extLst>
          </p:cNvPr>
          <p:cNvSpPr txBox="1"/>
          <p:nvPr/>
        </p:nvSpPr>
        <p:spPr>
          <a:xfrm>
            <a:off x="2787174" y="1654147"/>
            <a:ext cx="106711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技术细节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B06C3E-0B89-CF09-5D59-2E9C865F39BB}"/>
              </a:ext>
            </a:extLst>
          </p:cNvPr>
          <p:cNvSpPr txBox="1"/>
          <p:nvPr/>
        </p:nvSpPr>
        <p:spPr>
          <a:xfrm>
            <a:off x="8450263" y="1660928"/>
            <a:ext cx="111156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DC63CE2-F933-0603-11BF-E9C364691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924527"/>
              </p:ext>
            </p:extLst>
          </p:nvPr>
        </p:nvGraphicFramePr>
        <p:xfrm>
          <a:off x="497523" y="863419"/>
          <a:ext cx="11313477" cy="70076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292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750550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7007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en-US" altLang="zh-CN" sz="1400" dirty="0">
                        <a:solidFill>
                          <a:srgbClr val="2318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LG与多伦多大学团队针对权重卸载时每个解码token都要搬运大量数据，把读取决策分成原权重、压缩近似和跳过三档。小激活降低近似误差，大激活保留质量；研究价值主要在外部传输受限负载。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6C947C9-A797-4402-58F1-20246C304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88552"/>
              </p:ext>
            </p:extLst>
          </p:nvPr>
        </p:nvGraphicFramePr>
        <p:xfrm>
          <a:off x="484823" y="5906558"/>
          <a:ext cx="11386725" cy="58314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1356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673158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5831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洞察</a:t>
                      </a:r>
                      <a:endParaRPr lang="en-US" altLang="zh-CN" sz="1400" dirty="0">
                        <a:solidFill>
                          <a:srgbClr val="C8102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启示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条件研究：只有权重卸载且传输主导时优先。昇腾先测链路字节与搬运时间，再验证三档访问；常驻HBM场景需单独评估索引、解码与不规则算子开销，不能直接套用论文倍数。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E9873BFF-5BDE-35A4-3F27-80AFA216F16E}"/>
              </a:ext>
            </a:extLst>
          </p:cNvPr>
          <p:cNvSpPr txBox="1"/>
          <p:nvPr/>
        </p:nvSpPr>
        <p:spPr>
          <a:xfrm>
            <a:off x="314741" y="544345"/>
            <a:ext cx="71024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000" i="1" u="sng" dirty="0"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参考： arXiv:2610.02598 v1 · Fig.2 / Fig.6 · Fig.6 (CPU panels) excerpt · Fig.6 (CPU panels) excerpt</a:t>
            </a:r>
          </a:p>
        </p:txBody>
      </p:sp>
      <p:pic>
        <p:nvPicPr>
          <p:cNvPr id="27" name="Picture 26" descr="tmpeqldys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76" y="2000387"/>
            <a:ext cx="5312689" cy="1973527"/>
          </a:xfrm>
          <a:prstGeom prst="rect">
            <a:avLst/>
          </a:prstGeom>
        </p:spPr>
      </p:pic>
      <p:pic>
        <p:nvPicPr>
          <p:cNvPr id="28" name="Picture 27" descr="tmpdz6qth1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347330"/>
            <a:ext cx="4692650" cy="160558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F4C16CF-0A1C-F0EB-829D-8F06740E413D}"/>
              </a:ext>
            </a:extLst>
          </p:cNvPr>
          <p:cNvSpPr txBox="1"/>
          <p:nvPr/>
        </p:nvSpPr>
        <p:spPr>
          <a:xfrm>
            <a:off x="673803" y="4211412"/>
            <a:ext cx="5287962" cy="14465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三档读取：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按激活大小读取完整、近似或零权重。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离线编码：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标量量化或trellis编码保存中间档。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传输协同：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根据CPU或闪存布局取码并重建投影。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9FE96DC-5BFE-BD72-AD63-E6CFC96CF1FF}"/>
              </a:ext>
            </a:extLst>
          </p:cNvPr>
          <p:cNvSpPr txBox="1"/>
          <p:nvPr/>
        </p:nvSpPr>
        <p:spPr>
          <a:xfrm>
            <a:off x="6477002" y="1941239"/>
            <a:ext cx="5168898" cy="1406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模型：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Llama、Gemma、Qwen，多种卸载配置。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负载：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权重卸载CPU内存或闪存，逐token解码。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质量门槛：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WikiText-2 PPL增幅≤10%；对比稠密与TEAL。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1F4CB36-7FAE-44AA-2B55-0112FAD771AC}"/>
              </a:ext>
            </a:extLst>
          </p:cNvPr>
          <p:cNvSpPr txBox="1"/>
          <p:nvPr/>
        </p:nvSpPr>
        <p:spPr>
          <a:xfrm>
            <a:off x="6434455" y="5093671"/>
            <a:ext cx="5292090" cy="6001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CPU卸载16-bit/4-bit权重，平均加速3.86×/2.06×。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闪存卸载平均3.31×/1.54×；不是常驻HBM加速。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TextBox 7">
            <a:extLst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820D3DE-64C9-BB37-17AF-5E77CBCF44F4}"/>
              </a:ext>
            </a:extLst>
          </p:cNvPr>
          <p:cNvSpPr/>
          <p:nvPr/>
        </p:nvSpPr>
        <p:spPr>
          <a:xfrm>
            <a:off x="497523" y="1801686"/>
            <a:ext cx="564642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C7DB71-ADA0-BFD3-A58A-572743DCFECC}"/>
              </a:ext>
            </a:extLst>
          </p:cNvPr>
          <p:cNvSpPr txBox="1"/>
          <p:nvPr/>
        </p:nvSpPr>
        <p:spPr>
          <a:xfrm>
            <a:off x="314741" y="143319"/>
            <a:ext cx="11940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0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DeferKV: Rethinking Eviction Timing for One-Shot KV Cache Compression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1BCF5FA-2E05-F696-7955-3D5DD8350294}"/>
              </a:ext>
            </a:extLst>
          </p:cNvPr>
          <p:cNvSpPr/>
          <p:nvPr/>
        </p:nvSpPr>
        <p:spPr>
          <a:xfrm>
            <a:off x="6350000" y="1801686"/>
            <a:ext cx="546100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1900F2-58CF-3CEC-8940-9F22C2A2CFBC}"/>
              </a:ext>
            </a:extLst>
          </p:cNvPr>
          <p:cNvSpPr txBox="1"/>
          <p:nvPr/>
        </p:nvSpPr>
        <p:spPr>
          <a:xfrm>
            <a:off x="2787174" y="1654147"/>
            <a:ext cx="106711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技术细节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B06C3E-0B89-CF09-5D59-2E9C865F39BB}"/>
              </a:ext>
            </a:extLst>
          </p:cNvPr>
          <p:cNvSpPr txBox="1"/>
          <p:nvPr/>
        </p:nvSpPr>
        <p:spPr>
          <a:xfrm>
            <a:off x="8450263" y="1660928"/>
            <a:ext cx="111156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DC63CE2-F933-0603-11BF-E9C364691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924527"/>
              </p:ext>
            </p:extLst>
          </p:nvPr>
        </p:nvGraphicFramePr>
        <p:xfrm>
          <a:off x="497523" y="863419"/>
          <a:ext cx="11313477" cy="70076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292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750550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7007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en-US" altLang="zh-CN" sz="1400" dirty="0">
                        <a:solidFill>
                          <a:srgbClr val="2318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电子科技大学团队针对prefill末尾查询不能代表后续生成，把不可逆淘汰推迟到首个真实decode查询。结合提示与生成侧注意力再选KV，不增加草稿模型或训练；其价值是改善淘汰时机而非改变压缩格式。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6C947C9-A797-4402-58F1-20246C304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88552"/>
              </p:ext>
            </p:extLst>
          </p:nvPr>
        </p:nvGraphicFramePr>
        <p:xfrm>
          <a:off x="484823" y="5906558"/>
          <a:ext cx="11386725" cy="58314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1356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673158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5831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洞察</a:t>
                      </a:r>
                      <a:endParaRPr lang="en-US" altLang="zh-CN" sz="1400" dirty="0">
                        <a:solidFill>
                          <a:srgbClr val="C8102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启示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条件研究：长提示、短输出业务先比较同保留预算的质量和TTFT。昇腾核对首步延迟淘汰是否增加峰值HBM，并计入注意力取样、评分与页搬移；它可与页预算策略组合，但组合收益要另测。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E9873BFF-5BDE-35A4-3F27-80AFA216F16E}"/>
              </a:ext>
            </a:extLst>
          </p:cNvPr>
          <p:cNvSpPr txBox="1"/>
          <p:nvPr/>
        </p:nvSpPr>
        <p:spPr>
          <a:xfrm>
            <a:off x="314741" y="544345"/>
            <a:ext cx="71024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000" i="1" u="sng" dirty="0"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参考： arXiv:2610.06286 v1 · Fig.3 / Table 1 · Table 1 (Qwen3-8B) excerpt</a:t>
            </a:r>
          </a:p>
        </p:txBody>
      </p:sp>
      <p:pic>
        <p:nvPicPr>
          <p:cNvPr id="27" name="Picture 26" descr="tmpu4hepyx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76" y="2000387"/>
            <a:ext cx="5312689" cy="1973527"/>
          </a:xfrm>
          <a:prstGeom prst="rect">
            <a:avLst/>
          </a:prstGeom>
        </p:spPr>
      </p:pic>
      <p:pic>
        <p:nvPicPr>
          <p:cNvPr id="28" name="Picture 27" descr="tmpwko76mm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347330"/>
            <a:ext cx="4692650" cy="160558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F4C16CF-0A1C-F0EB-829D-8F06740E413D}"/>
              </a:ext>
            </a:extLst>
          </p:cNvPr>
          <p:cNvSpPr txBox="1"/>
          <p:nvPr/>
        </p:nvSpPr>
        <p:spPr>
          <a:xfrm>
            <a:off x="673803" y="4211412"/>
            <a:ext cx="5287962" cy="14465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真实查询：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首次decode时获取真实生成需求。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时间加权：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近期prompt查询和decode查询联合打分。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一次淘汰：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保留原方法预算结构，更换重要性估计。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9FE96DC-5BFE-BD72-AD63-E6CFC96CF1FF}"/>
              </a:ext>
            </a:extLst>
          </p:cNvPr>
          <p:cNvSpPr txBox="1"/>
          <p:nvPr/>
        </p:nvSpPr>
        <p:spPr>
          <a:xfrm>
            <a:off x="6477002" y="1941239"/>
            <a:ext cx="5168898" cy="1406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模型：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Qwen3-8B、Llama-3.1-8B、Mistral-7B。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评测：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16项LongBench、RULER和针检索。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比较：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SnapKV、LAQ、SpecKV、LookaheadKV及Full KV。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1F4CB36-7FAE-44AA-2B55-0112FAD771AC}"/>
              </a:ext>
            </a:extLst>
          </p:cNvPr>
          <p:cNvSpPr txBox="1"/>
          <p:nvPr/>
        </p:nvSpPr>
        <p:spPr>
          <a:xfrm>
            <a:off x="6434455" y="5093671"/>
            <a:ext cx="5292090" cy="6001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Qwen3-8B、KV预算512：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LongBench均分44.96，SnapKV 38.46。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RULER跨4K–128K均分81.36，Full KV 93.46；并非无损。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TextBox 7">
            <a:extLst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820D3DE-64C9-BB37-17AF-5E77CBCF44F4}"/>
              </a:ext>
            </a:extLst>
          </p:cNvPr>
          <p:cNvSpPr/>
          <p:nvPr/>
        </p:nvSpPr>
        <p:spPr>
          <a:xfrm>
            <a:off x="497523" y="1801686"/>
            <a:ext cx="564642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C7DB71-ADA0-BFD3-A58A-572743DCFECC}"/>
              </a:ext>
            </a:extLst>
          </p:cNvPr>
          <p:cNvSpPr txBox="1"/>
          <p:nvPr/>
        </p:nvSpPr>
        <p:spPr>
          <a:xfrm>
            <a:off x="314741" y="143319"/>
            <a:ext cx="11940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Page-EntroKV: Hardware-Aligned, Entropy-Weighted KV-Cache Eviction under Grouped-Query Attention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1BCF5FA-2E05-F696-7955-3D5DD8350294}"/>
              </a:ext>
            </a:extLst>
          </p:cNvPr>
          <p:cNvSpPr/>
          <p:nvPr/>
        </p:nvSpPr>
        <p:spPr>
          <a:xfrm>
            <a:off x="6350000" y="1801686"/>
            <a:ext cx="546100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1900F2-58CF-3CEC-8940-9F22C2A2CFBC}"/>
              </a:ext>
            </a:extLst>
          </p:cNvPr>
          <p:cNvSpPr txBox="1"/>
          <p:nvPr/>
        </p:nvSpPr>
        <p:spPr>
          <a:xfrm>
            <a:off x="2787174" y="1654147"/>
            <a:ext cx="106711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技术细节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B06C3E-0B89-CF09-5D59-2E9C865F39BB}"/>
              </a:ext>
            </a:extLst>
          </p:cNvPr>
          <p:cNvSpPr txBox="1"/>
          <p:nvPr/>
        </p:nvSpPr>
        <p:spPr>
          <a:xfrm>
            <a:off x="8450263" y="1660928"/>
            <a:ext cx="111156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DC63CE2-F933-0603-11BF-E9C364691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924527"/>
              </p:ext>
            </p:extLst>
          </p:nvPr>
        </p:nvGraphicFramePr>
        <p:xfrm>
          <a:off x="497523" y="863419"/>
          <a:ext cx="11313477" cy="70076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292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750550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7007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en-US" altLang="zh-CN" sz="1400" dirty="0">
                        <a:solidFill>
                          <a:srgbClr val="2318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SRM团队针对GQA逐头保留集合取并集后超预算，用去除sink影响的熵给组内头加权，再映射到物理页淘汰。该方案把保留决策与真实分配单元对应，避免只统计逻辑token而低估缓存占用。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6C947C9-A797-4402-58F1-20246C304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88552"/>
              </p:ext>
            </p:extLst>
          </p:nvPr>
        </p:nvGraphicFramePr>
        <p:xfrm>
          <a:off x="484823" y="5906558"/>
          <a:ext cx="11386725" cy="58314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1356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673158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5831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洞察</a:t>
                      </a:r>
                      <a:endParaRPr lang="en-US" altLang="zh-CN" sz="1400" dirty="0">
                        <a:solidFill>
                          <a:srgbClr val="C8102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启示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昇腾先验证现有分页管理中的逻辑token、物理页与HBM字节是否一致。对照完整KV和简单预算策略，计入评分、搬移与索引开销。长上下文质量和服务时延需独立实测后再决定工程化。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E9873BFF-5BDE-35A4-3F27-80AFA216F16E}"/>
              </a:ext>
            </a:extLst>
          </p:cNvPr>
          <p:cNvSpPr txBox="1"/>
          <p:nvPr/>
        </p:nvSpPr>
        <p:spPr>
          <a:xfrm>
            <a:off x="314741" y="544345"/>
            <a:ext cx="71024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000" i="1" u="sng" dirty="0"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参考： arXiv:2610.03135 v1 · Fig.1 / Fig.4 · 2026-10-02</a:t>
            </a:r>
          </a:p>
        </p:txBody>
      </p:sp>
      <p:pic>
        <p:nvPicPr>
          <p:cNvPr id="27" name="Picture 26" descr="tmpvlotkaoq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76" y="2000387"/>
            <a:ext cx="5312689" cy="1973527"/>
          </a:xfrm>
          <a:prstGeom prst="rect">
            <a:avLst/>
          </a:prstGeom>
        </p:spPr>
      </p:pic>
      <p:pic>
        <p:nvPicPr>
          <p:cNvPr id="28" name="Picture 27" descr="tmp8luiul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347330"/>
            <a:ext cx="4692650" cy="160558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F4C16CF-0A1C-F0EB-829D-8F06740E413D}"/>
              </a:ext>
            </a:extLst>
          </p:cNvPr>
          <p:cNvSpPr txBox="1"/>
          <p:nvPr/>
        </p:nvSpPr>
        <p:spPr>
          <a:xfrm>
            <a:off x="673803" y="4211412"/>
            <a:ext cx="5287962" cy="14465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物理组预算：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在共享KV组决策，避免逐头集合并集膨胀。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熵加权聚合：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分离sink，突出尖锐检索头的重要信号。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页粒度淘汰：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先映射分配页，再严格按预算选择保留页。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9FE96DC-5BFE-BD72-AD63-E6CFC96CF1FF}"/>
              </a:ext>
            </a:extLst>
          </p:cNvPr>
          <p:cNvSpPr txBox="1"/>
          <p:nvPr/>
        </p:nvSpPr>
        <p:spPr>
          <a:xfrm>
            <a:off x="6477002" y="1941239"/>
            <a:ext cx="5168898" cy="1406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模型：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Qwen2.5-1.5B-Instruct，GQA ratio=6。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证据：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真实文本回放，非完整生产服务吞吐试验。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图4：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逐头选择的实测UOR，理论包络与组级预算保证。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1F4CB36-7FAE-44AA-2B55-0112FAD771AC}"/>
              </a:ext>
            </a:extLst>
          </p:cNvPr>
          <p:cNvSpPr txBox="1"/>
          <p:nvPr/>
        </p:nvSpPr>
        <p:spPr>
          <a:xfrm>
            <a:off x="6434455" y="5093671"/>
            <a:ext cx="5292090" cy="6001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作者逐头回放：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2%预算时UOR最高4.75；40%时2.33。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组/页选择UOR=1；192个算子/页大小单元精确兑现配额。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TextBox 7">
            <a:extLst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820D3DE-64C9-BB37-17AF-5E77CBCF44F4}"/>
              </a:ext>
            </a:extLst>
          </p:cNvPr>
          <p:cNvSpPr/>
          <p:nvPr/>
        </p:nvSpPr>
        <p:spPr>
          <a:xfrm>
            <a:off x="497523" y="1801686"/>
            <a:ext cx="564642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C7DB71-ADA0-BFD3-A58A-572743DCFECC}"/>
              </a:ext>
            </a:extLst>
          </p:cNvPr>
          <p:cNvSpPr txBox="1"/>
          <p:nvPr/>
        </p:nvSpPr>
        <p:spPr>
          <a:xfrm>
            <a:off x="314741" y="143319"/>
            <a:ext cx="11940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2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Tailoring the Quantization Space for 1-Bit KV Cache Compression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1BCF5FA-2E05-F696-7955-3D5DD8350294}"/>
              </a:ext>
            </a:extLst>
          </p:cNvPr>
          <p:cNvSpPr/>
          <p:nvPr/>
        </p:nvSpPr>
        <p:spPr>
          <a:xfrm>
            <a:off x="6350000" y="1801686"/>
            <a:ext cx="546100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1900F2-58CF-3CEC-8940-9F22C2A2CFBC}"/>
              </a:ext>
            </a:extLst>
          </p:cNvPr>
          <p:cNvSpPr txBox="1"/>
          <p:nvPr/>
        </p:nvSpPr>
        <p:spPr>
          <a:xfrm>
            <a:off x="2787174" y="1654147"/>
            <a:ext cx="106711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技术细节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B06C3E-0B89-CF09-5D59-2E9C865F39BB}"/>
              </a:ext>
            </a:extLst>
          </p:cNvPr>
          <p:cNvSpPr txBox="1"/>
          <p:nvPr/>
        </p:nvSpPr>
        <p:spPr>
          <a:xfrm>
            <a:off x="8450263" y="1660928"/>
            <a:ext cx="111156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DC63CE2-F933-0603-11BF-E9C364691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924527"/>
              </p:ext>
            </p:extLst>
          </p:nvPr>
        </p:nvGraphicFramePr>
        <p:xfrm>
          <a:off x="497523" y="863419"/>
          <a:ext cx="11313477" cy="70076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292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750550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7007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en-US" altLang="zh-CN" sz="1400" dirty="0">
                        <a:solidFill>
                          <a:srgbClr val="2318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首尔大学与斯坦福大学团队针对1-bit KV向量量化的质量下降，在RoPE前按查询敏感性与通道相关性改造Key空间。技术目标是扩大长生成可容纳的batch，同时控制注意力误差和推理失稳。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6C947C9-A797-4402-58F1-20246C304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88552"/>
              </p:ext>
            </p:extLst>
          </p:nvPr>
        </p:nvGraphicFramePr>
        <p:xfrm>
          <a:off x="484823" y="5906558"/>
          <a:ext cx="11386725" cy="58314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1356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673158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5831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洞察</a:t>
                      </a:r>
                      <a:endParaRPr lang="en-US" altLang="zh-CN" sz="1400" dirty="0">
                        <a:solidFill>
                          <a:srgbClr val="C8102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启示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昇腾先建立受支持KV量化基线，再用8K/16K/32K输入与短、长输出做对照。穿刺分开看同batch延迟和同HBM容量吞吐，计入码本、查表与编码成本；短输出不宜套用峰值收益。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E9873BFF-5BDE-35A4-3F27-80AFA216F16E}"/>
              </a:ext>
            </a:extLst>
          </p:cNvPr>
          <p:cNvSpPr txBox="1"/>
          <p:nvPr/>
        </p:nvSpPr>
        <p:spPr>
          <a:xfrm>
            <a:off x="314741" y="544345"/>
            <a:ext cx="71024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000" i="1" u="sng" dirty="0"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参考： arXiv:2610.03027 v1 · Fig.2 / Fig.4 · 2026-10-02</a:t>
            </a:r>
          </a:p>
        </p:txBody>
      </p:sp>
      <p:pic>
        <p:nvPicPr>
          <p:cNvPr id="27" name="Picture 26" descr="tmpraxn2keq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76" y="2000387"/>
            <a:ext cx="5312689" cy="1973527"/>
          </a:xfrm>
          <a:prstGeom prst="rect">
            <a:avLst/>
          </a:prstGeom>
        </p:spPr>
      </p:pic>
      <p:pic>
        <p:nvPicPr>
          <p:cNvPr id="28" name="Picture 27" descr="tmp_6xuf8t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347330"/>
            <a:ext cx="4692650" cy="160558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F4C16CF-0A1C-F0EB-829D-8F06740E413D}"/>
              </a:ext>
            </a:extLst>
          </p:cNvPr>
          <p:cNvSpPr txBox="1"/>
          <p:nvPr/>
        </p:nvSpPr>
        <p:spPr>
          <a:xfrm>
            <a:off x="673803" y="4211412"/>
            <a:ext cx="5287962" cy="14465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查询加权：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Key误差按QK敏感性优化，保护重要通道。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跨头归一化：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同token共用尺度，降低尺度存储开销。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相关分组：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保持RoPE对，拟合码本；Value采用常规VQ。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9FE96DC-5BFE-BD72-AD63-E6CFC96CF1FF}"/>
              </a:ext>
            </a:extLst>
          </p:cNvPr>
          <p:cNvSpPr txBox="1"/>
          <p:nvPr/>
        </p:nvSpPr>
        <p:spPr>
          <a:xfrm>
            <a:off x="6477002" y="1941239"/>
            <a:ext cx="5168898" cy="1406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平台：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单RTX 6000 Ada，SGLang服务栈。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负载：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Qwen3-4B-Thinking-2507，2048输入/32768输出。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对照：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BF16与CQ；另测8K/16K/32K的batch-1 prefill。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1F4CB36-7FAE-44AA-2B55-0112FAD771AC}"/>
              </a:ext>
            </a:extLst>
          </p:cNvPr>
          <p:cNvSpPr txBox="1"/>
          <p:nvPr/>
        </p:nvSpPr>
        <p:spPr>
          <a:xfrm>
            <a:off x="6434455" y="5093671"/>
            <a:ext cx="5292090" cy="6001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最大batch 6→84，峰值吞吐220.8→412.6 tok/s（1.87×）。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8K–32K输入TTFT增加10%–14%；需与长输出收益一起看。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TextBox 7">
            <a:extLst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820D3DE-64C9-BB37-17AF-5E77CBCF44F4}"/>
              </a:ext>
            </a:extLst>
          </p:cNvPr>
          <p:cNvSpPr/>
          <p:nvPr/>
        </p:nvSpPr>
        <p:spPr>
          <a:xfrm>
            <a:off x="497523" y="1801686"/>
            <a:ext cx="564642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C7DB71-ADA0-BFD3-A58A-572743DCFECC}"/>
              </a:ext>
            </a:extLst>
          </p:cNvPr>
          <p:cNvSpPr txBox="1"/>
          <p:nvPr/>
        </p:nvSpPr>
        <p:spPr>
          <a:xfrm>
            <a:off x="314741" y="143319"/>
            <a:ext cx="11940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8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AttSVD: Prompt-Adaptive Low-Rank KV Cache Compression via Attention-Guided SVD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1BCF5FA-2E05-F696-7955-3D5DD8350294}"/>
              </a:ext>
            </a:extLst>
          </p:cNvPr>
          <p:cNvSpPr/>
          <p:nvPr/>
        </p:nvSpPr>
        <p:spPr>
          <a:xfrm>
            <a:off x="6350000" y="1801686"/>
            <a:ext cx="546100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1900F2-58CF-3CEC-8940-9F22C2A2CFBC}"/>
              </a:ext>
            </a:extLst>
          </p:cNvPr>
          <p:cNvSpPr txBox="1"/>
          <p:nvPr/>
        </p:nvSpPr>
        <p:spPr>
          <a:xfrm>
            <a:off x="2787174" y="1654147"/>
            <a:ext cx="106711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技术细节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B06C3E-0B89-CF09-5D59-2E9C865F39BB}"/>
              </a:ext>
            </a:extLst>
          </p:cNvPr>
          <p:cNvSpPr txBox="1"/>
          <p:nvPr/>
        </p:nvSpPr>
        <p:spPr>
          <a:xfrm>
            <a:off x="8450263" y="1660928"/>
            <a:ext cx="111156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DC63CE2-F933-0603-11BF-E9C364691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924527"/>
              </p:ext>
            </p:extLst>
          </p:nvPr>
        </p:nvGraphicFramePr>
        <p:xfrm>
          <a:off x="497523" y="863419"/>
          <a:ext cx="11313477" cy="70076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292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750550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7007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en-US" altLang="zh-CN" sz="1400" dirty="0">
                        <a:solidFill>
                          <a:srgbClr val="2318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微软ASG团队针对删token后无法恢复上下文，沿特征轴而非序列轴压缩KV。每个提示按注意力几何生成低秩基，保留所有位置；短输出采用累积缓存，长输出用流式窗口控制增长，但分解和重构成本需独立核对。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6C947C9-A797-4402-58F1-20246C304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88552"/>
              </p:ext>
            </p:extLst>
          </p:nvPr>
        </p:nvGraphicFramePr>
        <p:xfrm>
          <a:off x="484823" y="5906558"/>
          <a:ext cx="11386725" cy="58314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1356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673158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5831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洞察</a:t>
                      </a:r>
                      <a:endParaRPr lang="en-US" altLang="zh-CN" sz="1400" dirty="0">
                        <a:solidFill>
                          <a:srgbClr val="C8102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启示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持续跟踪：优先检查真实业务提示的注意力有效秩。昇腾穿刺分解、重构和窗口刷新成本，再与同字节预算KV量化或淘汰对比；只有长上下文收益摊薄分解开销才值得接入。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E9873BFF-5BDE-35A4-3F27-80AFA216F16E}"/>
              </a:ext>
            </a:extLst>
          </p:cNvPr>
          <p:cNvSpPr txBox="1"/>
          <p:nvPr/>
        </p:nvSpPr>
        <p:spPr>
          <a:xfrm>
            <a:off x="314741" y="544345"/>
            <a:ext cx="71024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000" i="1" u="sng" dirty="0"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参考： arXiv:2610.06927 v1 · Fig.1 / Table 1 excerpt</a:t>
            </a:r>
          </a:p>
        </p:txBody>
      </p:sp>
      <p:pic>
        <p:nvPicPr>
          <p:cNvPr id="27" name="Picture 26" descr="tmpc6qtkwh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76" y="2000387"/>
            <a:ext cx="5312689" cy="1973527"/>
          </a:xfrm>
          <a:prstGeom prst="rect">
            <a:avLst/>
          </a:prstGeom>
        </p:spPr>
      </p:pic>
      <p:pic>
        <p:nvPicPr>
          <p:cNvPr id="28" name="Picture 27" descr="tmpts4ee4l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347330"/>
            <a:ext cx="4692650" cy="160558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F4C16CF-0A1C-F0EB-829D-8F06740E413D}"/>
              </a:ext>
            </a:extLst>
          </p:cNvPr>
          <p:cNvSpPr txBox="1"/>
          <p:nvPr/>
        </p:nvSpPr>
        <p:spPr>
          <a:xfrm>
            <a:off x="673803" y="4211412"/>
            <a:ext cx="5287962" cy="14465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注意力感知：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分别保留logit与输出空间中的有效方向。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逐提示SVD：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按能量阈值选择K/V秩，而非固定离线基。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双解码策略：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累积精确token或按窗口重分解。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9FE96DC-5BFE-BD72-AD63-E6CFC96CF1FF}"/>
              </a:ext>
            </a:extLst>
          </p:cNvPr>
          <p:cNvSpPr txBox="1"/>
          <p:nvPr/>
        </p:nvSpPr>
        <p:spPr>
          <a:xfrm>
            <a:off x="6477002" y="1941239"/>
            <a:ext cx="5168898" cy="1406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模型：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Phi-4-14B、Qwen3-8B等。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任务：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1750项LongBench与184项agent提示。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比较：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Dense、H2O、KVzip、KeyDiff，匹配缓存预算。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1F4CB36-7FAE-44AA-2B55-0112FAD771AC}"/>
              </a:ext>
            </a:extLst>
          </p:cNvPr>
          <p:cNvSpPr txBox="1"/>
          <p:nvPr/>
        </p:nvSpPr>
        <p:spPr>
          <a:xfrm>
            <a:off x="6434455" y="5093671"/>
            <a:ext cx="5292090" cy="6001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Phi-4-14B 32K：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KV 6.250→3.131 GB（c=0.50）。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50%缓存LongBench接近稠密表现；未证明统一服务加速。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TextBox 7">
            <a:extLst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820D3DE-64C9-BB37-17AF-5E77CBCF44F4}"/>
              </a:ext>
            </a:extLst>
          </p:cNvPr>
          <p:cNvSpPr/>
          <p:nvPr/>
        </p:nvSpPr>
        <p:spPr>
          <a:xfrm>
            <a:off x="497523" y="1801686"/>
            <a:ext cx="564642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C7DB71-ADA0-BFD3-A58A-572743DCFECC}"/>
              </a:ext>
            </a:extLst>
          </p:cNvPr>
          <p:cNvSpPr txBox="1"/>
          <p:nvPr/>
        </p:nvSpPr>
        <p:spPr>
          <a:xfrm>
            <a:off x="314741" y="143319"/>
            <a:ext cx="11940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0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More Value per Key: Asymmetric Sparse Attention for Faster LLM Decoding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1BCF5FA-2E05-F696-7955-3D5DD8350294}"/>
              </a:ext>
            </a:extLst>
          </p:cNvPr>
          <p:cNvSpPr/>
          <p:nvPr/>
        </p:nvSpPr>
        <p:spPr>
          <a:xfrm>
            <a:off x="6350000" y="1801686"/>
            <a:ext cx="546100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1900F2-58CF-3CEC-8940-9F22C2A2CFBC}"/>
              </a:ext>
            </a:extLst>
          </p:cNvPr>
          <p:cNvSpPr txBox="1"/>
          <p:nvPr/>
        </p:nvSpPr>
        <p:spPr>
          <a:xfrm>
            <a:off x="2787174" y="1654147"/>
            <a:ext cx="106711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技术细节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B06C3E-0B89-CF09-5D59-2E9C865F39BB}"/>
              </a:ext>
            </a:extLst>
          </p:cNvPr>
          <p:cNvSpPr txBox="1"/>
          <p:nvPr/>
        </p:nvSpPr>
        <p:spPr>
          <a:xfrm>
            <a:off x="8450263" y="1660928"/>
            <a:ext cx="111156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DC63CE2-F933-0603-11BF-E9C364691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924527"/>
              </p:ext>
            </p:extLst>
          </p:nvPr>
        </p:nvGraphicFramePr>
        <p:xfrm>
          <a:off x="497523" y="863419"/>
          <a:ext cx="11313477" cy="70076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292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750550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7007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en-US" altLang="zh-CN" sz="1400" dirty="0">
                        <a:solidFill>
                          <a:srgbClr val="2318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Technion等团队针对稀疏注意力后QK计算仍是瓶颈，减少Key头而保留更多Value头，再用近似top-N选择。技术价值是改变K/V结构以匹配瓶颈，但需训练或微调转换，不能作为普通模型的无损缓存插件。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6C947C9-A797-4402-58F1-20246C304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88552"/>
              </p:ext>
            </p:extLst>
          </p:nvPr>
        </p:nvGraphicFramePr>
        <p:xfrm>
          <a:off x="484823" y="5906558"/>
          <a:ext cx="11386725" cy="58314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1356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673158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5831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洞察</a:t>
                      </a:r>
                      <a:endParaRPr lang="en-US" altLang="zh-CN" sz="1400" dirty="0">
                        <a:solidFill>
                          <a:srgbClr val="C8102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启示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持续跟踪：适合有模型结构改造权限的研究线。昇腾先验证非对称头布局与算子支持，再比较同训练预算质量、同栈解码与转换成本；现有生产模型优先选择保持模型结构的KV压缩。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E9873BFF-5BDE-35A4-3F27-80AFA216F16E}"/>
              </a:ext>
            </a:extLst>
          </p:cNvPr>
          <p:cNvSpPr txBox="1"/>
          <p:nvPr/>
        </p:nvSpPr>
        <p:spPr>
          <a:xfrm>
            <a:off x="314741" y="544345"/>
            <a:ext cx="71024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000" i="1" u="sng" dirty="0"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参考： arXiv:2610.04753 v1 · Fig.1 / Fig.2 · v1</a:t>
            </a:r>
          </a:p>
        </p:txBody>
      </p:sp>
      <p:pic>
        <p:nvPicPr>
          <p:cNvPr id="27" name="Picture 26" descr="tmp87v925t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76" y="2000387"/>
            <a:ext cx="5312689" cy="1973527"/>
          </a:xfrm>
          <a:prstGeom prst="rect">
            <a:avLst/>
          </a:prstGeom>
        </p:spPr>
      </p:pic>
      <p:pic>
        <p:nvPicPr>
          <p:cNvPr id="28" name="Picture 27" descr="tmp8cttufx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347330"/>
            <a:ext cx="4692650" cy="160558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F4C16CF-0A1C-F0EB-829D-8F06740E413D}"/>
              </a:ext>
            </a:extLst>
          </p:cNvPr>
          <p:cNvSpPr txBox="1"/>
          <p:nvPr/>
        </p:nvSpPr>
        <p:spPr>
          <a:xfrm>
            <a:off x="673803" y="4211412"/>
            <a:ext cx="5287962" cy="14465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非对称K/V：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少量Key头减少QK访存与计算。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近似top-N：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控制参与PV的候选，保留Value表达能力。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模型转换：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蒸馏或微调适配新头结构，需要质量重验。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9FE96DC-5BFE-BD72-AD63-E6CFC96CF1FF}"/>
              </a:ext>
            </a:extLst>
          </p:cNvPr>
          <p:cNvSpPr txBox="1"/>
          <p:nvPr/>
        </p:nvSpPr>
        <p:spPr>
          <a:xfrm>
            <a:off x="6477002" y="1941239"/>
            <a:ext cx="5168898" cy="1406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模型：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Llama-3.2-1B、Qwen2.5-1.5B。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平台：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H200/B200；batch 1/4/16、上下文8K–128K。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比较：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作者同栈完整注意力GQA，CUDA Graph解码。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1F4CB36-7FAE-44AA-2B55-0112FAD771AC}"/>
              </a:ext>
            </a:extLst>
          </p:cNvPr>
          <p:cNvSpPr txBox="1"/>
          <p:nvPr/>
        </p:nvSpPr>
        <p:spPr>
          <a:xfrm>
            <a:off x="6434455" y="5093671"/>
            <a:ext cx="5292090" cy="6001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作者长上下文端到端解码加速超过2×，模型最大1.5B。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从头训练质量接近GQA；不能外推现有大模型免训练收益。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副标题 1">
            <a:extLst>
              <a:ext uri="{FF2B5EF4-FFF2-40B4-BE49-F238E27FC236}">
                <a16:creationId xmlns:a16="http://schemas.microsoft.com/office/drawing/2014/main" id="{6F2FFA79-6F97-B577-0081-F82AE3EC5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1561" y="1307034"/>
            <a:ext cx="10740640" cy="502716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800" b="1" dirty="0"/>
              <a:t>昇腾研究决策：三项优先、七项条件推进</a:t>
            </a:r>
          </a:p>
        </p:txBody>
      </p:sp>
      <p:sp>
        <p:nvSpPr>
          <p:cNvPr id="4" name="副标题 1">
            <a:extLst>
              <a:ext uri="{FF2B5EF4-FFF2-40B4-BE49-F238E27FC236}">
                <a16:creationId xmlns:a16="http://schemas.microsoft.com/office/drawing/2014/main" id="{D42E36AF-E4EE-9BB8-684C-A8870ED83100}"/>
              </a:ext>
            </a:extLst>
          </p:cNvPr>
          <p:cNvSpPr txBox="1">
            <a:spLocks/>
          </p:cNvSpPr>
          <p:nvPr/>
        </p:nvSpPr>
        <p:spPr>
          <a:xfrm>
            <a:off x="2158999" y="2418284"/>
            <a:ext cx="7988301" cy="233151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7798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900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7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699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4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396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2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195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400" dirty="0" b="1"/>
              <a:t>问题1：</a:t>
            </a:r>
            <a:r>
              <a:rPr lang="zh-CN" altLang="en-US" sz="1400" dirty="0"/>
              <a:t>执行收益：统一总字节预算，计入解码、重排、适配器与临时缓冲。</a:t>
            </a:r>
          </a:p>
          <a:p>
            <a:pPr>
              <a:lnSpc>
                <a:spcPct val="120000"/>
              </a:lnSpc>
            </a:pPr>
            <a:r>
              <a:rPr lang="zh-CN" altLang="en-US" sz="1400" dirty="0" b="1"/>
              <a:t>问题2：</a:t>
            </a:r>
            <a:r>
              <a:rPr lang="zh-CN" altLang="en-US" sz="1400" dirty="0"/>
              <a:t>容量收益：区分同batch时延与同HBM吞吐，保持质量和SLA门槛。</a:t>
            </a:r>
          </a:p>
          <a:p>
            <a:pPr>
              <a:lnSpc>
                <a:spcPct val="120000"/>
              </a:lnSpc>
            </a:pPr>
            <a:r>
              <a:rPr lang="zh-CN" altLang="en-US" sz="1400" dirty="0" b="1"/>
              <a:t>问题3：</a:t>
            </a:r>
            <a:r>
              <a:rPr lang="zh-CN" altLang="en-US" sz="1400" dirty="0"/>
              <a:t>选择收益：核对逻辑token、物理页和峰值驻留字节是否一致。</a:t>
            </a:r>
          </a:p>
          <a:p>
            <a:pPr>
              <a:lnSpc>
                <a:spcPct val="120000"/>
              </a:lnSpc>
            </a:pPr>
            <a:r>
              <a:rPr lang="zh-CN" altLang="en-US" sz="1400" dirty="0" b="1"/>
              <a:t>问题4：</a:t>
            </a:r>
            <a:r>
              <a:rPr lang="zh-CN" altLang="en-US" sz="1400" dirty="0"/>
              <a:t>证据边界：10篇原图页之外，TopK-Guided、OSFP4、Behavior-Preserving保留网页文字分析；缺少系统设计原图。</a:t>
            </a:r>
          </a:p>
          <a:p>
            <a:pPr>
              <a:lnSpc>
                <a:spcPct val="120000"/>
              </a:lnSpc>
            </a:pPr>
            <a:r>
              <a:rPr lang="zh-CN" altLang="en-US" sz="1400" dirty="0" b="1"/>
              <a:t>展望1：</a:t>
            </a:r>
            <a:r>
              <a:rPr lang="zh-CN" altLang="en-US" sz="1400" dirty="0"/>
              <a:t>研究判断：量化粒度与执行布局协同，比单独追求更低位宽更值得优先投入。</a:t>
            </a:r>
          </a:p>
          <a:p>
            <a:pPr>
              <a:lnSpc>
                <a:spcPct val="120000"/>
              </a:lnSpc>
            </a:pPr>
            <a:r>
              <a:rPr lang="zh-CN" altLang="en-US" sz="1400" dirty="0" b="1"/>
              <a:t>展望2：</a:t>
            </a:r>
            <a:r>
              <a:rPr lang="zh-CN" altLang="en-US" sz="1400" dirty="0"/>
              <a:t>研究判断：KV压缩会联合表示、预算与生命周期，跨方案组合须逐项实测。</a:t>
            </a:r>
          </a:p>
          <a:p>
            <a:pPr>
              <a:lnSpc>
                <a:spcPct val="120000"/>
              </a:lnSpc>
            </a:pPr>
            <a:r>
              <a:rPr lang="zh-CN" altLang="en-US" sz="1400" dirty="0" b="1"/>
              <a:t>展望3：</a:t>
            </a:r>
            <a:r>
              <a:rPr lang="zh-CN" altLang="en-US" sz="1400" dirty="0"/>
              <a:t>研究判断：低秩与头结构改造需明确分解、刷新或训练成本，再考虑工程化。</a:t>
            </a:r>
          </a:p>
        </p:txBody>
      </p:sp>
      <p:sp>
        <p:nvSpPr>
          <p:cNvPr id="5" name="副标题 1">
            <a:extLst>
              <a:ext uri="{FF2B5EF4-FFF2-40B4-BE49-F238E27FC236}">
                <a16:creationId xmlns:a16="http://schemas.microsoft.com/office/drawing/2014/main" id="{D4952729-1FE8-5DB9-86DC-72E784F70822}"/>
              </a:ext>
            </a:extLst>
          </p:cNvPr>
          <p:cNvSpPr txBox="1">
            <a:spLocks/>
          </p:cNvSpPr>
          <p:nvPr/>
        </p:nvSpPr>
        <p:spPr>
          <a:xfrm>
            <a:off x="1864711" y="4743450"/>
            <a:ext cx="8034939" cy="50271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7798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900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7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699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4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396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2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195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400" dirty="0"/>
              <a:t>判断：优先AlignQuant、TaSQ和Page-EntroKV的机制穿刺；其余论文按权重卸载、极低比特、长提示或模型改造条件进入研究。报告没有昇腾实测结论。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02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FC2917F5-FC52-4782-A0FF-AE2013F589C8}"/>
    </a:ext>
  </a:extLst>
</a:theme>
</file>

<file path=ppt/theme/theme2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25829FED-7996-4B48-8C44-EBA668E4F8ED}"/>
    </a:ext>
  </a:extLst>
</a:theme>
</file>

<file path=ppt/theme/theme3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6DF1AB71-8E54-4DA3-96CA-45CA365BFE54}"/>
    </a:ext>
  </a:extLst>
</a:theme>
</file>

<file path=ppt/theme/theme4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1AA013AF-7C2E-4A39-9796-86760F640C19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315BE1C-957E-4706-A7F6-2B101CD944E6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MWC 19-PPT模板-白底 16比9</Template>
  <TotalTime>172</TotalTime>
  <Words>575</Words>
  <Application>Microsoft Office PowerPoint</Application>
  <PresentationFormat>自定义</PresentationFormat>
  <Paragraphs>48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微软雅黑</vt:lpstr>
      <vt:lpstr>微软雅黑</vt:lpstr>
      <vt:lpstr>Arial</vt:lpstr>
      <vt:lpstr>Calibri</vt:lpstr>
      <vt:lpstr>1_Title Slide</vt:lpstr>
      <vt:lpstr>Chart page</vt:lpstr>
      <vt:lpstr>4_Chart page</vt:lpstr>
      <vt:lpstr>End page</vt:lpstr>
      <vt:lpstr>xxxx技术洞察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AutoBVT</dc:creator>
  <cp:lastModifiedBy>Johnny Yu</cp:lastModifiedBy>
  <cp:revision>47</cp:revision>
  <dcterms:created xsi:type="dcterms:W3CDTF">2018-12-05T07:23:25Z</dcterms:created>
  <dcterms:modified xsi:type="dcterms:W3CDTF">2026-05-09T08:14:52Z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(3)9K7MhttPmctKTlAepJVghc5jVCKqhwlg3WUynTcyZRlAqvXwyh4Oh5MUn/S1qsRekxYaSjf0
xAMb+XIVmiFW19LQ5rzY8SxUDMVg4vj7tzi0SPjrpQaZEh2i7Q63wUANwPymQ9KhvkOpupId
8g/WiPz/3mo9lw2+u0HERtEEQOFSNHxTfxkHcxU8CosEcorCYU1bf3Ron8rzicflycNnYO6T
HSqLQgGez4SDJnplgK</vt:lpwstr>
  </property>
  <property fmtid="{D5CDD505-2E9C-101B-9397-08002B2CF9AE}" pid="3" name="_2015_ms_pID_7253431">
    <vt:lpwstr>82SGjRTEfRs+Omq1PLLlyH6r/NUeGWJLUTXD4xX4AdBDIbA5M3xGE1
FJDhGJWv+ZwJEBjSUU7vQG7pD9Re+jwOMeH8KvtBR51uSvL8QqKWID096WZ7sSv/LL5pae3t
XPEALNuJBpV72sbxfdY4icFZGPfj4727kRAWuT9uG/4Al1hW+8FJdNQ/J9I8uxSoEyoyJ96g
hvAj6RniZYqx1mFTVrh3xskdX0KPyR3xTPNI</vt:lpwstr>
  </property>
  <property fmtid="{D5CDD505-2E9C-101B-9397-08002B2CF9AE}" pid="4" name="_2015_ms_pID_7253432">
    <vt:lpwstr>zr4dAB7xmHqg7+bcC24Pv9M=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1575429571</vt:lpwstr>
  </property>
</Properties>
</file>