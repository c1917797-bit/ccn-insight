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83" r:id="rId5"/>
    <p:sldId id="296" r:id="rId26"/>
    <p:sldId id="285" r:id="rId7"/>
    <p:sldId id="281" r:id="rId8"/>
    <p:sldId id="289" r:id="rId19"/>
    <p:sldId id="290" r:id="rId20"/>
    <p:sldId id="292" r:id="rId22"/>
    <p:sldId id="293" r:id="rId23"/>
    <p:sldId id="297" r:id="rId27"/>
    <p:sldId id="298" r:id="rId28"/>
    <p:sldId id="300" r:id="rId6"/>
    <p:sldId id="301" r:id="rId30"/>
    <p:sldId id="302" r:id="rId31"/>
    <p:sldId id="303" r:id="rId32"/>
    <p:sldId id="304" r:id="rId33"/>
    <p:sldId id="295" r:id="rId25"/>
    <p:sldId id="299" r:id="rId29"/>
    <p:sldId id="286" r:id="rId16"/>
    <p:sldId id="287" r:id="rId17"/>
    <p:sldId id="288" r:id="rId18"/>
    <p:sldId id="291" r:id="rId21"/>
    <p:sldId id="294" r:id="rId24"/>
    <p:sldId id="280" r:id="rId9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284"/>
            <p14:sldId id="285"/>
            <p14:sldId id="281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B5B5B5"/>
    <a:srgbClr val="C8102E"/>
    <a:srgbClr val="78000F"/>
    <a:srgbClr val="231815"/>
    <a:srgbClr val="595757"/>
    <a:srgbClr val="151515"/>
    <a:srgbClr val="C7000B"/>
    <a:srgbClr val="57575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>
        <p:scale>
          <a:sx n="75" d="100"/>
          <a:sy n="75" d="100"/>
        </p:scale>
        <p:origin x="978" y="507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1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23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21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22.xml"/><Relationship Id="rId25" Type="http://schemas.openxmlformats.org/officeDocument/2006/relationships/slide" Target="slides/slide16.xml"/><Relationship Id="rId26" Type="http://schemas.openxmlformats.org/officeDocument/2006/relationships/slide" Target="slides/slide2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7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"name": "AlignQuant",</a:t>
            </a:r>
          </a:p>
          <a:p>
            <a:r>
              <a:t>  "brief": "权重 × 量化：二维tile统一混合精度、紧凑存储与prefill/decode执行。",</a:t>
            </a:r>
          </a:p>
          <a:p>
            <a:r>
              <a:t>  "title": "AlignQuant: Tile-Aligned Mixed-Precision Quantization for Efficient LLM Generation（权重 × 量化）",</a:t>
            </a:r>
          </a:p>
          <a:p>
            <a:r>
              <a:t>  "reference": "arXiv:2610.07457 v1 · Fig.2 / Table 1 · 2026-10-05",</a:t>
            </a:r>
          </a:p>
          <a:p>
            <a:r>
              <a:t>  "reference_url": "https://arxiv.org/abs/2610.07457v1",</a:t>
            </a:r>
          </a:p>
          <a:p>
            <a:r>
              <a:t>  "background": "北德克萨斯大学与圣路易斯大学团队针对混合精度边界和GPU执行单元错位，采用二维权重tile统一校准、打包与计算。研究价值是把模型变小与生成变快接起来，降低异构位宽的执行开销。",</a:t>
            </a:r>
          </a:p>
          <a:p>
            <a:r>
              <a:t>  "tech_detail_figures": [</a:t>
            </a:r>
          </a:p>
          <a:p>
            <a:r>
              <a:t>    "C:\\Users\\Huawei\\Documents\\ChatGPT\\日常\\cloud-core-import\\research-workbench\\ascend-decision-20261008\\alignquant-fig2.png"</a:t>
            </a:r>
          </a:p>
          <a:p>
            <a:r>
              <a:t>  ],</a:t>
            </a:r>
          </a:p>
          <a:p>
            <a:r>
              <a:t>  "tech_detail_points": [</a:t>
            </a:r>
          </a:p>
          <a:p>
            <a:r>
              <a:t>    "共同粒度：64×64 tile选择W4/W8，使用A8输入。",</a:t>
            </a:r>
          </a:p>
          <a:p>
            <a:r>
              <a:t>    "联合校准：综合prefill/decode敏感性，在全模型预算内分配位宽。",</a:t>
            </a:r>
          </a:p>
          <a:p>
            <a:r>
              <a:t>    "直接执行：W4紧凑加载后展开为INT8，阶段专用核复用同一模型。"</a:t>
            </a:r>
          </a:p>
          <a:p>
            <a:r>
              <a:t>  ],</a:t>
            </a:r>
          </a:p>
          <a:p>
            <a:r>
              <a:t>  "experiment_method_points": [</a:t>
            </a:r>
          </a:p>
          <a:p>
            <a:r>
              <a:t>    "平台：A100-SXM4 40GB；扩展至H100 NVL、RTX 4090。",</a:t>
            </a:r>
          </a:p>
          <a:p>
            <a:r>
              <a:t>    "模型：主结果Llama-3.2-3B，64×64 tile、60% W4。",</a:t>
            </a:r>
          </a:p>
          <a:p>
            <a:r>
              <a:t>    "基线：BF16及GPTQ/AWQ等；单次完整生成的TTFT、TPOT与容量。"</a:t>
            </a:r>
          </a:p>
          <a:p>
            <a:r>
              <a:t>  ],</a:t>
            </a:r>
          </a:p>
          <a:p>
            <a:r>
              <a:t>  "experiment_figures": [</a:t>
            </a:r>
          </a:p>
          <a:p>
            <a:r>
              <a:t>    "C:\\Users\\Huawei\\Documents\\ChatGPT\\日常\\cloud-core-import\\research-workbench\\ascend-decision-20261008\\alignquant-table1.png"</a:t>
            </a:r>
          </a:p>
          <a:p>
            <a:r>
              <a:t>  ],</a:t>
            </a:r>
          </a:p>
          <a:p>
            <a:r>
              <a:t>  "experiment_result_points": [</a:t>
            </a:r>
          </a:p>
          <a:p>
            <a:r>
              <a:t>    "主表吞吐132.28 vs 58.18 tok/s（BF16），约2.27×。",</a:t>
            </a:r>
          </a:p>
          <a:p>
            <a:r>
              <a:t>    "常驻内存2.72 vs 5.99 GiB；均为GPU条件，非昇腾结果。"</a:t>
            </a:r>
          </a:p>
          <a:p>
            <a:r>
              <a:t>  ],</a:t>
            </a:r>
          </a:p>
          <a:p>
            <a:r>
              <a:t>  "takeaway": "昇腾先核对算子支持、合法shape与数据布局，再比较同质量、同总字节预算的统一位宽和混合tile。穿刺验证需计入重排、解码与临时缓冲；只有端到端TTFT/TPOT净改善才推进。"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"name": "StagQ",</a:t>
            </a:r>
          </a:p>
          <a:p>
            <a:r>
              <a:t>  "brief": "权重 × 量化：共享仿射元数据，加稀疏旁路保存难量化权重。",</a:t>
            </a:r>
          </a:p>
          <a:p>
            <a:r>
              <a:t>  "title": "StagQ: Constraint-Driven Multi-Precision Weight Quantization for LLMs（权重 × 量化）",</a:t>
            </a:r>
          </a:p>
          <a:p>
            <a:r>
              <a:t>  "reference": "arXiv:2610.05977 v1 · Fig.3 / Table 1 · Table 1 (2-bit rows) excerpt",</a:t>
            </a:r>
          </a:p>
          <a:p>
            <a:r>
              <a:t>  "reference_url": "https://arxiv.org/abs/2610.05977v1",</a:t>
            </a:r>
          </a:p>
          <a:p>
            <a:r>
              <a:t>  "background": "华为团队针对同一模型多精度部署需要存多份权重，采用共享前缀流与稀疏旁路补偿。研究价值是用一份编码提供多个精度档位，同时把异常值和元数据纳入实际码率；规则解码仍需专用内核。",</a:t>
            </a:r>
          </a:p>
          <a:p>
            <a:r>
              <a:t>  "tech_detail_figures": [</a:t>
            </a:r>
          </a:p>
          <a:p>
            <a:r>
              <a:t>    "C:\\Users\\Huawei\\Documents\\ChatGPT\\日常\\cloud-core-import\\research-workbench\\ascend-decision-20261008\\StagQ-architecture.png"</a:t>
            </a:r>
          </a:p>
          <a:p>
            <a:r>
              <a:t>  ],</a:t>
            </a:r>
          </a:p>
          <a:p>
            <a:r>
              <a:t>  "experiment_figures": [</a:t>
            </a:r>
          </a:p>
          <a:p>
            <a:r>
              <a:t>    "C:\\Users\\Huawei\\Documents\\ChatGPT\\日常\\cloud-core-import\\research-workbench\\ascend-decision-20261008\\StagQ-results-detail.png"</a:t>
            </a:r>
          </a:p>
          <a:p>
            <a:r>
              <a:t>  ],</a:t>
            </a:r>
          </a:p>
          <a:p>
            <a:r>
              <a:t>  "tech_detail_points": [</a:t>
            </a:r>
          </a:p>
          <a:p>
            <a:r>
              <a:t>    "共享前缀：2-bit基础流叠加1-bit细化平面。",</a:t>
            </a:r>
          </a:p>
          <a:p>
            <a:r>
              <a:t>    "共享元数据：各精度用同一仿射映射解码。",</a:t>
            </a:r>
          </a:p>
          <a:p>
            <a:r>
              <a:t>    "异常值旁路：编码前后保留难量化权重，计入总码率。"</a:t>
            </a:r>
          </a:p>
          <a:p>
            <a:r>
              <a:t>  ],</a:t>
            </a:r>
          </a:p>
          <a:p>
            <a:r>
              <a:t>  "experiment_method_points": [</a:t>
            </a:r>
          </a:p>
          <a:p>
            <a:r>
              <a:t>    "模型：Llama-3.1-8B、Phi-4、OLMo-2-7B。",</a:t>
            </a:r>
          </a:p>
          <a:p>
            <a:r>
              <a:t>    "质量：MMLU、常识任务及WikiText-2。",</a:t>
            </a:r>
          </a:p>
          <a:p>
            <a:r>
              <a:t>    "执行：A100、batch-1、合成权重GEMV；不是服务吞吐。"</a:t>
            </a:r>
          </a:p>
          <a:p>
            <a:r>
              <a:t>  ],</a:t>
            </a:r>
          </a:p>
          <a:p>
            <a:r>
              <a:t>  "experiment_result_points": [</a:t>
            </a:r>
          </a:p>
          <a:p>
            <a:r>
              <a:t>    "2-bit较最强多精度基线提高MMLU 3.1–7.0个百分点。",</a:t>
            </a:r>
          </a:p>
          <a:p>
            <a:r>
              <a:t>    "4-bit质量持平但码率更高，不能只比较名义位宽。"</a:t>
            </a:r>
          </a:p>
          <a:p>
            <a:r>
              <a:t>  ],</a:t>
            </a:r>
          </a:p>
          <a:p>
            <a:r>
              <a:t>  "takeaway": "条件研究：适合确有多档部署需求的模型。昇腾先比较总驻留字节与档位切换成本，再对旁路布局和GEMV做穿刺；单一位宽业务不应为共享流承担额外复杂度。"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"name": "DBW",</a:t>
            </a:r>
          </a:p>
          <a:p>
            <a:r>
              <a:t>  "brief": "权重 × 量化 / 剪枝 / 低秩分解：用统一目标学习各分量位宽，0-bit对应剪除，同时分配剩余量化预算。",</a:t>
            </a:r>
          </a:p>
          <a:p>
            <a:r>
              <a:t>  "title": "DBW：联合优化分量剪枝与量化（权重 × 量化 / 剪枝 / 低秩分解）",</a:t>
            </a:r>
          </a:p>
          <a:p>
            <a:r>
              <a:t>  "reference": "arXiv:2610.06026 v1 · Fig.1 / Table 1 · Table 1 (LLaMA-7B) excerpt",</a:t>
            </a:r>
          </a:p>
          <a:p>
            <a:r>
              <a:t>  "reference_url": "https://arxiv.org/abs/2610.06026v1",</a:t>
            </a:r>
          </a:p>
          <a:p>
            <a:r>
              <a:t>  "background": "亚洲大学团队针对先截断SVD、再量化的两阶段误差，联合学习分量位宽。0-bit表示删除分量，其余分量分配不同位宽。该方案争取极低存储预算下的质量，但校准训练与混合位宽执行需要额外成本。",</a:t>
            </a:r>
          </a:p>
          <a:p>
            <a:r>
              <a:t>  "tech_detail_figures": [</a:t>
            </a:r>
          </a:p>
          <a:p>
            <a:r>
              <a:t>    "C:\\Users\\Huawei\\Documents\\ChatGPT\\日常\\cloud-core-import\\research-workbench\\ascend-decision-20261008\\DBW-architecture-detail.png"</a:t>
            </a:r>
          </a:p>
          <a:p>
            <a:r>
              <a:t>  ],</a:t>
            </a:r>
          </a:p>
          <a:p>
            <a:r>
              <a:t>  "experiment_figures": [</a:t>
            </a:r>
          </a:p>
          <a:p>
            <a:r>
              <a:t>    "C:\\Users\\Huawei\\Documents\\ChatGPT\\日常\\cloud-core-import\\research-workbench\\ascend-decision-20261008\\DBW-results-detail.png"</a:t>
            </a:r>
          </a:p>
          <a:p>
            <a:r>
              <a:t>  ],</a:t>
            </a:r>
          </a:p>
          <a:p>
            <a:r>
              <a:t>  "tech_detail_points": [</a:t>
            </a:r>
          </a:p>
          <a:p>
            <a:r>
              <a:t>    "联合目标：同时决定截断秩和保留分量位宽。",</a:t>
            </a:r>
          </a:p>
          <a:p>
            <a:r>
              <a:t>    "可微位宽：0-bit分量删除，预算在分量之间重新分配。",</a:t>
            </a:r>
          </a:p>
          <a:p>
            <a:r>
              <a:t>    "规则打包：按位宽分组执行，避免逐分量不规则访存。"</a:t>
            </a:r>
          </a:p>
          <a:p>
            <a:r>
              <a:t>  ],</a:t>
            </a:r>
          </a:p>
          <a:p>
            <a:r>
              <a:t>  "experiment_method_points": [</a:t>
            </a:r>
          </a:p>
          <a:p>
            <a:r>
              <a:t>    "模型：LLaMA系列7B–70B及非LLaMA对照。",</a:t>
            </a:r>
          </a:p>
          <a:p>
            <a:r>
              <a:t>    "设置：平均1.61-bit、group size 128。",</a:t>
            </a:r>
          </a:p>
          <a:p>
            <a:r>
              <a:t>    "基线：PTQ、BiLLM及两阶段SVD压缩；8项常识任务。"</a:t>
            </a:r>
          </a:p>
          <a:p>
            <a:r>
              <a:t>  ],</a:t>
            </a:r>
          </a:p>
          <a:p>
            <a:r>
              <a:t>  "experiment_result_points": [</a:t>
            </a:r>
          </a:p>
          <a:p>
            <a:r>
              <a:t>    "LLaMA-7B常识均分48.98%，两阶段PTQ为41.14%。",</a:t>
            </a:r>
          </a:p>
          <a:p>
            <a:r>
              <a:t>    "该1.61-bit质量结果不能替代昇腾端到端执行测试。"</a:t>
            </a:r>
          </a:p>
          <a:p>
            <a:r>
              <a:t>  ],</a:t>
            </a:r>
          </a:p>
          <a:p>
            <a:r>
              <a:t>  "takeaway": "条件研究：业务需要亚2-bit权重时再评估。固定总字节预算比较质量，并计入低秩因子、尺度、重训和多个GEMM成本；先核对昇腾可执行的位宽集合，再做算法适配。"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"name": "Align, Then Correct",</a:t>
            </a:r>
          </a:p>
          <a:p>
            <a:r>
              <a:t>  "brief": "权重 × 量化 / 低秩分解：重测统计后做限秩自然梯度校正，每个适配器由截断SVD求得。",</a:t>
            </a:r>
          </a:p>
          <a:p>
            <a:r>
              <a:t>  "title": "Align, Then Correct：免训练的两阶段低秩补偿（权重 × 量化 / 低秩分解）",</a:t>
            </a:r>
          </a:p>
          <a:p>
            <a:r>
              <a:t>  "reference": "arXiv:2610.08164 v1 · Fig.3 / Table 1",</a:t>
            </a:r>
          </a:p>
          <a:p>
            <a:r>
              <a:t>  "reference_url": "https://arxiv.org/abs/2610.08164v1",</a:t>
            </a:r>
          </a:p>
          <a:p>
            <a:r>
              <a:t>  "background": "汉阳大学与Qualcomm团队针对低秩补偿目标难以低秩拟合、只优化二阶误差的问题，先做Fisher加权非对称对齐，再校正剩余一阶误差。权重保持冻结，闭式求适配器；免训练不等于免校准。",</a:t>
            </a:r>
          </a:p>
          <a:p>
            <a:r>
              <a:t>  "tech_detail_figures": [</a:t>
            </a:r>
          </a:p>
          <a:p>
            <a:r>
              <a:t>    "C:\\Users\\Huawei\\Documents\\ChatGPT\\日常\\cloud-core-import\\research-workbench\\ascend-decision-20261008\\Align, Then Correct-architecture.png"</a:t>
            </a:r>
          </a:p>
          <a:p>
            <a:r>
              <a:t>  ],</a:t>
            </a:r>
          </a:p>
          <a:p>
            <a:r>
              <a:t>  "experiment_figures": [</a:t>
            </a:r>
          </a:p>
          <a:p>
            <a:r>
              <a:t>    "C:\\Users\\Huawei\\Documents\\ChatGPT\\日常\\cloud-core-import\\research-workbench\\ascend-decision-20261008\\Align, Then Correct-results.png"</a:t>
            </a:r>
          </a:p>
          <a:p>
            <a:r>
              <a:t>  ],</a:t>
            </a:r>
          </a:p>
          <a:p>
            <a:r>
              <a:t>  "tech_detail_points": [</a:t>
            </a:r>
          </a:p>
          <a:p>
            <a:r>
              <a:t>    "输出对齐：用全精度与量化模型的不同输入构造目标。",</a:t>
            </a:r>
          </a:p>
          <a:p>
            <a:r>
              <a:t>    "统计重测：第一阶段补偿后重新采集梯度与曲率。",</a:t>
            </a:r>
          </a:p>
          <a:p>
            <a:r>
              <a:t>    "低秩校正：限秩自然梯度方向由截断SVD求解。"</a:t>
            </a:r>
          </a:p>
          <a:p>
            <a:r>
              <a:t>  ],</a:t>
            </a:r>
          </a:p>
          <a:p>
            <a:r>
              <a:t>  "experiment_method_points": [</a:t>
            </a:r>
          </a:p>
          <a:p>
            <a:r>
              <a:t>    "模型：Qwen3-8B/4B，主实验QuIP# 2-bit。",</a:t>
            </a:r>
          </a:p>
          <a:p>
            <a:r>
              <a:t>    "校准：128×2048 WikiText-2，rank 64等设置。",</a:t>
            </a:r>
          </a:p>
          <a:p>
            <a:r>
              <a:t>    "质量：WikiText-2/C4 PPL，7项零样本任务。"</a:t>
            </a:r>
          </a:p>
          <a:p>
            <a:r>
              <a:t>  ],</a:t>
            </a:r>
          </a:p>
          <a:p>
            <a:r>
              <a:t>  "experiment_result_points": [</a:t>
            </a:r>
          </a:p>
          <a:p>
            <a:r>
              <a:t>    "Qwen3-8B WikiText-2 PPL：12.43→10.26。",</a:t>
            </a:r>
          </a:p>
          <a:p>
            <a:r>
              <a:t>    "Qwen3-4B PPL：21.11→13.22；还需计入适配器字节。"</a:t>
            </a:r>
          </a:p>
          <a:p>
            <a:r>
              <a:t>  ],</a:t>
            </a:r>
          </a:p>
          <a:p>
            <a:r>
              <a:t>  "takeaway": "条件研究：对极低比特质量不足的模型，先比较同总容量下更高位宽与低秩补偿。昇腾穿刺需计入适配器GEMM、统计校准和并行通信；质量恢复成立之后再判断时延净收益。"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"name": "SpAx",</a:t>
            </a:r>
          </a:p>
          <a:p>
            <a:r>
              <a:t>  "brief": "激活 × 剪枝；关联权重 × 量化：小激活读取压缩权重，大激活读取原权重，近零激活跳过。",</a:t>
            </a:r>
          </a:p>
          <a:p>
            <a:r>
              <a:t>  "title": "Activation Sparsity with Weight Approximation for Faster LLM Decoding on Offloaded Weights（激活 × 剪枝；关联权重 × 量化）",</a:t>
            </a:r>
          </a:p>
          <a:p>
            <a:r>
              <a:t>  "reference": "arXiv:2610.02598 v1 · Fig.2 / Fig.6 · Fig.6 (CPU panels) excerpt",</a:t>
            </a:r>
          </a:p>
          <a:p>
            <a:r>
              <a:t>  "reference_url": "https://arxiv.org/abs/2610.02598v1",</a:t>
            </a:r>
          </a:p>
          <a:p>
            <a:r>
              <a:t>  "background": "LG与多伦多大学团队针对权重卸载时每个解码token都要搬运大量数据，把读取决策分成原权重、压缩近似和跳过三档。小激活降低近似误差，大激活保留质量；研究价值主要在外部传输受限负载。",</a:t>
            </a:r>
          </a:p>
          <a:p>
            <a:r>
              <a:t>  "tech_detail_figures": [</a:t>
            </a:r>
          </a:p>
          <a:p>
            <a:r>
              <a:t>    "C:\\Users\\Huawei\\Documents\\ChatGPT\\日常\\cloud-core-import\\research-workbench\\ascend-decision-20261008\\SpAx-architecture.png"</a:t>
            </a:r>
          </a:p>
          <a:p>
            <a:r>
              <a:t>  ],</a:t>
            </a:r>
          </a:p>
          <a:p>
            <a:r>
              <a:t>  "experiment_figures": [</a:t>
            </a:r>
          </a:p>
          <a:p>
            <a:r>
              <a:t>    "C:\\Users\\Huawei\\Documents\\ChatGPT\\日常\\cloud-core-import\\research-workbench\\ascend-decision-20261008\\SpAx-results-detail.png"</a:t>
            </a:r>
          </a:p>
          <a:p>
            <a:r>
              <a:t>  ],</a:t>
            </a:r>
          </a:p>
          <a:p>
            <a:r>
              <a:t>  "tech_detail_points": [</a:t>
            </a:r>
          </a:p>
          <a:p>
            <a:r>
              <a:t>    "三档读取：按激活大小读取完整、近似或零权重。",</a:t>
            </a:r>
          </a:p>
          <a:p>
            <a:r>
              <a:t>    "离线编码：标量量化或trellis编码保存中间档。",</a:t>
            </a:r>
          </a:p>
          <a:p>
            <a:r>
              <a:t>    "传输协同：根据CPU或闪存布局取码并重建投影。"</a:t>
            </a:r>
          </a:p>
          <a:p>
            <a:r>
              <a:t>  ],</a:t>
            </a:r>
          </a:p>
          <a:p>
            <a:r>
              <a:t>  "experiment_method_points": [</a:t>
            </a:r>
          </a:p>
          <a:p>
            <a:r>
              <a:t>    "模型：Llama、Gemma、Qwen，多种卸载配置。",</a:t>
            </a:r>
          </a:p>
          <a:p>
            <a:r>
              <a:t>    "负载：权重卸载CPU内存或闪存，逐token解码。",</a:t>
            </a:r>
          </a:p>
          <a:p>
            <a:r>
              <a:t>    "质量门槛：WikiText-2 PPL增幅≤10%；对比稠密与TEAL。"</a:t>
            </a:r>
          </a:p>
          <a:p>
            <a:r>
              <a:t>  ],</a:t>
            </a:r>
          </a:p>
          <a:p>
            <a:r>
              <a:t>  "experiment_result_points": [</a:t>
            </a:r>
          </a:p>
          <a:p>
            <a:r>
              <a:t>    "CPU卸载16-bit/4-bit权重，平均加速3.86×/2.06×。",</a:t>
            </a:r>
          </a:p>
          <a:p>
            <a:r>
              <a:t>    "闪存卸载平均3.31×/1.54×；不是常驻HBM加速。"</a:t>
            </a:r>
          </a:p>
          <a:p>
            <a:r>
              <a:t>  ],</a:t>
            </a:r>
          </a:p>
          <a:p>
            <a:r>
              <a:t>  "takeaway": "条件研究：只有权重卸载且传输主导时优先。昇腾先测链路字节与搬运时间，再验证三档访问；常驻HBM场景需单独评估索引、解码与不规则算子开销，不能直接套用论文倍数。"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"name": "TaSQ",</a:t>
            </a:r>
          </a:p>
          <a:p>
            <a:r>
              <a:t>  "brief": "KV Cache × 量化：在RoPE前对Key加权、跨头归一化和相关通道分组，再向量量化。",</a:t>
            </a:r>
          </a:p>
          <a:p>
            <a:r>
              <a:t>  "title": "Tailoring the Quantization Space for 1-Bit KV Cache Compression（KV Cache × 量化）",</a:t>
            </a:r>
          </a:p>
          <a:p>
            <a:r>
              <a:t>  "reference": "arXiv:2610.03027 v1 · Fig.2 / Fig.4 · 2026-10-02",</a:t>
            </a:r>
          </a:p>
          <a:p>
            <a:r>
              <a:t>  "reference_url": "https://arxiv.org/abs/2610.03027v1",</a:t>
            </a:r>
          </a:p>
          <a:p>
            <a:r>
              <a:t>  "background": "首尔大学与斯坦福大学团队针对1-bit KV向量量化的质量下降，在RoPE前按查询敏感性与通道相关性改造Key空间。技术目标是扩大长生成可容纳的batch，同时控制注意力误差和推理失稳。",</a:t>
            </a:r>
          </a:p>
          <a:p>
            <a:r>
              <a:t>  "tech_detail_figures": [</a:t>
            </a:r>
          </a:p>
          <a:p>
            <a:r>
              <a:t>    "C:\\Users\\Huawei\\Documents\\ChatGPT\\日常\\cloud-core-import\\research-workbench\\ascend-decision-20261008\\tasq-fig2.png"</a:t>
            </a:r>
          </a:p>
          <a:p>
            <a:r>
              <a:t>  ],</a:t>
            </a:r>
          </a:p>
          <a:p>
            <a:r>
              <a:t>  "tech_detail_points": [</a:t>
            </a:r>
          </a:p>
          <a:p>
            <a:r>
              <a:t>    "查询加权：Key误差按QK敏感性优化，保护重要通道。",</a:t>
            </a:r>
          </a:p>
          <a:p>
            <a:r>
              <a:t>    "跨头归一化：同token共用尺度，降低尺度存储开销。",</a:t>
            </a:r>
          </a:p>
          <a:p>
            <a:r>
              <a:t>    "相关分组：保持RoPE对，拟合码本；Value采用常规VQ。"</a:t>
            </a:r>
          </a:p>
          <a:p>
            <a:r>
              <a:t>  ],</a:t>
            </a:r>
          </a:p>
          <a:p>
            <a:r>
              <a:t>  "experiment_method_points": [</a:t>
            </a:r>
          </a:p>
          <a:p>
            <a:r>
              <a:t>    "平台：单RTX 6000 Ada，SGLang服务栈。",</a:t>
            </a:r>
          </a:p>
          <a:p>
            <a:r>
              <a:t>    "负载：Qwen3-4B-Thinking-2507，2048输入/32768输出。",</a:t>
            </a:r>
          </a:p>
          <a:p>
            <a:r>
              <a:t>    "对照：BF16与CQ；另测8K/16K/32K的batch-1 prefill。"</a:t>
            </a:r>
          </a:p>
          <a:p>
            <a:r>
              <a:t>  ],</a:t>
            </a:r>
          </a:p>
          <a:p>
            <a:r>
              <a:t>  "experiment_figures": [</a:t>
            </a:r>
          </a:p>
          <a:p>
            <a:r>
              <a:t>    "C:\\Users\\Huawei\\Documents\\ChatGPT\\日常\\cloud-core-import\\research-workbench\\ascend-decision-20261008\\tasq-fig4.png"</a:t>
            </a:r>
          </a:p>
          <a:p>
            <a:r>
              <a:t>  ],</a:t>
            </a:r>
          </a:p>
          <a:p>
            <a:r>
              <a:t>  "experiment_result_points": [</a:t>
            </a:r>
          </a:p>
          <a:p>
            <a:r>
              <a:t>    "最大batch 6→84，峰值吞吐220.8→412.6 tok/s（1.87×）。",</a:t>
            </a:r>
          </a:p>
          <a:p>
            <a:r>
              <a:t>    "8K–32K输入TTFT增加10%–14%；需与长输出收益一起看。"</a:t>
            </a:r>
          </a:p>
          <a:p>
            <a:r>
              <a:t>  ],</a:t>
            </a:r>
          </a:p>
          <a:p>
            <a:r>
              <a:t>  "takeaway": "昇腾先建立受支持KV量化基线，再用8K/16K/32K输入与短、长输出做对照。穿刺分开看同batch延迟和同HBM容量吞吐，计入码本、查表与编码成本；短输出不宜套用峰值收益。"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"name": "DeferKV",</a:t>
            </a:r>
          </a:p>
          <a:p>
            <a:r>
              <a:t>  "brief": "KV Cache × KV Cache 淘汰：无需训练、草稿模型或未来查询预测。",</a:t>
            </a:r>
          </a:p>
          <a:p>
            <a:r>
              <a:t>  "title": "DeferKV: Rethinking Eviction Timing for One-Shot KV Cache Compression（KV Cache × KV Cache 淘汰）",</a:t>
            </a:r>
          </a:p>
          <a:p>
            <a:r>
              <a:t>  "reference": "arXiv:2610.06286 v1 · Fig.3 / Table 1 · Table 1 (Qwen3-8B) excerpt",</a:t>
            </a:r>
          </a:p>
          <a:p>
            <a:r>
              <a:t>  "reference_url": "https://arxiv.org/abs/2610.06286v1",</a:t>
            </a:r>
          </a:p>
          <a:p>
            <a:r>
              <a:t>  "background": "电子科技大学团队针对prefill末尾查询不能代表后续生成，把不可逆淘汰推迟到首个真实decode查询。结合提示与生成侧注意力再选KV，不增加草稿模型或训练；其价值是改善淘汰时机而非改变压缩格式。",</a:t>
            </a:r>
          </a:p>
          <a:p>
            <a:r>
              <a:t>  "tech_detail_figures": [</a:t>
            </a:r>
          </a:p>
          <a:p>
            <a:r>
              <a:t>    "C:\\Users\\Huawei\\Documents\\ChatGPT\\日常\\cloud-core-import\\research-workbench\\ascend-decision-20261008\\DeferKV-architecture.png"</a:t>
            </a:r>
          </a:p>
          <a:p>
            <a:r>
              <a:t>  ],</a:t>
            </a:r>
          </a:p>
          <a:p>
            <a:r>
              <a:t>  "experiment_figures": [</a:t>
            </a:r>
          </a:p>
          <a:p>
            <a:r>
              <a:t>    "C:\\Users\\Huawei\\Documents\\ChatGPT\\日常\\cloud-core-import\\research-workbench\\ascend-decision-20261008\\DeferKV-results-detail.png"</a:t>
            </a:r>
          </a:p>
          <a:p>
            <a:r>
              <a:t>  ],</a:t>
            </a:r>
          </a:p>
          <a:p>
            <a:r>
              <a:t>  "tech_detail_points": [</a:t>
            </a:r>
          </a:p>
          <a:p>
            <a:r>
              <a:t>    "真实查询：首次decode时获取真实生成需求。",</a:t>
            </a:r>
          </a:p>
          <a:p>
            <a:r>
              <a:t>    "时间加权：近期prompt查询和decode查询联合打分。",</a:t>
            </a:r>
          </a:p>
          <a:p>
            <a:r>
              <a:t>    "一次淘汰：保留原方法预算结构，更换重要性估计。"</a:t>
            </a:r>
          </a:p>
          <a:p>
            <a:r>
              <a:t>  ],</a:t>
            </a:r>
          </a:p>
          <a:p>
            <a:r>
              <a:t>  "experiment_method_points": [</a:t>
            </a:r>
          </a:p>
          <a:p>
            <a:r>
              <a:t>    "模型：Qwen3-8B、Llama-3.1-8B、Mistral-7B。",</a:t>
            </a:r>
          </a:p>
          <a:p>
            <a:r>
              <a:t>    "评测：16项LongBench、RULER和针检索。",</a:t>
            </a:r>
          </a:p>
          <a:p>
            <a:r>
              <a:t>    "比较：SnapKV、LAQ、SpecKV、LookaheadKV及Full KV。"</a:t>
            </a:r>
          </a:p>
          <a:p>
            <a:r>
              <a:t>  ],</a:t>
            </a:r>
          </a:p>
          <a:p>
            <a:r>
              <a:t>  "experiment_result_points": [</a:t>
            </a:r>
          </a:p>
          <a:p>
            <a:r>
              <a:t>    "Qwen3-8B、KV预算512：LongBench均分44.96，SnapKV 38.46。",</a:t>
            </a:r>
          </a:p>
          <a:p>
            <a:r>
              <a:t>    "RULER跨4K–128K均分81.36，Full KV 93.46；并非无损。"</a:t>
            </a:r>
          </a:p>
          <a:p>
            <a:r>
              <a:t>  ],</a:t>
            </a:r>
          </a:p>
          <a:p>
            <a:r>
              <a:t>  "takeaway": "条件研究：长提示、短输出业务先比较同保留预算的质量和TTFT。昇腾核对首步延迟淘汰是否增加峰值HBM，并计入注意力取样、评分与页搬移；它可与页预算策略组合，但组合收益要另测。"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"name": "Page-EntroKV",</a:t>
            </a:r>
          </a:p>
          <a:p>
            <a:r>
              <a:t>  "brief": "KV Cache × KV Cache 淘汰：按GQA共享组聚合重要性，映射页后淘汰，严格控制实际保留预算。",</a:t>
            </a:r>
          </a:p>
          <a:p>
            <a:r>
              <a:t>  "title": "Page-EntroKV: Hardware-Aligned, Entropy-Weighted KV-Cache Eviction under Grouped-Query Attention（KV Cache × KV Cache 淘汰）",</a:t>
            </a:r>
          </a:p>
          <a:p>
            <a:r>
              <a:t>  "reference": "arXiv:2610.03135 v1 · Fig.1 / Fig.4 · 2026-10-02",</a:t>
            </a:r>
          </a:p>
          <a:p>
            <a:r>
              <a:t>  "reference_url": "https://arxiv.org/abs/2610.03135v1",</a:t>
            </a:r>
          </a:p>
          <a:p>
            <a:r>
              <a:t>  "background": "SRM团队针对GQA逐头保留集合取并集后超预算，用去除sink影响的熵给组内头加权，再映射到物理页淘汰。该方案把保留决策与真实分配单元对应，避免只统计逻辑token而低估缓存占用。",</a:t>
            </a:r>
          </a:p>
          <a:p>
            <a:r>
              <a:t>  "tech_detail_figures": [</a:t>
            </a:r>
          </a:p>
          <a:p>
            <a:r>
              <a:t>    "C:\\Users\\Huawei\\Documents\\ChatGPT\\日常\\cloud-core-import\\research-workbench\\ascend-decision-20261008\\pageentrokv-fig1.png"</a:t>
            </a:r>
          </a:p>
          <a:p>
            <a:r>
              <a:t>  ],</a:t>
            </a:r>
          </a:p>
          <a:p>
            <a:r>
              <a:t>  "tech_detail_points": [</a:t>
            </a:r>
          </a:p>
          <a:p>
            <a:r>
              <a:t>    "物理组预算：在共享KV组决策，避免逐头集合并集膨胀。",</a:t>
            </a:r>
          </a:p>
          <a:p>
            <a:r>
              <a:t>    "熵加权聚合：分离sink，突出尖锐检索头的重要信号。",</a:t>
            </a:r>
          </a:p>
          <a:p>
            <a:r>
              <a:t>    "页粒度淘汰：先映射分配页，再严格按预算选择保留页。"</a:t>
            </a:r>
          </a:p>
          <a:p>
            <a:r>
              <a:t>  ],</a:t>
            </a:r>
          </a:p>
          <a:p>
            <a:r>
              <a:t>  "experiment_method_points": [</a:t>
            </a:r>
          </a:p>
          <a:p>
            <a:r>
              <a:t>    "模型：Qwen2.5-1.5B-Instruct，GQA ratio=6。",</a:t>
            </a:r>
          </a:p>
          <a:p>
            <a:r>
              <a:t>    "证据：真实文本回放，非完整生产服务吞吐试验。",</a:t>
            </a:r>
          </a:p>
          <a:p>
            <a:r>
              <a:t>    "图4：逐头选择的实测UOR，理论包络与组级预算保证。"</a:t>
            </a:r>
          </a:p>
          <a:p>
            <a:r>
              <a:t>  ],</a:t>
            </a:r>
          </a:p>
          <a:p>
            <a:r>
              <a:t>  "experiment_figures": [</a:t>
            </a:r>
          </a:p>
          <a:p>
            <a:r>
              <a:t>    "C:\\Users\\Huawei\\Documents\\ChatGPT\\日常\\cloud-core-import\\research-workbench\\ascend-decision-20261008\\pageentrokv-fig4.png"</a:t>
            </a:r>
          </a:p>
          <a:p>
            <a:r>
              <a:t>  ],</a:t>
            </a:r>
          </a:p>
          <a:p>
            <a:r>
              <a:t>  "experiment_result_points": [</a:t>
            </a:r>
          </a:p>
          <a:p>
            <a:r>
              <a:t>    "作者逐头回放：2%预算时UOR最高4.75；40%时2.33。",</a:t>
            </a:r>
          </a:p>
          <a:p>
            <a:r>
              <a:t>    "组/页选择UOR=1；192个算子/页大小单元精确兑现配额。"</a:t>
            </a:r>
          </a:p>
          <a:p>
            <a:r>
              <a:t>  ],</a:t>
            </a:r>
          </a:p>
          <a:p>
            <a:r>
              <a:t>  "takeaway": "昇腾先验证现有分页管理中的逻辑token、物理页与HBM字节是否一致。对照完整KV和简单预算策略，计入评分、搬移与索引开销。长上下文质量和服务时延需独立实测后再决定工程化。"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"name": "AttSVD",</a:t>
            </a:r>
          </a:p>
          <a:p>
            <a:r>
              <a:t>  "brief": "KV Cache × 低秩分解：提供累积与流式两种解码缓存策略。",</a:t>
            </a:r>
          </a:p>
          <a:p>
            <a:r>
              <a:t>  "title": "AttSVD: Prompt-Adaptive Low-Rank KV Cache Compression via Attention-Guided SVD（KV Cache × 低秩分解）",</a:t>
            </a:r>
          </a:p>
          <a:p>
            <a:r>
              <a:t>  "reference": "arXiv:2610.06927 v1 · Fig.1 / Table 1 excerpt",</a:t>
            </a:r>
          </a:p>
          <a:p>
            <a:r>
              <a:t>  "reference_url": "https://arxiv.org/abs/2610.06927v1",</a:t>
            </a:r>
          </a:p>
          <a:p>
            <a:r>
              <a:t>  "background": "微软ASG团队针对删token后无法恢复上下文，沿特征轴而非序列轴压缩KV。每个提示按注意力几何生成低秩基，保留所有位置；短输出采用累积缓存，长输出用流式窗口控制增长，但分解和重构成本需独立核对。",</a:t>
            </a:r>
          </a:p>
          <a:p>
            <a:r>
              <a:t>  "tech_detail_figures": [</a:t>
            </a:r>
          </a:p>
          <a:p>
            <a:r>
              <a:t>    "C:\\Users\\Huawei\\Documents\\ChatGPT\\日常\\cloud-core-import\\research-workbench\\ascend-decision-20261008\\AttSVD-architecture-final.png"</a:t>
            </a:r>
          </a:p>
          <a:p>
            <a:r>
              <a:t>  ],</a:t>
            </a:r>
          </a:p>
          <a:p>
            <a:r>
              <a:t>  "experiment_figures": [</a:t>
            </a:r>
          </a:p>
          <a:p>
            <a:r>
              <a:t>    "C:\\Users\\Huawei\\Documents\\ChatGPT\\日常\\cloud-core-import\\research-workbench\\ascend-decision-20261008\\AttSVD-results-final.png"</a:t>
            </a:r>
          </a:p>
          <a:p>
            <a:r>
              <a:t>  ],</a:t>
            </a:r>
          </a:p>
          <a:p>
            <a:r>
              <a:t>  "tech_detail_points": [</a:t>
            </a:r>
          </a:p>
          <a:p>
            <a:r>
              <a:t>    "注意力感知：分别保留logit与输出空间中的有效方向。",</a:t>
            </a:r>
          </a:p>
          <a:p>
            <a:r>
              <a:t>    "逐提示SVD：按能量阈值选择K/V秩，而非固定离线基。",</a:t>
            </a:r>
          </a:p>
          <a:p>
            <a:r>
              <a:t>    "双解码策略：累积精确token或按窗口重分解。"</a:t>
            </a:r>
          </a:p>
          <a:p>
            <a:r>
              <a:t>  ],</a:t>
            </a:r>
          </a:p>
          <a:p>
            <a:r>
              <a:t>  "experiment_method_points": [</a:t>
            </a:r>
          </a:p>
          <a:p>
            <a:r>
              <a:t>    "模型：Phi-4-14B、Qwen3-8B等。",</a:t>
            </a:r>
          </a:p>
          <a:p>
            <a:r>
              <a:t>    "任务：1750项LongBench与184项agent提示。",</a:t>
            </a:r>
          </a:p>
          <a:p>
            <a:r>
              <a:t>    "比较：Dense、H2O、KVzip、KeyDiff，匹配缓存预算。"</a:t>
            </a:r>
          </a:p>
          <a:p>
            <a:r>
              <a:t>  ],</a:t>
            </a:r>
          </a:p>
          <a:p>
            <a:r>
              <a:t>  "experiment_result_points": [</a:t>
            </a:r>
          </a:p>
          <a:p>
            <a:r>
              <a:t>    "Phi-4-14B 32K：KV 6.250→3.131 GB（c=0.50）。",</a:t>
            </a:r>
          </a:p>
          <a:p>
            <a:r>
              <a:t>    "50%缓存LongBench接近稠密表现；未证明统一服务加速。"</a:t>
            </a:r>
          </a:p>
          <a:p>
            <a:r>
              <a:t>  ],</a:t>
            </a:r>
          </a:p>
          <a:p>
            <a:r>
              <a:t>  "takeaway": "持续跟踪：优先检查真实业务提示的注意力有效秩。昇腾穿刺分解、重构和窗口刷新成本，再与同字节预算KV量化或淘汰对比；只有长上下文收益摊薄分解开销才值得接入。"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"name": "SAGA",</a:t>
            </a:r>
          </a:p>
          <a:p>
            <a:r>
              <a:t>  "brief": "KV Cache × GQA / MQA：可用微调将既有模型转成SAGA结构。",</a:t>
            </a:r>
          </a:p>
          <a:p>
            <a:r>
              <a:t>  "title": "More Value per Key: Asymmetric Sparse Attention for Faster LLM Decoding（KV Cache × GQA / MQA）",</a:t>
            </a:r>
          </a:p>
          <a:p>
            <a:r>
              <a:t>  "reference": "arXiv:2610.04753 v1 · Fig.1 / Fig.2 · v1",</a:t>
            </a:r>
          </a:p>
          <a:p>
            <a:r>
              <a:t>  "reference_url": "https://arxiv.org/abs/2610.04753v1",</a:t>
            </a:r>
          </a:p>
          <a:p>
            <a:r>
              <a:t>  "background": "Technion等团队针对稀疏注意力后QK计算仍是瓶颈，减少Key头而保留更多Value头，再用近似top-N选择。技术价值是改变K/V结构以匹配瓶颈，但需训练或微调转换，不能作为普通模型的无损缓存插件。",</a:t>
            </a:r>
          </a:p>
          <a:p>
            <a:r>
              <a:t>  "tech_detail_figures": [</a:t>
            </a:r>
          </a:p>
          <a:p>
            <a:r>
              <a:t>    "C:\\Users\\Huawei\\Documents\\ChatGPT\\日常\\cloud-core-import\\research-workbench\\ascend-decision-20261008\\SAGA-architecture.png"</a:t>
            </a:r>
          </a:p>
          <a:p>
            <a:r>
              <a:t>  ],</a:t>
            </a:r>
          </a:p>
          <a:p>
            <a:r>
              <a:t>  "experiment_figures": [</a:t>
            </a:r>
          </a:p>
          <a:p>
            <a:r>
              <a:t>    "C:\\Users\\Huawei\\Documents\\ChatGPT\\日常\\cloud-core-import\\research-workbench\\ascend-decision-20261008\\SAGA-results.png"</a:t>
            </a:r>
          </a:p>
          <a:p>
            <a:r>
              <a:t>  ],</a:t>
            </a:r>
          </a:p>
          <a:p>
            <a:r>
              <a:t>  "tech_detail_points": [</a:t>
            </a:r>
          </a:p>
          <a:p>
            <a:r>
              <a:t>    "非对称K/V：少量Key头减少QK访存与计算。",</a:t>
            </a:r>
          </a:p>
          <a:p>
            <a:r>
              <a:t>    "近似top-N：控制参与PV的候选，保留Value表达能力。",</a:t>
            </a:r>
          </a:p>
          <a:p>
            <a:r>
              <a:t>    "模型转换：蒸馏或微调适配新头结构，需要质量重验。"</a:t>
            </a:r>
          </a:p>
          <a:p>
            <a:r>
              <a:t>  ],</a:t>
            </a:r>
          </a:p>
          <a:p>
            <a:r>
              <a:t>  "experiment_method_points": [</a:t>
            </a:r>
          </a:p>
          <a:p>
            <a:r>
              <a:t>    "模型：Llama-3.2-1B、Qwen2.5-1.5B。",</a:t>
            </a:r>
          </a:p>
          <a:p>
            <a:r>
              <a:t>    "平台：H200/B200；batch 1/4/16、上下文8K–128K。",</a:t>
            </a:r>
          </a:p>
          <a:p>
            <a:r>
              <a:t>    "比较：作者同栈完整注意力GQA，CUDA Graph解码。"</a:t>
            </a:r>
          </a:p>
          <a:p>
            <a:r>
              <a:t>  ],</a:t>
            </a:r>
          </a:p>
          <a:p>
            <a:r>
              <a:t>  "experiment_result_points": [</a:t>
            </a:r>
          </a:p>
          <a:p>
            <a:r>
              <a:t>    "作者长上下文端到端解码加速超过2×，模型最大1.5B。",</a:t>
            </a:r>
          </a:p>
          <a:p>
            <a:r>
              <a:t>    "从头训练质量接近GQA；不能外推现有大模型免训练收益。"</a:t>
            </a:r>
          </a:p>
          <a:p>
            <a:r>
              <a:t>  ],</a:t>
            </a:r>
          </a:p>
          <a:p>
            <a:r>
              <a:t>  "takeaway": "持续跟踪：适合有模型结构改造权限的研究线。昇腾先验证非对称头布局与算子支持，再比较同训练预算质量、同栈解码与转换成本；现有生产模型优先选择保持模型结构的KV压缩。"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"section": "02 热点资讯 · H1",</a:t>
            </a:r>
          </a:p>
          <a:p>
            <a:r>
              <a:t>  "title": "Mistral Large 4：万亿参数 MoE 把权重容量推到前台",</a:t>
            </a:r>
          </a:p>
          <a:p>
            <a:r>
              <a:t>  "meta": "2026-10-06 · Mistral 官方预览公告 · 关联技术地图：权重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"模型规模",</a:t>
            </a:r>
          </a:p>
          <a:p>
            <a:r>
              <a:t>      "官方披露 1T 总参数、52B 激活参数；两者分别描述模型规模与稀疏激活规模。"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"开放状态",</a:t>
            </a:r>
          </a:p>
          <a:p>
            <a:r>
              <a:t>      "预览 API 已开放；权重计划月底发布。截止核对时，不把开放计划写成已交付。"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"研究窗口",</a:t>
            </a:r>
          </a:p>
          <a:p>
            <a:r>
              <a:t>      "权重和架构细节尚待发布；当前不能复核专家布局、可量化层或部署格式。"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"容量预算：总权重仍需有去处",</a:t>
            </a:r>
          </a:p>
          <a:p>
            <a:r>
              <a:t>      "52B 激活参数不能替代总参数容量账。需区分全量驻留、专家分层存储、每 token 搬运与通信成本。"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"技术选择：量化与驻留要共同设计",</a:t>
            </a:r>
          </a:p>
          <a:p>
            <a:r>
              <a:t>      "专家权重量化可减小存储与搬运字节，但收益取决于路由命中、解码开销和并行划分，不能只按名义位宽排名。"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"先列入权重 × 量化跟踪；等权重公开后，优先核对专家格式与驻留预算，再决定是否投入适配。",</a:t>
            </a:r>
          </a:p>
          <a:p>
            <a:r>
              <a:t>  "boundary": "证据边界：厂商规格与发布计划；容量与路线取舍为分析判断。未证明压缩收益或昇腾支持。",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"[H1] Mistral 官方公告 · Preview / Frontier performance",</a:t>
            </a:r>
          </a:p>
          <a:p>
            <a:r>
              <a:t>      "url": "https://mistral.ai/news/mistral-large-4/"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"section": "02 热点资讯 · H2",</a:t>
            </a:r>
          </a:p>
          <a:p>
            <a:r>
              <a:t>  "title": "openTPU：低比特要看总字节、质量与端到端收益",</a:t>
            </a:r>
          </a:p>
          <a:p>
            <a:r>
              <a:t>  "meta": "2026-10-01 作者实验 · build B · Kintex-7 PCIe 板卡 · 权重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"编码成本",</a:t>
            </a:r>
          </a:p>
          <a:p>
            <a:r>
              <a:t>      "4-bit 权重采用两级块尺度；计入尺度后为 4.25 bit/weight，LM head 保留 INT8。"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"可比结果",</a:t>
            </a:r>
          </a:p>
          <a:p>
            <a:r>
              <a:t>      "Qwen3.5-2B：INT8 / 4-bit 的 wall 解码速度为 8.00 / 12.03 tok/s。"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"测量条件",</a:t>
            </a:r>
          </a:p>
          <a:p>
            <a:r>
              <a:t>      "512-token prompt、64 greedy tokens；device 与 wall 分开计，DRAM 流量由板卡计数器读取。"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"名义压缩率不能代替实际收益",</a:t>
            </a:r>
          </a:p>
          <a:p>
            <a:r>
              <a:t>      "12.03 / 8.00 约为 1.50 倍（计算值）；不能按位宽减半直接宣称两倍加速。尺度、保留层和反量化都要计费。"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"评测口径值得迁移，硬件倍数不能迁移",</a:t>
            </a:r>
          </a:p>
          <a:p>
            <a:r>
              <a:t>      "在昇腾报告总权重字节、端到端时延及质量变化。作者说明量化存在 PPL 代价，模拟器逐位一致不等于全精度质量无损。"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"把它作为量化评测口径参考；在同模型、同负载、同质量约束下比较昇腾基线，不照搬 FPGA 加速倍数。",</a:t>
            </a:r>
          </a:p>
          <a:p>
            <a:r>
              <a:t>  "boundary": "证据边界：项目作者自测；10-01 为实验日。上述比值由原表计算，未进行昇腾复现。",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"[H2] openTPU README · Results / Method / 4-bit encoding",</a:t>
            </a:r>
          </a:p>
          <a:p>
            <a:r>
              <a:t>      "url": "https://github.com/FeSens/openTPU"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"section": "02 热点资讯 · H3",</a:t>
            </a:r>
          </a:p>
          <a:p>
            <a:r>
              <a:t>  "title": "Strands Decider 2B：先缩小任务职责，再压缩模型",</a:t>
            </a:r>
          </a:p>
          <a:p>
            <a:r>
              <a:t>  "meta": "2026-10-01 · Strands 官方开源介绍 · 相邻研究背景，非剪枝或蒸馏成果",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"模型改造",</a:t>
            </a:r>
          </a:p>
          <a:p>
            <a:r>
              <a:t>      "以 Qwen3.5-2B 为主干，替换 LM head 为 pointer head，用 rank-16 LoRA 微调。"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"任务边界",</a:t>
            </a:r>
          </a:p>
          <a:p>
            <a:r>
              <a:t>      "一次前向对给定选项打分；不能生成通用文本，不适合直接替代聊天、编码和摘要模型。"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"可研究性",</a:t>
            </a:r>
          </a:p>
          <a:p>
            <a:r>
              <a:t>      "官方开放代码、权重、训练数据与脚本；评测关注准确率、置信度校准与决策延迟。"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"压缩前先问：业务是否需要通用生成",</a:t>
            </a:r>
          </a:p>
          <a:p>
            <a:r>
              <a:t>      "分类、路由和选项决策可评估任务专用模型。改变任务职责与降低数值精度是两种取舍，收益不能混在一个压缩指标里。"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"研究顺序：先形成任务基线，再量化",</a:t>
            </a:r>
          </a:p>
          <a:p>
            <a:r>
              <a:t>      "若专用模型满足业务准确率，再评估低比特质量损失与服务成本。无法承担的复杂推理仍交给通用模型。"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"路由业务可单列试验：先测决策准确率、校准与 P95 延迟，再判断是否量化；不纳入剪枝／蒸馏已实现清单。",</a:t>
            </a:r>
          </a:p>
          <a:p>
            <a:r>
              <a:t>  "boundary": "证据边界：官方架构与开源披露；昇腾适配和本地延迟未确认。不可用生成质量评测替代决策质量。",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"[H3] Strands · Model Architecture / Limitations / Performance",</a:t>
            </a:r>
          </a:p>
          <a:p>
            <a:r>
              <a:t>      "url": "https://strandsagents.com/blog/introducing-strands-decider/"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"section": "03 产业动态 · I1 · 模型压缩",</a:t>
            </a:r>
          </a:p>
          <a:p>
            <a:r>
              <a:t>  "title": "msModelSlim：模型 × 量化模式开始形成明确交付项",</a:t>
            </a:r>
          </a:p>
          <a:p>
            <a:r>
              <a:t>  "meta": "本月核对既有文档 · 26.0.0.alpha02 为内测版，发布日期未列 · 权重／激活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"具体模型与模式",</a:t>
            </a:r>
          </a:p>
          <a:p>
            <a:r>
              <a:t>      "alpha02 列示 Qwen3-Coder-480B W4A8、Qwen3.5 MoE W8A8 与 GLM-5 W4A8。"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"接入与调优变化",</a:t>
            </a:r>
          </a:p>
          <a:p>
            <a:r>
              <a:t>      "版本说明新增自定义 practice 目录的 entry point，构建 model_adapter 插件化基础，并优化自动调优。"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"算法与版本分开",</a:t>
            </a:r>
          </a:p>
          <a:p>
            <a:r>
              <a:t>      "V1 算法文档列出 GPTQ、AWQ、FA3 Quant、KVCache Quant；不把目录收录当作全部模型已支持。"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"论文比较应站在可交付基线上",</a:t>
            </a:r>
          </a:p>
          <a:p>
            <a:r>
              <a:t>      "权重量化研究先确认目标模型能导出何种格式，再与 GPTQ／AWQ 等已支持路径比较；相同位宽仍可能因布局而不能互换。"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"低精度能力落地依赖三重匹配",</a:t>
            </a:r>
          </a:p>
          <a:p>
            <a:r>
              <a:t>      "模型实践、量化输出、推理引擎要一致。自动调优可形成质量基线，但“工具支持”不能代替算子可执行或真实加速证明。"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"先用目标模型已支持的配置建立质量与容量基线；新论文只有在同总字节、同负载下有增量价值时才投入适配。",</a:t>
            </a:r>
          </a:p>
          <a:p>
            <a:r>
              <a:t>  "boundary": "证据边界：官方文档，2026-10-09 复核；alpha02 非正式版、非确认的十月新发布；部署依模型实践核对。",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"[I1a] msModelSlim · 版本说明 / alpha02",</a:t>
            </a:r>
          </a:p>
          <a:p>
            <a:r>
              <a:t>      "url": "https://msmodelslim.readthedocs.io/zh-cn/latest/zh/release_notes/release_notes/"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"label": "[I1b] V1 算法总览",</a:t>
            </a:r>
          </a:p>
          <a:p>
            <a:r>
              <a:t>      "url": "https://msmodelslim.readthedocs.io/zh-cn/latest/zh/knowledge_base/quantization_algorithms/"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"section": "03 产业动态 · I2 · 算子执行",</a:t>
            </a:r>
          </a:p>
          <a:p>
            <a:r>
              <a:t>  "title": "量化 Attention：低精主体与高精尾块需要联合核算",</a:t>
            </a:r>
          </a:p>
          <a:p>
            <a:r>
              <a:t>  "meta": "ops-transformer 主干公开目录 · 2026-10-09 复核 · KV Cache × 量化；关联激活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"高精窗口接口",</a:t>
            </a:r>
          </a:p>
          <a:p>
            <a:r>
              <a:t>      "主干说明将 quant_flash_attn 从 15 输入扩至 18 输入，新增 v_tail 尾块高精窗口及配套元数据。"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"布局正确性修复",</a:t>
            </a:r>
          </a:p>
          <a:p>
            <a:r>
              <a:t>      "提交 26716275 描述真实 stride 传入地址计算，修复非连续 v_tail 被按连续布局寻址导致的精度错误。"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"可用范围待核对",</a:t>
            </a:r>
          </a:p>
          <a:p>
            <a:r>
              <a:t>      "目录说明在 CANN 9.2 TensorV2 环境验证；CANN 9.1 有既有版本检查限制。正式发布标签尚待确认。"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"混合精度缓存：保质量也增加容量",</a:t>
            </a:r>
          </a:p>
          <a:p>
            <a:r>
              <a:t>      "高精尾块意味着不能把全部 KV 都按 MXFP8 计算。比较缓存总字节时，要纳入尾块、尺度与布局元数据。"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"论文方案与工程路径的连接点",</a:t>
            </a:r>
          </a:p>
          <a:p>
            <a:r>
              <a:t>      "KV 量化论文若需要高精残差窗口，可优先核对已有尾块接口；窗口策略、布局检查和 Attention 合计时延仍需验证。"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"把高精尾块列为 KV 量化的工程候选；先核对合法布局、窗口字节与版本，再测质量—容量—时延的取舍。",</a:t>
            </a:r>
          </a:p>
          <a:p>
            <a:r>
              <a:t>  "boundary": "证据边界：主干目录公开变更说明；未重跑项目测试，提交精确日期未确认；主干能力不等于安装包已发布。",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"[I2] quant_flash_attn · 主干目录与提交描述",</a:t>
            </a:r>
          </a:p>
          <a:p>
            <a:r>
              <a:t>      "url": "https://gitcode.com/cann/ops-transformer/tree/master/attention/quant_flash_attn"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"section": "03 产业动态 · I3 · 服务集成",</a:t>
            </a:r>
          </a:p>
          <a:p>
            <a:r>
              <a:t>  "title": "vLLM-Ascend 候选版：低精度支持必须细到模型和层",</a:t>
            </a:r>
          </a:p>
          <a:p>
            <a:r>
              <a:t>  "meta": "v0.27.1rc1 · 说明日期 09-24 / GitHub 发布 09-29 · 权重／激活／KV Cache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"模型和硬件限定",</a:t>
            </a:r>
          </a:p>
          <a:p>
            <a:r>
              <a:t>      "MiniMax-M3 覆盖 Atlas 800 A3、950DT；DeepSeek-V4-Flash 覆盖 950DT。A2 未充分验证。"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"量化路径不是全层同精度",</a:t>
            </a:r>
          </a:p>
          <a:p>
            <a:r>
              <a:t>      "MiniMax-M3 新增 W8A8 与 ModelOpt 兼容 MXFP8；fp8 缓存开关下，MSA／index 为 FP8，dense GQA 默认 BF16。"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"配套基线明确",</a:t>
            </a:r>
          </a:p>
          <a:p>
            <a:r>
              <a:t>      "发布镜像配套 vLLM 0.27.1、CANN 9.1.0、HDK 26.1.1、PyTorch／torch_npu 2.10.0 系列。"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"容量估计必须按层计算",</a:t>
            </a:r>
          </a:p>
          <a:p>
            <a:r>
              <a:t>      "全模型缓存不能统一按 C8估算。要读取实际缓存类型、BF16 回退与各层占比，再计算并发容量。"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"算子和调度改变收益兑现方式",</a:t>
            </a:r>
          </a:p>
          <a:p>
            <a:r>
              <a:t>      "发布说明含稀疏 Attention、索引与 TP 通信变化；研究比较要固定完整镜像，区分数值压缩收益与运行栈优化收益。"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"仅在声明支持的模型／硬件组合建立候选基线；先确认逐层 dtype 和回退，再测同质量与 SLA 下的容量及 TPOT。",</a:t>
            </a:r>
          </a:p>
          <a:p>
            <a:r>
              <a:t>  "boundary": "证据边界：官方候选发布说明；不是正式版或十月新发布，不代表 A2 等范围外组合可用；未有昇腾本地实测。",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"[I3] vLLM-Ascend v0.27.1rc1 · Features / Scope / Dependencies",</a:t>
            </a:r>
          </a:p>
          <a:p>
            <a:r>
              <a:t>      "url": "https://github.com/vllm-project/vllm-ascend/releases/tag/v0.27.1rc1"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"section": "03 产业动态 · I4 · 运行正确性",</a:t>
            </a:r>
          </a:p>
          <a:p>
            <a:r>
              <a:t>  "title": "vLLM-Ascend 正式补丁：压缩收益先过正确性门槛",</a:t>
            </a:r>
          </a:p>
          <a:p>
            <a:r>
              <a:t>  "meta": "v0.23.0.post1 · 说明日期 09-21 / GitHub 发布 09-22 · 既有补丁，本月复核",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"KV 写入修复",</a:t>
            </a:r>
          </a:p>
          <a:p>
            <a:r>
              <a:t>      "DP 对齐 dummy run 前使各 KV group 的 slot mapping 失效，修复陈旧 KV-cache 写入。"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"量化缓冲区稳定性",</a:t>
            </a:r>
          </a:p>
          <a:p>
            <a:r>
              <a:t>      "修复 Atlas 300I DUO 的 MTP overlay 前缀缓存精度；ACL Graph 下 RL 重载时保持 W8A8 MXFP8 转换缓冲稳定。"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"KV Pool 依赖固定",</a:t>
            </a:r>
          </a:p>
          <a:p>
            <a:r>
              <a:t>      "锁定 memfabric_hybrid 与 memcache_hybrid 为 1.2.0；这些修复分属各自执行条件。"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"错误复用会伪装成量化质量损失",</a:t>
            </a:r>
          </a:p>
          <a:p>
            <a:r>
              <a:t>      "KV 写入、前缀复用和权重重载的问题可能污染质量比较。应先排除状态错误，再归因于量化误差。"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"基线要包含真实生命周期",</a:t>
            </a:r>
          </a:p>
          <a:p>
            <a:r>
              <a:t>      "单次静态推理不足以覆盖复用、重载和分布式路径。仅对业务使用的路径补充回归，避免把相关补丁泛化为所有模型收益。"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"现网涉及上述路径时，先评估补丁基线并回归正确性；确认结果一致后，再比较论文方案的净性能收益。",</a:t>
            </a:r>
          </a:p>
          <a:p>
            <a:r>
              <a:t>  "boundary": "证据边界：官方 Bug Fixes 与依赖变更；精度修复不等于吞吐提升，正式补丁也不证明所有模型／硬件可用。",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"[I4] vLLM-Ascend v0.23.0.post1 · Bug Fixes / Other Changes",</a:t>
            </a:r>
          </a:p>
          <a:p>
            <a:r>
              <a:t>      "url": "https://github.com/vllm-project/vllm-ascend/releases/tag/v0.23.0.post1"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3.xml"/><Relationship Id="rId3" Type="http://schemas.openxmlformats.org/officeDocument/2006/relationships/image" Target="../media/image6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000" dirty="0"/>
              <a:t/>
            </a:r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arxiv.org/abs/2610.07457v1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2.xml"/><Relationship Id="rId9" Type="http://schemas.openxmlformats.org/officeDocument/2006/relationships/image" Target="../media/image30.png"/><Relationship Id="rId10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2598v1" TargetMode="Externa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notesSlide" Target="../notesSlides/notesSlide6.xml"/><Relationship Id="rId9" Type="http://schemas.openxmlformats.org/officeDocument/2006/relationships/image" Target="../media/image32.png"/><Relationship Id="rId10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3027v1" TargetMode="External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7.xml"/><Relationship Id="rId9" Type="http://schemas.openxmlformats.org/officeDocument/2006/relationships/image" Target="../media/image34.png"/><Relationship Id="rId10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3135v1" TargetMode="External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notesSlide" Target="../notesSlides/notesSlide9.xml"/><Relationship Id="rId9" Type="http://schemas.openxmlformats.org/officeDocument/2006/relationships/image" Target="../media/image36.png"/><Relationship Id="rId10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927v1" TargetMode="External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notesSlide" Target="../notesSlides/notesSlide10.xml"/><Relationship Id="rId9" Type="http://schemas.openxmlformats.org/officeDocument/2006/relationships/image" Target="../media/image38.png"/><Relationship Id="rId10" Type="http://schemas.openxmlformats.org/officeDocument/2006/relationships/image" Target="../media/image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istral.ai/news/mistral-large-4/" TargetMode="External"/><Relationship Id="rId4" Type="http://schemas.openxmlformats.org/officeDocument/2006/relationships/hyperlink" Target="https://github.com/FeSens/openTPU" TargetMode="External"/><Relationship Id="rId5" Type="http://schemas.openxmlformats.org/officeDocument/2006/relationships/hyperlink" Target="https://strandsagents.com/blog/introducing-strands-decider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msmodelslim.readthedocs.io/zh-cn/latest/zh/knowledge_base/quantization_algorithms/" TargetMode="External"/><Relationship Id="rId3" Type="http://schemas.openxmlformats.org/officeDocument/2006/relationships/hyperlink" Target="https://gitcode.com/cann/ops-transformer" TargetMode="External"/><Relationship Id="rId4" Type="http://schemas.openxmlformats.org/officeDocument/2006/relationships/hyperlink" Target="https://github.com/vllm-project/vllm-ascend/releases/tag/v0.27.1rc1" TargetMode="External"/><Relationship Id="rId5" Type="http://schemas.openxmlformats.org/officeDocument/2006/relationships/hyperlink" Target="https://gitcode.com/cann/release-management/blob/master/9.1.1/release-notes.md" TargetMode="External"/><Relationship Id="rId6" Type="http://schemas.openxmlformats.org/officeDocument/2006/relationships/notesSlide" Target="../notesSlides/notesSlide13.xml"/><Relationship Id="rId7" Type="http://schemas.openxmlformats.org/officeDocument/2006/relationships/hyperlink" Target="https://github.com/FeSens/openTPU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randsagents.com/blog/introducing-strands-decider/" TargetMode="External"/><Relationship Id="rId3" Type="http://schemas.openxmlformats.org/officeDocument/2006/relationships/notesSlide" Target="../notesSlides/notes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msmodelslim.readthedocs.io/zh-cn/latest/zh/release_notes/release_notes/" TargetMode="External"/><Relationship Id="rId3" Type="http://schemas.openxmlformats.org/officeDocument/2006/relationships/hyperlink" Target="https://msmodelslim.readthedocs.io/zh-cn/latest/zh/knowledge_base/quantization_algorithms/" TargetMode="External"/><Relationship Id="rId4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code.com/cann/ops-transformer/tree/master/attention/quant_flash_attn" TargetMode="External"/><Relationship Id="rId3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llm-project/vllm-ascend/releases/tag/v0.27.1rc1" TargetMode="External"/><Relationship Id="rId3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llm-project/vllm-ascend/releases/tag/v0.23.0.post1" TargetMode="External"/><Relationship Id="rId3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5977v1" TargetMode="External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notesSlide" Target="../notesSlides/notesSlide3.xml"/><Relationship Id="rId9" Type="http://schemas.openxmlformats.org/officeDocument/2006/relationships/image" Target="../media/image40.png"/><Relationship Id="rId10" Type="http://schemas.openxmlformats.org/officeDocument/2006/relationships/image" Target="../media/image4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026v1" TargetMode="External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4.xml"/><Relationship Id="rId9" Type="http://schemas.openxmlformats.org/officeDocument/2006/relationships/image" Target="../media/image42.png"/><Relationship Id="rId10" Type="http://schemas.openxmlformats.org/officeDocument/2006/relationships/image" Target="../media/image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8164v1" TargetMode="External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5.xml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286v1" TargetMode="Externa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notesSlide" Target="../notesSlides/notesSlide8.xml"/><Relationship Id="rId9" Type="http://schemas.openxmlformats.org/officeDocument/2006/relationships/image" Target="../media/image46.png"/><Relationship Id="rId10" Type="http://schemas.openxmlformats.org/officeDocument/2006/relationships/image" Target="../media/image4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4753v1" TargetMode="External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notesSlide" Target="../notesSlides/notesSlide11.xml"/><Relationship Id="rId9" Type="http://schemas.openxmlformats.org/officeDocument/2006/relationships/image" Target="../media/image48.png"/><Relationship Id="rId10" Type="http://schemas.openxmlformats.org/officeDocument/2006/relationships/image" Target="../media/image4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err="1" b="1"/>
              <a:t>2026年10月推理压缩洞察</a:t>
            </a:r>
          </a:p>
          <a:p>
            <a:pPr>
              <a:lnSpc>
                <a:spcPct val="120000"/>
              </a:lnSpc>
            </a:pPr>
            <a:r>
              <a:rPr lang="en-US" altLang="zh-CN" dirty="0" err="1" b="1"/>
              <a:t>从需求、实现到昇腾研究决策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部门：云核 · 推理压缩
日期：2026-10-09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9B9EA-773D-FD4C-8380-847E27C61BE5}"/>
              </a:ext>
            </a:extLst>
          </p:cNvPr>
          <p:cNvSpPr txBox="1">
            <a:spLocks/>
          </p:cNvSpPr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公开资料 · 截至 2026-10-09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2026年10月 · 推理压缩洞察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本期阅读路径：先看技术方案，再看需求和实现条件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正文顺序：01 学术进展 → 02 热点资讯 → 03 产业动态 → 04 综合判断；补充论文在附录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847088"/>
            <a:ext cx="3584448" cy="331012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2057400"/>
            <a:ext cx="31272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  学术进展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642616"/>
            <a:ext cx="31272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技术地图组织研究方案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3191256"/>
            <a:ext cx="3127248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5篇正文代表论文＋5篇图文附录；按权重、激活、KV Cache 识别压缩对象与方法。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4261104"/>
            <a:ext cx="312724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看清方案、原图和实验条件，再选择具体论文穿刺。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847088"/>
            <a:ext cx="3584448" cy="331012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057400"/>
            <a:ext cx="31272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  热点资讯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642616"/>
            <a:ext cx="31272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事件解释需求如何改变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191256"/>
            <a:ext cx="3127248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3个独立事件：MoE 参数预算、低比特真实成本、任务专用小模型。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4261104"/>
            <a:ext cx="312724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回答为什么值得研究，不把热点当作昇腾性能证据。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47088"/>
            <a:ext cx="3584448" cy="331012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057400"/>
            <a:ext cx="31272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产业动态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642616"/>
            <a:ext cx="31272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版本与算子限定落地路径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3191256"/>
            <a:ext cx="3127248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4页：msModelSlim、量化 Attention、vLLM-Ascend 候选适配与稳定版修复。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4261104"/>
            <a:ext cx="312724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回答哪里已有实现、哪里仍受格式、硬件和版本限制。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5449824"/>
            <a:ext cx="11100816" cy="640080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596128"/>
            <a:ext cx="10616184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8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综合判断：论文决定研究方案；热点解释需求；产业版本决定可执行边界。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64224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截止 2026-10-09；10月尚未结束。公开范围内未确认新的十月昇腾正式发布，不补造事件；未进行昇腾实测。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2C3B3DA8-4985-E7A1-1693-E82509A94961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89329023"/>
              </p:ext>
            </p:extLst>
          </p:nvPr>
        </p:nvGraphicFramePr>
        <p:xfrm>
          <a:off x="776287" y="1078992"/>
          <a:ext cx="10733088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4313">
                  <a:extLst>
                    <a:ext uri="{9D8B030D-6E8A-4147-A177-3AD203B41FA5}">
                      <a16:colId xmlns:a16="http://schemas.microsoft.com/office/drawing/2014/main" val="3677048082"/>
                    </a:ext>
                  </a:extLst>
                </a:gridCol>
                <a:gridCol w="3168650">
                  <a:extLst>
                    <a:ext uri="{9D8B030D-6E8A-4147-A177-3AD203B41FA5}">
                      <a16:colId xmlns:a16="http://schemas.microsoft.com/office/drawing/2014/main" val="2441736071"/>
                    </a:ext>
                  </a:extLst>
                </a:gridCol>
                <a:gridCol w="6080125">
                  <a:extLst>
                    <a:ext uri="{9D8B030D-6E8A-4147-A177-3AD203B41FA5}">
                      <a16:colId xmlns:a16="http://schemas.microsoft.com/office/drawing/2014/main" val="1153356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大类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技术名称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技术简介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349137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AlignQuant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 × 量化：二维tile统一混合精度、紧凑存储与prefill/decode执行。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864038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激活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SpAx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激活 × 剪枝；关联权重 × 量化：小激活读取压缩权重，大激活读取原权重，近零激活跳过。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255352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 Cache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TaSQ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量化：在RoPE前对Key加权、跨头归一化和相关通道分组，再向量量化。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 Cache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Page-EntroKV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KV Cache 淘汰：按GQA共享组聚合重要性，映射页后淘汰，严格控制实际保留预算。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 Cache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AttSVD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低秩分解：提供累积与流式两种解码缓存策略。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50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0312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 学术进展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23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AlignQuant（权重 × 量化）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AlignQuant: Tile-Aligned Mixed-Precision Quantization for Efficient LLM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3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北德克萨斯大学与圣路易斯大学团队针对混合精度边界和GPU执行单元错位，采用二维权重tile统一校准、打包与计算。研究价值是把模型变小与生成变快接起来，降低异构位宽的执行开销。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66543"/>
            <a:ext cx="6537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技术方案 · 论文原图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2066543"/>
            <a:ext cx="43525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实验结果 · 原始条件</a:t>
            </a:r>
          </a:p>
        </p:txBody>
      </p:sp>
      <p:pic>
        <p:nvPicPr>
          <p:cNvPr id="8" name="Picture 7" descr="2610.07457-te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62739" y="2450592"/>
            <a:ext cx="3308593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572000"/>
            <a:ext cx="642823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共同粒度：64×64 tile选择W4/W8，使用A8输入。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联合校准：综合prefill/decode敏感性，在全模型预算内分配位宽。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直接执行：W4紧凑加载后展开为INT8，阶段专用核复用同一模型。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551176"/>
            <a:ext cx="43434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平台：A100-SXM4 40GB；扩展至H100 NVL、RTX 4090。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模型：主结果Llama-3.2-3B，64×64 tile、60% W4。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基线：BF16及GPTQ/AWQ等；单次完整生成的TTFT、TPOT与容量。</a:t>
            </a:r>
          </a:p>
        </p:txBody>
      </p:sp>
      <p:pic>
        <p:nvPicPr>
          <p:cNvPr id="11" name="Picture 10" descr="2610.07457-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3488" y="3438144"/>
            <a:ext cx="4343400" cy="8344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33488" y="4400561"/>
            <a:ext cx="4343400" cy="115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主表吞吐132.28 vs 58.18 tok/s（BF16），约2.27×。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常驻内存2.72 vs 5.99 GiB；均为GPU条件，非昇腾结果。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50992"/>
            <a:ext cx="11247120" cy="704088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57881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昇腾建议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5751576"/>
            <a:ext cx="96926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6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昇腾先核对算子支持、合法shape与数据布局，再比较同质量、同总字节预算的统一位宽和混合tile。穿刺验证需计入重排、解码与临时缓冲；只有端到端TTFT/TPOT净改善才推进。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19672"/>
            <a:ext cx="10927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0" b="0">
                <a:solidFill>
                  <a:srgbClr val="B01A22"/>
                </a:solidFill>
                <a:latin typeface="Microsoft YaHei"/>
                <a:ea typeface="Microsoft YaHei"/>
                <a:cs typeface="Microsoft YaHei"/>
                <a:hlinkClick r:id="rId2"/>
              </a:rPr>
              <a:t>arXiv:2610.07457 v1 · Fig.2 / Table 1 · 2026-10-05 · 点击查看论文原文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 学术进展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23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SpAx（激活 × 剪枝；关联权重 × 量化）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Activation Sparsity with Weight Approximation for Faster LLM Decoding on Offloaded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3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LG与多伦多大学团队针对权重卸载时每个解码token都要搬运大量数据，把读取决策分成原权重、压缩近似和跳过三档。小激活降低近似误差，大激活保留质量；研究价值主要在外部传输受限负载。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66543"/>
            <a:ext cx="6537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技术方案 · 论文原图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2066543"/>
            <a:ext cx="43525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实验结果 · 原始条件</a:t>
            </a:r>
          </a:p>
        </p:txBody>
      </p:sp>
      <p:pic>
        <p:nvPicPr>
          <p:cNvPr id="8" name="Picture 7" descr="2610.02598-te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450592"/>
            <a:ext cx="6519672" cy="1699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259632"/>
            <a:ext cx="6428232" cy="12633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三档读取：按激活大小读取完整、近似或零权重。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离线编码：标量量化或trellis编码保存中间档。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传输协同：根据CPU或闪存布局取码并重建投影。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551176"/>
            <a:ext cx="43434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模型：Llama、Gemma、Qwen，多种卸载配置。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负载：权重卸载CPU内存或闪存，逐token解码。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质量门槛：WikiText-2 PPL增幅≤10%；对比稠密与TEAL。</a:t>
            </a:r>
          </a:p>
        </p:txBody>
      </p:sp>
      <p:pic>
        <p:nvPicPr>
          <p:cNvPr id="11" name="Picture 10" descr="2610.02598-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1914" y="3438144"/>
            <a:ext cx="3206547" cy="1188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33488" y="4754880"/>
            <a:ext cx="4343400" cy="8046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CPU卸载16-bit/4-bit权重，平均加速3.86×/2.06×。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闪存卸载平均3.31×/1.54×；不是常驻HBM加速。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50992"/>
            <a:ext cx="11247120" cy="704088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57881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昇腾建议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5751576"/>
            <a:ext cx="96926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6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条件研究：只有权重卸载且传输主导时优先。昇腾先测链路字节与搬运时间，再验证三档访问；常驻HBM场景需单独评估索引、解码与不规则算子开销，不能直接套用论文倍数。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19672"/>
            <a:ext cx="10927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0" b="0">
                <a:solidFill>
                  <a:srgbClr val="B01A22"/>
                </a:solidFill>
                <a:latin typeface="Microsoft YaHei"/>
                <a:ea typeface="Microsoft YaHei"/>
                <a:cs typeface="Microsoft YaHei"/>
                <a:hlinkClick r:id="rId5"/>
              </a:rPr>
              <a:t>arXiv:2610.02598 v1 · Fig.2 / Fig.6 · Fig.6 (CPU panels) excerpt · 点击查看论文原文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 学术进展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23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TaSQ（KV Cache × 量化）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Tailoring the Quantization Space for 1-Bit KV Cache Compression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3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首尔大学与斯坦福大学团队针对1-bit KV向量量化的质量下降，在RoPE前按查询敏感性与通道相关性改造Key空间。技术目标是扩大长生成可容纳的batch，同时控制注意力误差和推理失稳。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66543"/>
            <a:ext cx="6537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技术方案 · 论文原图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2066543"/>
            <a:ext cx="43525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实验结果 · 原始条件</a:t>
            </a:r>
          </a:p>
        </p:txBody>
      </p:sp>
      <p:pic>
        <p:nvPicPr>
          <p:cNvPr id="8" name="Picture 7" descr="2610.03027-te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6866" y="2450592"/>
            <a:ext cx="3120339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572000"/>
            <a:ext cx="642823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查询加权：Key误差按QK敏感性优化，保护重要通道。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跨头归一化：同token共用尺度，降低尺度存储开销。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相关分组：保持RoPE对，拟合码本；Value采用常规VQ。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551176"/>
            <a:ext cx="43434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平台：单RTX 6000 Ada，SGLang服务栈。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负载：Qwen3-4B-Thinking-2507，2048输入/32768输出。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对照：BF16与CQ；另测8K/16K/32K的batch-1 prefill。</a:t>
            </a:r>
          </a:p>
        </p:txBody>
      </p:sp>
      <p:pic>
        <p:nvPicPr>
          <p:cNvPr id="11" name="Picture 10" descr="2610.03027-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1274" y="3438144"/>
            <a:ext cx="4167827" cy="1188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33488" y="4754880"/>
            <a:ext cx="4343400" cy="8046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最大batch 6→84，峰值吞吐220.8→412.6 tok/s（1.87×）。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8K–32K输入TTFT增加10%–14%；需与长输出收益一起看。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50992"/>
            <a:ext cx="11247120" cy="704088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57881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昇腾建议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5751576"/>
            <a:ext cx="96926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6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昇腾先建立受支持KV量化基线，再用8K/16K/32K输入与短、长输出做对照。穿刺分开看同batch延迟和同HBM容量吞吐，计入码本、查表与编码成本；短输出不宜套用峰值收益。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19672"/>
            <a:ext cx="10927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0" b="0">
                <a:solidFill>
                  <a:srgbClr val="B01A22"/>
                </a:solidFill>
                <a:latin typeface="Microsoft YaHei"/>
                <a:ea typeface="Microsoft YaHei"/>
                <a:cs typeface="Microsoft YaHei"/>
                <a:hlinkClick r:id="rId5"/>
              </a:rPr>
              <a:t>arXiv:2610.03027 v1 · Fig.2 / Fig.4 · 2026-10-02 · 点击查看论文原文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 学术进展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23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Page-EntroKV（KV Cache × KV Cache 淘汰）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Page-EntroKV: Hardware-Aligned, Entropy-Weighted KV-Cache Eviction under Grouped-Query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3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SRM团队针对GQA逐头保留集合取并集后超预算，用去除sink影响的熵给组内头加权，再映射到物理页淘汰。该方案把保留决策与真实分配单元对应，避免只统计逻辑token而低估缓存占用。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66543"/>
            <a:ext cx="6537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技术方案 · 论文原图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2066543"/>
            <a:ext cx="43525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实验结果 · 原始条件</a:t>
            </a:r>
          </a:p>
        </p:txBody>
      </p:sp>
      <p:pic>
        <p:nvPicPr>
          <p:cNvPr id="8" name="Picture 7" descr="2610.03135-te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1874" y="2450592"/>
            <a:ext cx="4570323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572000"/>
            <a:ext cx="642823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物理组预算：在共享KV组决策，避免逐头集合并集膨胀。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熵加权聚合：分离sink，突出尖锐检索头的重要信号。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页粒度淘汰：先映射分配页，再严格按预算选择保留页。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551176"/>
            <a:ext cx="43434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模型：Qwen2.5-1.5B-Instruct，GQA ratio=6。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证据：真实文本回放，非完整生产服务吞吐试验。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图4：逐头选择的实测UOR，理论包络与组级预算保证。</a:t>
            </a:r>
          </a:p>
        </p:txBody>
      </p:sp>
      <p:pic>
        <p:nvPicPr>
          <p:cNvPr id="11" name="Picture 10" descr="2610.03135-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6422" y="3438144"/>
            <a:ext cx="1677531" cy="1188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33488" y="4754880"/>
            <a:ext cx="4343400" cy="8046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作者逐头回放：2%预算时UOR最高4.75；40%时2.33。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组/页选择UOR=1；192个算子/页大小单元精确兑现配额。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50992"/>
            <a:ext cx="11247120" cy="704088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57881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昇腾建议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5751576"/>
            <a:ext cx="96926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6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昇腾先验证现有分页管理中的逻辑token、物理页与HBM字节是否一致。对照完整KV和简单预算策略，计入评分、搬移与索引开销。长上下文质量和服务时延需独立实测后再决定工程化。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19672"/>
            <a:ext cx="10927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0" b="0">
                <a:solidFill>
                  <a:srgbClr val="B01A22"/>
                </a:solidFill>
                <a:latin typeface="Microsoft YaHei"/>
                <a:ea typeface="Microsoft YaHei"/>
                <a:cs typeface="Microsoft YaHei"/>
                <a:hlinkClick r:id="rId5"/>
              </a:rPr>
              <a:t>arXiv:2610.03135 v1 · Fig.1 / Fig.4 · 2026-10-02 · 点击查看论文原文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 学术进展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23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AttSVD（KV Cache × 低秩分解）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AttSVD: Prompt-Adaptive Low-Rank KV Cache Compression via Attention-Guided SVD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3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微软ASG团队针对删token后无法恢复上下文，沿特征轴而非序列轴压缩KV。每个提示按注意力几何生成低秩基，保留所有位置；短输出采用累积缓存，长输出用流式窗口控制增长，但分解和重构成本需独立核对。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66543"/>
            <a:ext cx="6537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技术方案 · 论文原图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2066543"/>
            <a:ext cx="43525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实验结果 · 原始条件</a:t>
            </a:r>
          </a:p>
        </p:txBody>
      </p:sp>
      <p:pic>
        <p:nvPicPr>
          <p:cNvPr id="8" name="Picture 7" descr="2610.06927-te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8184" y="2450592"/>
            <a:ext cx="3357703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572000"/>
            <a:ext cx="642823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注意力感知：分别保留logit与输出空间中的有效方向。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逐提示SVD：按能量阈值选择K/V秩，而非固定离线基。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双解码策略：累积精确token或按窗口重分解。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551176"/>
            <a:ext cx="43434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模型：Phi-4-14B、Qwen3-8B等。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任务：1750项LongBench与184项agent提示。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比较：Dense、H2O、KVzip、KeyDiff，匹配缓存预算。</a:t>
            </a:r>
          </a:p>
        </p:txBody>
      </p:sp>
      <p:pic>
        <p:nvPicPr>
          <p:cNvPr id="11" name="Picture 10" descr="2610.06927-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3488" y="3438144"/>
            <a:ext cx="4343400" cy="5511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33488" y="4117352"/>
            <a:ext cx="4343400" cy="1442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Phi-4-14B 32K：KV 6.250→3.131 GB（c=0.50）。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50%缓存LongBench接近稠密表现；未证明统一服务加速。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50992"/>
            <a:ext cx="11247120" cy="704088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57881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昇腾建议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5751576"/>
            <a:ext cx="96926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6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持续跟踪：优先检查真实业务提示的注意力有效秩。昇腾穿刺分解、重构和窗口刷新成本，再与同字节预算KV量化或淘汰对比；只有长上下文收益摊薄分解开销才值得接入。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19672"/>
            <a:ext cx="10927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0" b="0">
                <a:solidFill>
                  <a:srgbClr val="B01A22"/>
                </a:solidFill>
                <a:latin typeface="Microsoft YaHei"/>
                <a:ea typeface="Microsoft YaHei"/>
                <a:cs typeface="Microsoft YaHei"/>
                <a:hlinkClick r:id="rId5"/>
              </a:rPr>
              <a:t>arXiv:2610.06927 v1 · Fig.1 / Table 1 excerpt · 点击查看论文原文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 热点资讯 · H1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Mistral Large 4：万亿参数 MoE 把权重容量推到前台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2026-10-06 · Mistral 官方预览公告 · 关联技术地图：权重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官方披露 1T 总参数、52B 激活参数；两者分别描述模型规模与稀疏激活规模。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开放状态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预览 API 已开放；权重计划月底发布。截止核对时，不把开放计划写成已交付。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研究窗口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权重和架构细节尚待发布；当前不能复核专家布局、可量化层或部署格式。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容量预算：总权重仍需有去处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52B 激活参数不能替代总参数容量账。需区分全量驻留、专家分层存储、每 token 搬运与通信成本。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技术选择：量化与驻留要共同设计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专家权重量化可减小存储与搬运字节，但收益取决于路由命中、解码开销和并行划分，不能只按名义位宽排名。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先列入权重 × 量化跟踪；等权重公开后，优先核对专家格式与驻留预算，再决定是否投入适配。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证据边界：厂商规格与发布计划；容量与路线取舍为分析判断。未证明压缩收益或昇腾支持。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3"/>
                <a:ea typeface="Microsoft YaHei"/>
                <a:cs typeface="Microsoft YaHei"/>
              </a:rPr>
              <a:t>[H1] Mistral 官方公告 · Preview / Frontier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 热点资讯 · H2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openTPU：低比特要看总字节、质量与端到端收益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2026-10-01 作者实验 · build B · Kintex-7 PCIe 板卡 · 权重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编码成本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4-bit 权重采用两级块尺度；计入尺度后为 4.25 bit/weight，LM head 保留 INT8。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可比结果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Qwen3.5-2B：INT8 / 4-bit 的 wall 解码速度为 8.00 / 12.03 tok/s。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测量条件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512-token prompt、64 greedy tokens；device 与 wall 分开计，DRAM 流量由板卡计数器读取。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名义压缩率不能代替实际收益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12.03 / 8.00 约为 1.50 倍（计算值）；不能按位宽减半直接宣称两倍加速。尺度、保留层和反量化都要计费。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评测口径值得迁移，硬件倍数不能迁移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在昇腾报告总权重字节、端到端时延及质量变化。作者说明量化存在 PPL 代价，模拟器逐位一致不等于全精度质量无损。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把它作为量化评测口径参考；在同模型、同负载、同质量约束下比较昇腾基线，不照搬 FPGA 加速倍数。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证据边界：项目作者自测；10-01 为实验日。上述比值由原表计算，未进行昇腾复现。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7"/>
                <a:ea typeface="Microsoft YaHei"/>
                <a:cs typeface="Microsoft YaHei"/>
              </a:rPr>
              <a:t>[H2] openTPU README · Results / Method / 4-bit encoding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 热点资讯 · H3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Strands Decider 2B：先缩小任务职责，再压缩模型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2026-10-01 · Strands 官方开源介绍 · 相邻研究背景，非剪枝或蒸馏成果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模型改造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以 Qwen3.5-2B 为主干，替换 LM head 为 pointer head，用 rank-16 LoRA 微调。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任务边界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一次前向对给定选项打分；不能生成通用文本，不适合直接替代聊天、编码和摘要模型。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可研究性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官方开放代码、权重、训练数据与脚本；评测关注准确率、置信度校准与决策延迟。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压缩前先问：业务是否需要通用生成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分类、路由和选项决策可评估任务专用模型。改变任务职责与降低数值精度是两种取舍，收益不能混在一个压缩指标里。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研究顺序：先形成任务基线，再量化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若专用模型满足业务准确率，再评估低比特质量损失与服务成本。无法承担的复杂推理仍交给通用模型。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路由业务可单列试验：先测决策准确率、校准与 P95 延迟，再判断是否量化；不纳入剪枝／蒸馏已实现清单。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证据边界：官方架构与开源披露；昇腾适配和本地延迟未确认。不可用生成质量评测替代决策质量。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[H3] Strands · Model Architecture / Limitations /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产业动态 · I1 · 模型压缩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msModelSlim：模型 × 量化模式开始形成明确交付项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本月核对既有文档 · 26.0.0.alpha02 为内测版，发布日期未列 · 权重／激活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具体模型与模式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alpha02 列示 Qwen3-Coder-480B W4A8、Qwen3.5 MoE W8A8 与 GLM-5 W4A8。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接入与调优变化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版本说明新增自定义 practice 目录的 entry point，构建 model_adapter 插件化基础，并优化自动调优。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算法与版本分开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V1 算法文档列出 GPTQ、AWQ、FA3 Quant、KVCache Quant；不把目录收录当作全部模型已支持。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论文比较应站在可交付基线上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权重量化研究先确认目标模型能导出何种格式，再与 GPTQ／AWQ 等已支持路径比较；相同位宽仍可能因布局而不能互换。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低精度能力落地依赖三重匹配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模型实践、量化输出、推理引擎要一致。自动调优可形成质量基线，但“工具支持”不能代替算子可执行或真实加速证明。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先用目标模型已支持的配置建立质量与容量基线；新论文只有在同总字节、同负载下有增量价值时才投入适配。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证据边界：官方文档，2026-10-09 复核；alpha02 非正式版、非确认的十月新发布；部署依模型实践核对。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[I1a] msModelSlim · 版本说明 / alpha02</a:t>
            </a:r>
            <a:r>
              <a:rPr sz="910" b="0">
                <a:solidFill>
                  <a:srgbClr val="B01A22"/>
                </a:solidFill>
                <a:latin typeface="Microsoft YaHei"/>
                <a:hlinkClick r:id="rId3"/>
                <a:ea typeface="Microsoft YaHei"/>
                <a:cs typeface="Microsoft YaHei"/>
              </a:rPr>
              <a:t>    [I1b] V1 算法总览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产业动态 · I2 · 算子执行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量化 Attention：低精主体与高精尾块需要联合核算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ops-transformer 主干公开目录 · 2026-10-09 复核 · KV Cache × 量化；关联激活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高精窗口接口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主干说明将 quant_flash_attn 从 15 输入扩至 18 输入，新增 v_tail 尾块高精窗口及配套元数据。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布局正确性修复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提交 26716275 描述真实 stride 传入地址计算，修复非连续 v_tail 被按连续布局寻址导致的精度错误。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可用范围待核对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目录说明在 CANN 9.2 TensorV2 环境验证；CANN 9.1 有既有版本检查限制。正式发布标签尚待确认。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混合精度缓存：保质量也增加容量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高精尾块意味着不能把全部 KV 都按 MXFP8 计算。比较缓存总字节时，要纳入尾块、尺度与布局元数据。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论文方案与工程路径的连接点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KV 量化论文若需要高精残差窗口，可优先核对已有尾块接口；窗口策略、布局检查和 Attention 合计时延仍需验证。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把高精尾块列为 KV 量化的工程候选；先核对合法布局、窗口字节与版本，再测质量—容量—时延的取舍。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证据边界：主干目录公开变更说明；未重跑项目测试，提交精确日期未确认；主干能力不等于安装包已发布。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[I2] quant_flash_attn · 主干目录与提交描述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产业动态 · I3 · 服务集成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vLLM-Ascend 候选版：低精度支持必须细到模型和层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v0.27.1rc1 · 说明日期 09-24 / GitHub 发布 09-29 · 权重／激活／KV Cache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模型和硬件限定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MiniMax-M3 覆盖 Atlas 800 A3、950DT；DeepSeek-V4-Flash 覆盖 950DT。A2 未充分验证。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量化路径不是全层同精度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MiniMax-M3 新增 W8A8 与 ModelOpt 兼容 MXFP8；fp8 缓存开关下，MSA／index 为 FP8，dense GQA 默认 BF16。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配套基线明确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发布镜像配套 vLLM 0.27.1、CANN 9.1.0、HDK 26.1.1、PyTorch／torch_npu 2.10.0 系列。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容量估计必须按层计算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全模型缓存不能统一按 C8估算。要读取实际缓存类型、BF16 回退与各层占比，再计算并发容量。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算子和调度改变收益兑现方式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发布说明含稀疏 Attention、索引与 TP 通信变化；研究比较要固定完整镜像，区分数值压缩收益与运行栈优化收益。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仅在声明支持的模型／硬件组合建立候选基线；先确认逐层 dtype 和回退，再测同质量与 SLA 下的容量及 TPOT。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证据边界：官方候选发布说明；不是正式版或十月新发布，不代表 A2 等范围外组合可用；未有昇腾本地实测。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[I3] vLLM-Ascend v0.27.1rc1 · Features / Scope / Dependencies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产业动态 · I4 · 运行正确性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vLLM-Ascend 正式补丁：压缩收益先过正确性门槛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v0.23.0.post1 · 说明日期 09-21 / GitHub 发布 09-22 · 既有补丁，本月复核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KV 写入修复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DP 对齐 dummy run 前使各 KV group 的 slot mapping 失效，修复陈旧 KV-cache 写入。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量化缓冲区稳定性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修复 Atlas 300I DUO 的 MTP overlay 前缀缓存精度；ACL Graph 下 RL 重载时保持 W8A8 MXFP8 转换缓冲稳定。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KV Pool 依赖固定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锁定 memfabric_hybrid 与 memcache_hybrid 为 1.2.0；这些修复分属各自执行条件。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错误复用会伪装成量化质量损失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KV 写入、前缀复用和权重重载的问题可能污染质量比较。应先排除状态错误，再归因于量化误差。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基线要包含真实生命周期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单次静态推理不足以覆盖复用、重载和分布式路径。仅对业务使用的路径补充回归，避免把相关补丁泛化为所有模型收益。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现网涉及上述路径时，先评估补丁基线并回归正确性；确认结果一致后，再比较论文方案的净性能收益。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证据边界：官方 Bug Fixes 与依赖变更；精度修复不等于吞吐提升，正式补丁也不证明所有模型／硬件可用。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[I4] vLLM-Ascend v0.23.0.post1 · Bug Fixes / Other Changes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副标题 1">
            <a:extLst>
              <a:ext uri="{FF2B5EF4-FFF2-40B4-BE49-F238E27FC236}">
                <a16:creationId xmlns:a16="http://schemas.microsoft.com/office/drawing/2014/main" id="{6F2FFA79-6F97-B577-0081-F82AE3EC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1" y="1307034"/>
            <a:ext cx="10740640" cy="5027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/>
              <a:t>昇腾研究判断：按技术地图确定投入顺序</a:t>
            </a: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D42E36AF-E4EE-9BB8-684C-A8870ED83100}"/>
              </a:ext>
            </a:extLst>
          </p:cNvPr>
          <p:cNvSpPr txBox="1">
            <a:spLocks/>
          </p:cNvSpPr>
          <p:nvPr/>
        </p:nvSpPr>
        <p:spPr>
          <a:xfrm>
            <a:off x="2158999" y="2418284"/>
            <a:ext cx="7988301" cy="23315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500" dirty="0"/>
              <a:t>权重 × 量化：优先穿刺规则精度布局与合法算子粒度；StagQ、DBW及补偿方案只在极低总字节或多档部署约束下推进。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激活 × 剪枝：SpAx优先针对卸载搬运；HBM常驻模型必须另测动态选择、索引和不规则执行成本。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量化：TaSQ先核对质量、TTFT和容量收益，区分同batch时延与同HBM下吞吐。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淘汰：Page-EntroKV先核对物理页释放；DeferKV补充淘汰时机，组合收益尚无证据。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低秩 / GQA-MQA：AttSVD与SAGA持续跟踪，分解刷新或训练改造成本须进入预算。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D4952729-1FE8-5DB9-86DC-72E784F70822}"/>
              </a:ext>
            </a:extLst>
          </p:cNvPr>
          <p:cNvSpPr txBox="1">
            <a:spLocks/>
          </p:cNvSpPr>
          <p:nvPr/>
        </p:nvSpPr>
        <p:spPr>
          <a:xfrm>
            <a:off x="1864711" y="4743450"/>
            <a:ext cx="8034939" cy="5027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300" dirty="0"/>
              <a:t>穿刺建议：固定模型、质量门槛与SLA；分别测驻留字节、TTFT、TPOT、同容量吞吐及准备成本。GPU论文结果不是昇腾预期收益。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副标题 1">
            <a:extLst>
              <a:ext uri="{FF2B5EF4-FFF2-40B4-BE49-F238E27FC236}">
                <a16:creationId xmlns:a16="http://schemas.microsoft.com/office/drawing/2014/main" id="{6F2FFA79-6F97-B577-0081-F82AE3EC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1" y="1307034"/>
            <a:ext cx="10740640" cy="5027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/>
              <a:t>附录：同路线补充工作，按需展开而非堆入正文</a:t>
            </a: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D42E36AF-E4EE-9BB8-684C-A8870ED83100}"/>
              </a:ext>
            </a:extLst>
          </p:cNvPr>
          <p:cNvSpPr txBox="1">
            <a:spLocks/>
          </p:cNvSpPr>
          <p:nvPr/>
        </p:nvSpPr>
        <p:spPr>
          <a:xfrm>
            <a:off x="2158999" y="2418284"/>
            <a:ext cx="7988301" cy="23315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500" dirty="0"/>
              <a:t>权重 × 量化：StagQ补充多档共享码流；有多精度部署需求再评估。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权重 × 剪枝 / 量化 / 低秩：DBW补充分量预算联合优化，适合亚2-bit容量压力。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权重 × 量化 / 低秩：Align, Then Correct补充质量恢复，但需计入统计和适配器成本。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淘汰：DeferKV补充首步真实查询决定淘汰时机。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GQA-MQA：SAGA补充头结构改变，需训练/微调与算子改造。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D4952729-1FE8-5DB9-86DC-72E784F70822}"/>
              </a:ext>
            </a:extLst>
          </p:cNvPr>
          <p:cNvSpPr txBox="1">
            <a:spLocks/>
          </p:cNvSpPr>
          <p:nvPr/>
        </p:nvSpPr>
        <p:spPr>
          <a:xfrm>
            <a:off x="1864711" y="4743450"/>
            <a:ext cx="8034939" cy="5027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300" dirty="0"/>
              <a:t>TopK-Guided、OSFP4、Behavior-Preserving仍保留在网页分析；原PDF无适合该模板的系统设计总览图，不用装饰图补位。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图文附录 · 学术进展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23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StagQ（权重 × 量化）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StagQ: Constraint-Driven Multi-Precision Weight Quantization for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3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华为团队针对同一模型多精度部署需要存多份权重，采用共享前缀流与稀疏旁路补偿。研究价值是用一份编码提供多个精度档位，同时把异常值和元数据纳入实际码率；规则解码仍需专用内核。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66543"/>
            <a:ext cx="6537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技术方案 · 论文原图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2066543"/>
            <a:ext cx="43525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实验结果 · 原始条件</a:t>
            </a:r>
          </a:p>
        </p:txBody>
      </p:sp>
      <p:pic>
        <p:nvPicPr>
          <p:cNvPr id="8" name="Picture 7" descr="2610.05977-te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450592"/>
            <a:ext cx="6519672" cy="15461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106515"/>
            <a:ext cx="6428232" cy="1416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共享前缀：2-bit基础流叠加1-bit细化平面。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共享元数据：各精度用同一仿射映射解码。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异常值旁路：编码前后保留难量化权重，计入总码率。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551176"/>
            <a:ext cx="43434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模型：Llama-3.1-8B、Phi-4、OLMo-2-7B。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质量：MMLU、常识任务及WikiText-2。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执行：A100、batch-1、合成权重GEMV；不是服务吞吐。</a:t>
            </a:r>
          </a:p>
        </p:txBody>
      </p:sp>
      <p:pic>
        <p:nvPicPr>
          <p:cNvPr id="11" name="Picture 10" descr="2610.05977-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3488" y="3438144"/>
            <a:ext cx="4343400" cy="979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33488" y="4545910"/>
            <a:ext cx="4343400" cy="10136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2-bit较最强多精度基线提高MMLU 3.1–7.0个百分点。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4-bit质量持平但码率更高，不能只比较名义位宽。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50992"/>
            <a:ext cx="11247120" cy="704088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57881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昇腾建议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5751576"/>
            <a:ext cx="96926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6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条件研究：适合确有多档部署需求的模型。昇腾先比较总驻留字节与档位切换成本，再对旁路布局和GEMV做穿刺；单一位宽业务不应为共享流承担额外复杂度。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19672"/>
            <a:ext cx="10927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0" b="0">
                <a:solidFill>
                  <a:srgbClr val="B01A22"/>
                </a:solidFill>
                <a:latin typeface="Microsoft YaHei"/>
                <a:ea typeface="Microsoft YaHei"/>
                <a:cs typeface="Microsoft YaHei"/>
                <a:hlinkClick r:id="rId5"/>
              </a:rPr>
              <a:t>arXiv:2610.05977 v1 · Fig.3 / Table 1 · Table 1 (2-bit rows) excerpt · 点击查看论文原文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图文附录 · 学术进展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23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DBW（权重 × 量化 / 剪枝 / 低秩分解）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DBW：联合优化分量剪枝与量化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3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亚洲大学团队针对先截断SVD、再量化的两阶段误差，联合学习分量位宽。0-bit表示删除分量，其余分量分配不同位宽。该方案争取极低存储预算下的质量，但校准训练与混合位宽执行需要额外成本。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66543"/>
            <a:ext cx="6537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技术方案 · 论文原图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2066543"/>
            <a:ext cx="43525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实验结果 · 原始条件</a:t>
            </a:r>
          </a:p>
        </p:txBody>
      </p:sp>
      <p:pic>
        <p:nvPicPr>
          <p:cNvPr id="8" name="Picture 7" descr="2610.06026-te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450592"/>
            <a:ext cx="6519672" cy="1704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265088"/>
            <a:ext cx="6428232" cy="1257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联合目标：同时决定截断秩和保留分量位宽。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可微位宽：0-bit分量删除，预算在分量之间重新分配。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规则打包：按位宽分组执行，避免逐分量不规则访存。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551176"/>
            <a:ext cx="43434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模型：LLaMA系列7B–70B及非LLaMA对照。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设置：平均1.61-bit、group size 128。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基线：PTQ、BiLLM及两阶段SVD压缩；8项常识任务。</a:t>
            </a:r>
          </a:p>
        </p:txBody>
      </p:sp>
      <p:pic>
        <p:nvPicPr>
          <p:cNvPr id="11" name="Picture 10" descr="2610.06026-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3488" y="3438144"/>
            <a:ext cx="4343400" cy="9250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33488" y="4491164"/>
            <a:ext cx="4343400" cy="10683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LLaMA-7B常识均分48.98%，两阶段PTQ为41.14%。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该1.61-bit质量结果不能替代昇腾端到端执行测试。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50992"/>
            <a:ext cx="11247120" cy="704088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57881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昇腾建议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5751576"/>
            <a:ext cx="96926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6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条件研究：业务需要亚2-bit权重时再评估。固定总字节预算比较质量，并计入低秩因子、尺度、重训和多个GEMM成本；先核对昇腾可执行的位宽集合，再做算法适配。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19672"/>
            <a:ext cx="10927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0" b="0">
                <a:solidFill>
                  <a:srgbClr val="B01A22"/>
                </a:solidFill>
                <a:latin typeface="Microsoft YaHei"/>
                <a:ea typeface="Microsoft YaHei"/>
                <a:cs typeface="Microsoft YaHei"/>
                <a:hlinkClick r:id="rId5"/>
              </a:rPr>
              <a:t>arXiv:2610.06026 v1 · Fig.1 / Table 1 · Table 1 (LLaMA-7B) excerpt · 点击查看论文原文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图文附录 · 学术进展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23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Align, Then Correct（权重 × 量化 / 低秩分解）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Align, Then Correct：免训练的两阶段低秩补偿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3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汉阳大学与Qualcomm团队针对低秩补偿目标难以低秩拟合、只优化二阶误差的问题，先做Fisher加权非对称对齐，再校正剩余一阶误差。权重保持冻结，闭式求适配器；免训练不等于免校准。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66543"/>
            <a:ext cx="6537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技术方案 · 论文原图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2066543"/>
            <a:ext cx="43525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实验结果 · 原始条件</a:t>
            </a:r>
          </a:p>
        </p:txBody>
      </p:sp>
      <p:pic>
        <p:nvPicPr>
          <p:cNvPr id="8" name="Picture 7" descr="2610.08164-te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8514" y="2450592"/>
            <a:ext cx="4197043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572000"/>
            <a:ext cx="642823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输出对齐：用全精度与量化模型的不同输入构造目标。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统计重测：第一阶段补偿后重新采集梯度与曲率。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低秩校正：限秩自然梯度方向由截断SVD求解。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551176"/>
            <a:ext cx="43434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模型：Qwen3-8B/4B，主实验QuIP# 2-bit。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校准：128×2048 WikiText-2，rank 64等设置。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质量：WikiText-2/C4 PPL，7项零样本任务。</a:t>
            </a:r>
          </a:p>
        </p:txBody>
      </p:sp>
      <p:pic>
        <p:nvPicPr>
          <p:cNvPr id="11" name="Picture 10" descr="2610.08164-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1158" y="3438144"/>
            <a:ext cx="3148058" cy="1188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33488" y="4754880"/>
            <a:ext cx="4343400" cy="8046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Qwen3-8B WikiText-2 PPL：12.43→10.26。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Qwen3-4B PPL：21.11→13.22；还需计入适配器字节。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50992"/>
            <a:ext cx="11247120" cy="704088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57881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昇腾建议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5751576"/>
            <a:ext cx="96926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6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条件研究：对极低比特质量不足的模型，先比较同总容量下更高位宽与低秩补偿。昇腾穿刺需计入适配器GEMM、统计校准和并行通信；质量恢复成立之后再判断时延净收益。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19672"/>
            <a:ext cx="10927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0" b="0">
                <a:solidFill>
                  <a:srgbClr val="B01A22"/>
                </a:solidFill>
                <a:latin typeface="Microsoft YaHei"/>
                <a:ea typeface="Microsoft YaHei"/>
                <a:cs typeface="Microsoft YaHei"/>
                <a:hlinkClick r:id="rId5"/>
              </a:rPr>
              <a:t>arXiv:2610.08164 v1 · Fig.3 / Table 1 · 点击查看论文原文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图文附录 · 学术进展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23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DeferKV（KV Cache × KV Cache 淘汰）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DeferKV: Rethinking Eviction Timing for One-Shot KV Cache Compression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3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电子科技大学团队针对prefill末尾查询不能代表后续生成，把不可逆淘汰推迟到首个真实decode查询。结合提示与生成侧注意力再选KV，不增加草稿模型或训练；其价值是改善淘汰时机而非改变压缩格式。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66543"/>
            <a:ext cx="6537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技术方案 · 论文原图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2066543"/>
            <a:ext cx="43525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实验结果 · 原始条件</a:t>
            </a:r>
          </a:p>
        </p:txBody>
      </p:sp>
      <p:pic>
        <p:nvPicPr>
          <p:cNvPr id="8" name="Picture 7" descr="2610.06286-te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917" y="2450592"/>
            <a:ext cx="5526237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572000"/>
            <a:ext cx="642823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真实查询：首次decode时获取真实生成需求。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时间加权：近期prompt查询和decode查询联合打分。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一次淘汰：保留原方法预算结构，更换重要性估计。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551176"/>
            <a:ext cx="43434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模型：Qwen3-8B、Llama-3.1-8B、Mistral-7B。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评测：16项LongBench、RULER和针检索。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比较：SnapKV、LAQ、SpecKV、LookaheadKV及Full KV。</a:t>
            </a:r>
          </a:p>
        </p:txBody>
      </p:sp>
      <p:pic>
        <p:nvPicPr>
          <p:cNvPr id="11" name="Picture 10" descr="2610.06286-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35824" y="3438144"/>
            <a:ext cx="3338726" cy="1188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33488" y="4754880"/>
            <a:ext cx="4343400" cy="8046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Qwen3-8B、KV预算512：LongBench均分44.96，SnapKV 38.46。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RULER跨4K–128K均分81.36，Full KV 93.46；并非无损。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50992"/>
            <a:ext cx="11247120" cy="704088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57881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昇腾建议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5751576"/>
            <a:ext cx="96926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6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条件研究：长提示、短输出业务先比较同保留预算的质量和TTFT。昇腾核对首步延迟淘汰是否增加峰值HBM，并计入注意力取样、评分与页搬移；它可与页预算策略组合，但组合收益要另测。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19672"/>
            <a:ext cx="10927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0" b="0">
                <a:solidFill>
                  <a:srgbClr val="B01A22"/>
                </a:solidFill>
                <a:latin typeface="Microsoft YaHei"/>
                <a:ea typeface="Microsoft YaHei"/>
                <a:cs typeface="Microsoft YaHei"/>
                <a:hlinkClick r:id="rId5"/>
              </a:rPr>
              <a:t>arXiv:2610.06286 v1 · Fig.3 / Table 1 · Table 1 (Qwen3-8B) excerpt · 点击查看论文原文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图文附录 · 学术进展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23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SAGA（KV Cache × GQA / MQA）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More Value per Key: Asymmetric Sparse Attention for Faster LLM Decoding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3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Technion等团队针对稀疏注意力后QK计算仍是瓶颈，减少Key头而保留更多Value头，再用近似top-N选择。技术价值是改变K/V结构以匹配瓶颈，但需训练或微调转换，不能作为普通模型的无损缓存插件。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66543"/>
            <a:ext cx="6537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技术方案 · 论文原图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2066543"/>
            <a:ext cx="43525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实验结果 · 原始条件</a:t>
            </a:r>
          </a:p>
        </p:txBody>
      </p:sp>
      <p:pic>
        <p:nvPicPr>
          <p:cNvPr id="8" name="Picture 7" descr="2610.04753-te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3716" y="2450592"/>
            <a:ext cx="3546639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572000"/>
            <a:ext cx="642823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非对称K/V：少量Key头减少QK访存与计算。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近似top-N：控制参与PV的候选，保留Value表达能力。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模型转换：蒸馏或微调适配新头结构，需要质量重验。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551176"/>
            <a:ext cx="43434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模型：Llama-3.2-1B、Qwen2.5-1.5B。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平台：H200/B200；batch 1/4/16、上下文8K–128K。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8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比较：作者同栈完整注意力GQA，CUDA Graph解码。</a:t>
            </a:r>
          </a:p>
        </p:txBody>
      </p:sp>
      <p:pic>
        <p:nvPicPr>
          <p:cNvPr id="11" name="Picture 10" descr="2610.04753-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7377" y="3438144"/>
            <a:ext cx="2415621" cy="1188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33488" y="4754880"/>
            <a:ext cx="4343400" cy="8046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作者长上下文端到端解码加速超过2×，模型最大1.5B。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从头训练质量接近GQA；不能外推现有大模型免训练收益。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50992"/>
            <a:ext cx="11247120" cy="704088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57881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昇腾建议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5751576"/>
            <a:ext cx="96926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6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持续跟踪：适合有模型结构改造权限的研究线。昇腾先验证非对称头布局与算子支持，再比较同训练预算质量、同栈解码与转换成本；现有生产模型优先选择保持模型结构的KV压缩。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19672"/>
            <a:ext cx="10927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0" b="0">
                <a:solidFill>
                  <a:srgbClr val="B01A22"/>
                </a:solidFill>
                <a:latin typeface="Microsoft YaHei"/>
                <a:ea typeface="Microsoft YaHei"/>
                <a:cs typeface="Microsoft YaHei"/>
                <a:hlinkClick r:id="rId5"/>
              </a:rPr>
              <a:t>arXiv:2610.04753 v1 · Fig.1 / Fig.2 · v1 · 点击查看论文原文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315BE1C-957E-4706-A7F6-2B101CD944E6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172</TotalTime>
  <Words>575</Words>
  <Application>Microsoft Office PowerPoint</Application>
  <PresentationFormat>自定义</PresentationFormat>
  <Paragraphs>48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微软雅黑</vt:lpstr>
      <vt:lpstr>微软雅黑</vt:lpstr>
      <vt:lpstr>Arial</vt:lpstr>
      <vt:lpstr>Calibri</vt:lpstr>
      <vt:lpstr>1_Title Slide</vt:lpstr>
      <vt:lpstr>Chart page</vt:lpstr>
      <vt:lpstr>4_Chart page</vt:lpstr>
      <vt:lpstr>End page</vt:lpstr>
      <vt:lpstr>xxxx技术洞察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/>
  <cp:revision>47</cp:revision>
  <dcterms:created xsi:type="dcterms:W3CDTF">2018-12-05T07:23:25Z</dcterms:created>
  <dcterms:modified xsi:type="dcterms:W3CDTF">2026-05-09T08:14:52Z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